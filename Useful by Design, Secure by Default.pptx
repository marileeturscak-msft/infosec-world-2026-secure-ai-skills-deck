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Lst>
  <p:notesMasterIdLst>
    <p:notesMasterId r:id="rId49"/>
  </p:notesMasterIdLst>
  <p:sldIdLst>
    <p:sldId id="256" r:id="rId3"/>
    <p:sldId id="3401" r:id="rId4"/>
    <p:sldId id="3429" r:id="rId5"/>
    <p:sldId id="3433" r:id="rId6"/>
    <p:sldId id="3457" r:id="rId7"/>
    <p:sldId id="3396" r:id="rId8"/>
    <p:sldId id="3435" r:id="rId9"/>
    <p:sldId id="3455" r:id="rId10"/>
    <p:sldId id="3436" r:id="rId11"/>
    <p:sldId id="3464" r:id="rId12"/>
    <p:sldId id="3437" r:id="rId13"/>
    <p:sldId id="3438" r:id="rId14"/>
    <p:sldId id="3458" r:id="rId15"/>
    <p:sldId id="267" r:id="rId16"/>
    <p:sldId id="3460" r:id="rId17"/>
    <p:sldId id="3439" r:id="rId18"/>
    <p:sldId id="3461" r:id="rId19"/>
    <p:sldId id="3440" r:id="rId20"/>
    <p:sldId id="3462" r:id="rId21"/>
    <p:sldId id="270" r:id="rId22"/>
    <p:sldId id="3432" r:id="rId23"/>
    <p:sldId id="272" r:id="rId24"/>
    <p:sldId id="3403" r:id="rId25"/>
    <p:sldId id="3468" r:id="rId26"/>
    <p:sldId id="3467" r:id="rId27"/>
    <p:sldId id="3442" r:id="rId28"/>
    <p:sldId id="3443" r:id="rId29"/>
    <p:sldId id="3444" r:id="rId30"/>
    <p:sldId id="3445" r:id="rId31"/>
    <p:sldId id="3463" r:id="rId32"/>
    <p:sldId id="3454" r:id="rId33"/>
    <p:sldId id="3456" r:id="rId34"/>
    <p:sldId id="3441" r:id="rId35"/>
    <p:sldId id="3434" r:id="rId36"/>
    <p:sldId id="3447" r:id="rId37"/>
    <p:sldId id="3459" r:id="rId38"/>
    <p:sldId id="3448" r:id="rId39"/>
    <p:sldId id="3449" r:id="rId40"/>
    <p:sldId id="3451" r:id="rId41"/>
    <p:sldId id="3452" r:id="rId42"/>
    <p:sldId id="261" r:id="rId43"/>
    <p:sldId id="260" r:id="rId44"/>
    <p:sldId id="3400" r:id="rId45"/>
    <p:sldId id="3446" r:id="rId46"/>
    <p:sldId id="3453" r:id="rId47"/>
    <p:sldId id="263"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F997A3-C4AB-474D-BA7A-8ED6183AAD14}" v="28" dt="2026-10-09T01:34:49.9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3545" autoAdjust="0"/>
  </p:normalViewPr>
  <p:slideViewPr>
    <p:cSldViewPr snapToGrid="0" snapToObjects="1">
      <p:cViewPr varScale="1">
        <p:scale>
          <a:sx n="61" d="100"/>
          <a:sy n="61" d="100"/>
        </p:scale>
        <p:origin x="1740" y="3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lee Turscak" userId="b6afee78-a127-49ab-8aa2-390f57a164b5" providerId="ADAL" clId="{A6474D22-3922-432A-8A29-489720CB6866}"/>
    <pc:docChg chg="undo custSel addSld delSld modSld sldOrd">
      <pc:chgData name="Marilee Turscak" userId="b6afee78-a127-49ab-8aa2-390f57a164b5" providerId="ADAL" clId="{A6474D22-3922-432A-8A29-489720CB6866}" dt="2026-10-09T01:53:57.815" v="6419" actId="20577"/>
      <pc:docMkLst>
        <pc:docMk/>
      </pc:docMkLst>
      <pc:sldChg chg="modSp mod">
        <pc:chgData name="Marilee Turscak" userId="b6afee78-a127-49ab-8aa2-390f57a164b5" providerId="ADAL" clId="{A6474D22-3922-432A-8A29-489720CB6866}" dt="2026-09-10T21:15:45.325" v="169" actId="20577"/>
        <pc:sldMkLst>
          <pc:docMk/>
          <pc:sldMk cId="0" sldId="256"/>
        </pc:sldMkLst>
        <pc:spChg chg="mod">
          <ac:chgData name="Marilee Turscak" userId="b6afee78-a127-49ab-8aa2-390f57a164b5" providerId="ADAL" clId="{A6474D22-3922-432A-8A29-489720CB6866}" dt="2026-09-10T21:15:45.325" v="169" actId="20577"/>
          <ac:spMkLst>
            <pc:docMk/>
            <pc:sldMk cId="0" sldId="256"/>
            <ac:spMk id="6" creationId="{00000000-0000-0000-0000-000000000000}"/>
          </ac:spMkLst>
        </pc:spChg>
      </pc:sldChg>
      <pc:sldChg chg="modSp mod ord modShow modNotesTx">
        <pc:chgData name="Marilee Turscak" userId="b6afee78-a127-49ab-8aa2-390f57a164b5" providerId="ADAL" clId="{A6474D22-3922-432A-8A29-489720CB6866}" dt="2026-10-07T22:13:01.671" v="1498"/>
        <pc:sldMkLst>
          <pc:docMk/>
          <pc:sldMk cId="0" sldId="261"/>
        </pc:sldMkLst>
      </pc:sldChg>
      <pc:sldChg chg="mod ord modShow">
        <pc:chgData name="Marilee Turscak" userId="b6afee78-a127-49ab-8aa2-390f57a164b5" providerId="ADAL" clId="{A6474D22-3922-432A-8A29-489720CB6866}" dt="2026-10-09T00:14:22.439" v="3596" actId="729"/>
        <pc:sldMkLst>
          <pc:docMk/>
          <pc:sldMk cId="0" sldId="263"/>
        </pc:sldMkLst>
      </pc:sldChg>
      <pc:sldChg chg="modSp mod">
        <pc:chgData name="Marilee Turscak" userId="b6afee78-a127-49ab-8aa2-390f57a164b5" providerId="ADAL" clId="{A6474D22-3922-432A-8A29-489720CB6866}" dt="2026-10-08T23:48:04.764" v="3260" actId="20577"/>
        <pc:sldMkLst>
          <pc:docMk/>
          <pc:sldMk cId="0" sldId="267"/>
        </pc:sldMkLst>
        <pc:spChg chg="mod">
          <ac:chgData name="Marilee Turscak" userId="b6afee78-a127-49ab-8aa2-390f57a164b5" providerId="ADAL" clId="{A6474D22-3922-432A-8A29-489720CB6866}" dt="2026-10-08T23:48:04.764" v="3260" actId="20577"/>
          <ac:spMkLst>
            <pc:docMk/>
            <pc:sldMk cId="0" sldId="267"/>
            <ac:spMk id="2" creationId="{00000000-0000-0000-0000-000000000000}"/>
          </ac:spMkLst>
        </pc:spChg>
      </pc:sldChg>
      <pc:sldChg chg="modSp mod modNotesTx">
        <pc:chgData name="Marilee Turscak" userId="b6afee78-a127-49ab-8aa2-390f57a164b5" providerId="ADAL" clId="{A6474D22-3922-432A-8A29-489720CB6866}" dt="2026-10-09T01:40:14.545" v="5497" actId="20577"/>
        <pc:sldMkLst>
          <pc:docMk/>
          <pc:sldMk cId="0" sldId="270"/>
        </pc:sldMkLst>
        <pc:spChg chg="mod">
          <ac:chgData name="Marilee Turscak" userId="b6afee78-a127-49ab-8aa2-390f57a164b5" providerId="ADAL" clId="{A6474D22-3922-432A-8A29-489720CB6866}" dt="2026-10-09T00:07:34.376" v="3585" actId="20577"/>
          <ac:spMkLst>
            <pc:docMk/>
            <pc:sldMk cId="0" sldId="270"/>
            <ac:spMk id="3" creationId="{00000000-0000-0000-0000-000000000000}"/>
          </ac:spMkLst>
        </pc:spChg>
        <pc:spChg chg="mod">
          <ac:chgData name="Marilee Turscak" userId="b6afee78-a127-49ab-8aa2-390f57a164b5" providerId="ADAL" clId="{A6474D22-3922-432A-8A29-489720CB6866}" dt="2026-10-09T01:40:02.716" v="5485" actId="20577"/>
          <ac:spMkLst>
            <pc:docMk/>
            <pc:sldMk cId="0" sldId="270"/>
            <ac:spMk id="12" creationId="{00000000-0000-0000-0000-000000000000}"/>
          </ac:spMkLst>
        </pc:spChg>
        <pc:spChg chg="mod">
          <ac:chgData name="Marilee Turscak" userId="b6afee78-a127-49ab-8aa2-390f57a164b5" providerId="ADAL" clId="{A6474D22-3922-432A-8A29-489720CB6866}" dt="2026-10-09T01:40:14.545" v="5497" actId="20577"/>
          <ac:spMkLst>
            <pc:docMk/>
            <pc:sldMk cId="0" sldId="270"/>
            <ac:spMk id="14" creationId="{00000000-0000-0000-0000-000000000000}"/>
          </ac:spMkLst>
        </pc:spChg>
      </pc:sldChg>
      <pc:sldChg chg="addSp delSp modSp mod ord modNotesTx">
        <pc:chgData name="Marilee Turscak" userId="b6afee78-a127-49ab-8aa2-390f57a164b5" providerId="ADAL" clId="{A6474D22-3922-432A-8A29-489720CB6866}" dt="2026-10-09T01:50:47.504" v="5956" actId="20577"/>
        <pc:sldMkLst>
          <pc:docMk/>
          <pc:sldMk cId="0" sldId="272"/>
        </pc:sldMkLst>
        <pc:spChg chg="mod">
          <ac:chgData name="Marilee Turscak" userId="b6afee78-a127-49ab-8aa2-390f57a164b5" providerId="ADAL" clId="{A6474D22-3922-432A-8A29-489720CB6866}" dt="2026-10-09T00:16:44.467" v="3615" actId="20577"/>
          <ac:spMkLst>
            <pc:docMk/>
            <pc:sldMk cId="0" sldId="272"/>
            <ac:spMk id="5" creationId="{00000000-0000-0000-0000-000000000000}"/>
          </ac:spMkLst>
        </pc:spChg>
        <pc:spChg chg="mod">
          <ac:chgData name="Marilee Turscak" userId="b6afee78-a127-49ab-8aa2-390f57a164b5" providerId="ADAL" clId="{A6474D22-3922-432A-8A29-489720CB6866}" dt="2026-10-09T00:16:48.204" v="3632" actId="20577"/>
          <ac:spMkLst>
            <pc:docMk/>
            <pc:sldMk cId="0" sldId="272"/>
            <ac:spMk id="6" creationId="{00000000-0000-0000-0000-000000000000}"/>
          </ac:spMkLst>
        </pc:spChg>
        <pc:spChg chg="del">
          <ac:chgData name="Marilee Turscak" userId="b6afee78-a127-49ab-8aa2-390f57a164b5" providerId="ADAL" clId="{A6474D22-3922-432A-8A29-489720CB6866}" dt="2026-10-09T00:16:57.491" v="3635" actId="478"/>
          <ac:spMkLst>
            <pc:docMk/>
            <pc:sldMk cId="0" sldId="272"/>
            <ac:spMk id="8" creationId="{00000000-0000-0000-0000-000000000000}"/>
          </ac:spMkLst>
        </pc:spChg>
        <pc:spChg chg="del">
          <ac:chgData name="Marilee Turscak" userId="b6afee78-a127-49ab-8aa2-390f57a164b5" providerId="ADAL" clId="{A6474D22-3922-432A-8A29-489720CB6866}" dt="2026-10-09T00:16:56.173" v="3634" actId="478"/>
          <ac:spMkLst>
            <pc:docMk/>
            <pc:sldMk cId="0" sldId="272"/>
            <ac:spMk id="9" creationId="{00000000-0000-0000-0000-000000000000}"/>
          </ac:spMkLst>
        </pc:spChg>
        <pc:spChg chg="del">
          <ac:chgData name="Marilee Turscak" userId="b6afee78-a127-49ab-8aa2-390f57a164b5" providerId="ADAL" clId="{A6474D22-3922-432A-8A29-489720CB6866}" dt="2026-10-09T00:16:54.149" v="3633" actId="478"/>
          <ac:spMkLst>
            <pc:docMk/>
            <pc:sldMk cId="0" sldId="272"/>
            <ac:spMk id="10" creationId="{00000000-0000-0000-0000-000000000000}"/>
          </ac:spMkLst>
        </pc:spChg>
        <pc:picChg chg="add del">
          <ac:chgData name="Marilee Turscak" userId="b6afee78-a127-49ab-8aa2-390f57a164b5" providerId="ADAL" clId="{A6474D22-3922-432A-8A29-489720CB6866}" dt="2026-10-09T00:38:58.559" v="3903" actId="478"/>
          <ac:picMkLst>
            <pc:docMk/>
            <pc:sldMk cId="0" sldId="272"/>
            <ac:picMk id="11" creationId="{7BB02D76-788B-A88F-88F1-B81C1D7718C1}"/>
          </ac:picMkLst>
        </pc:picChg>
      </pc:sldChg>
      <pc:sldChg chg="delSp modSp mod ord modNotesTx">
        <pc:chgData name="Marilee Turscak" userId="b6afee78-a127-49ab-8aa2-390f57a164b5" providerId="ADAL" clId="{A6474D22-3922-432A-8A29-489720CB6866}" dt="2026-10-09T01:50:29.043" v="5862" actId="20577"/>
        <pc:sldMkLst>
          <pc:docMk/>
          <pc:sldMk cId="3494356198" sldId="3403"/>
        </pc:sldMkLst>
        <pc:spChg chg="del">
          <ac:chgData name="Marilee Turscak" userId="b6afee78-a127-49ab-8aa2-390f57a164b5" providerId="ADAL" clId="{A6474D22-3922-432A-8A29-489720CB6866}" dt="2026-10-08T21:53:10.494" v="2609" actId="478"/>
          <ac:spMkLst>
            <pc:docMk/>
            <pc:sldMk cId="3494356198" sldId="3403"/>
            <ac:spMk id="4" creationId="{00000000-0000-0000-0000-000000000000}"/>
          </ac:spMkLst>
        </pc:spChg>
        <pc:spChg chg="mod">
          <ac:chgData name="Marilee Turscak" userId="b6afee78-a127-49ab-8aa2-390f57a164b5" providerId="ADAL" clId="{A6474D22-3922-432A-8A29-489720CB6866}" dt="2026-10-09T01:49:00.722" v="5509" actId="20577"/>
          <ac:spMkLst>
            <pc:docMk/>
            <pc:sldMk cId="3494356198" sldId="3403"/>
            <ac:spMk id="7" creationId="{00000000-0000-0000-0000-000000000000}"/>
          </ac:spMkLst>
        </pc:spChg>
        <pc:spChg chg="mod">
          <ac:chgData name="Marilee Turscak" userId="b6afee78-a127-49ab-8aa2-390f57a164b5" providerId="ADAL" clId="{A6474D22-3922-432A-8A29-489720CB6866}" dt="2026-10-09T01:49:05.187" v="5510" actId="1076"/>
          <ac:spMkLst>
            <pc:docMk/>
            <pc:sldMk cId="3494356198" sldId="3403"/>
            <ac:spMk id="8" creationId="{00000000-0000-0000-0000-000000000000}"/>
          </ac:spMkLst>
        </pc:spChg>
      </pc:sldChg>
      <pc:sldChg chg="modSp mod modNotesTx">
        <pc:chgData name="Marilee Turscak" userId="b6afee78-a127-49ab-8aa2-390f57a164b5" providerId="ADAL" clId="{A6474D22-3922-432A-8A29-489720CB6866}" dt="2026-10-09T01:53:57.815" v="6419" actId="20577"/>
        <pc:sldMkLst>
          <pc:docMk/>
          <pc:sldMk cId="1656582168" sldId="3429"/>
        </pc:sldMkLst>
        <pc:spChg chg="mod">
          <ac:chgData name="Marilee Turscak" userId="b6afee78-a127-49ab-8aa2-390f57a164b5" providerId="ADAL" clId="{A6474D22-3922-432A-8A29-489720CB6866}" dt="2026-10-07T22:35:15.166" v="1717" actId="20577"/>
          <ac:spMkLst>
            <pc:docMk/>
            <pc:sldMk cId="1656582168" sldId="3429"/>
            <ac:spMk id="9" creationId="{DE88EA31-194E-3492-2129-005313EEFAF7}"/>
          </ac:spMkLst>
        </pc:spChg>
        <pc:picChg chg="mod">
          <ac:chgData name="Marilee Turscak" userId="b6afee78-a127-49ab-8aa2-390f57a164b5" providerId="ADAL" clId="{A6474D22-3922-432A-8A29-489720CB6866}" dt="2026-09-22T00:10:02.237" v="461" actId="1076"/>
          <ac:picMkLst>
            <pc:docMk/>
            <pc:sldMk cId="1656582168" sldId="3429"/>
            <ac:picMk id="13" creationId="{AA06D3BA-B7BE-93C3-8827-58B0415C03C8}"/>
          </ac:picMkLst>
        </pc:picChg>
      </pc:sldChg>
      <pc:sldChg chg="ord">
        <pc:chgData name="Marilee Turscak" userId="b6afee78-a127-49ab-8aa2-390f57a164b5" providerId="ADAL" clId="{A6474D22-3922-432A-8A29-489720CB6866}" dt="2026-10-09T00:08:59.223" v="3589"/>
        <pc:sldMkLst>
          <pc:docMk/>
          <pc:sldMk cId="625756918" sldId="3432"/>
        </pc:sldMkLst>
      </pc:sldChg>
      <pc:sldChg chg="modSp mod ord modShow">
        <pc:chgData name="Marilee Turscak" userId="b6afee78-a127-49ab-8aa2-390f57a164b5" providerId="ADAL" clId="{A6474D22-3922-432A-8A29-489720CB6866}" dt="2026-10-08T20:08:29.288" v="2106" actId="729"/>
        <pc:sldMkLst>
          <pc:docMk/>
          <pc:sldMk cId="0" sldId="3434"/>
        </pc:sldMkLst>
        <pc:spChg chg="mod">
          <ac:chgData name="Marilee Turscak" userId="b6afee78-a127-49ab-8aa2-390f57a164b5" providerId="ADAL" clId="{A6474D22-3922-432A-8A29-489720CB6866}" dt="2026-10-05T02:00:04.306" v="1292" actId="255"/>
          <ac:spMkLst>
            <pc:docMk/>
            <pc:sldMk cId="0" sldId="3434"/>
            <ac:spMk id="26" creationId="{00000000-0000-0000-0000-000000000000}"/>
          </ac:spMkLst>
        </pc:spChg>
      </pc:sldChg>
      <pc:sldChg chg="modSp mod modNotesTx">
        <pc:chgData name="Marilee Turscak" userId="b6afee78-a127-49ab-8aa2-390f57a164b5" providerId="ADAL" clId="{A6474D22-3922-432A-8A29-489720CB6866}" dt="2026-10-08T01:51:08.324" v="1875" actId="20577"/>
        <pc:sldMkLst>
          <pc:docMk/>
          <pc:sldMk cId="0" sldId="3435"/>
        </pc:sldMkLst>
        <pc:spChg chg="mod">
          <ac:chgData name="Marilee Turscak" userId="b6afee78-a127-49ab-8aa2-390f57a164b5" providerId="ADAL" clId="{A6474D22-3922-432A-8A29-489720CB6866}" dt="2026-10-08T01:48:28.861" v="1863" actId="20577"/>
          <ac:spMkLst>
            <pc:docMk/>
            <pc:sldMk cId="0" sldId="3435"/>
            <ac:spMk id="7" creationId="{00000000-0000-0000-0000-000000000000}"/>
          </ac:spMkLst>
        </pc:spChg>
      </pc:sldChg>
      <pc:sldChg chg="addSp delSp modSp mod">
        <pc:chgData name="Marilee Turscak" userId="b6afee78-a127-49ab-8aa2-390f57a164b5" providerId="ADAL" clId="{A6474D22-3922-432A-8A29-489720CB6866}" dt="2026-10-09T01:15:31.699" v="4089" actId="20577"/>
        <pc:sldMkLst>
          <pc:docMk/>
          <pc:sldMk cId="0" sldId="3436"/>
        </pc:sldMkLst>
        <pc:spChg chg="mod">
          <ac:chgData name="Marilee Turscak" userId="b6afee78-a127-49ab-8aa2-390f57a164b5" providerId="ADAL" clId="{A6474D22-3922-432A-8A29-489720CB6866}" dt="2026-10-08T20:46:19.194" v="2372" actId="20577"/>
          <ac:spMkLst>
            <pc:docMk/>
            <pc:sldMk cId="0" sldId="3436"/>
            <ac:spMk id="2" creationId="{00000000-0000-0000-0000-000000000000}"/>
          </ac:spMkLst>
        </pc:spChg>
        <pc:spChg chg="del">
          <ac:chgData name="Marilee Turscak" userId="b6afee78-a127-49ab-8aa2-390f57a164b5" providerId="ADAL" clId="{A6474D22-3922-432A-8A29-489720CB6866}" dt="2026-10-08T20:17:14.211" v="2294" actId="478"/>
          <ac:spMkLst>
            <pc:docMk/>
            <pc:sldMk cId="0" sldId="3436"/>
            <ac:spMk id="3" creationId="{00000000-0000-0000-0000-000000000000}"/>
          </ac:spMkLst>
        </pc:spChg>
        <pc:spChg chg="mod">
          <ac:chgData name="Marilee Turscak" userId="b6afee78-a127-49ab-8aa2-390f57a164b5" providerId="ADAL" clId="{A6474D22-3922-432A-8A29-489720CB6866}" dt="2026-10-08T20:46:54.841" v="2483" actId="20577"/>
          <ac:spMkLst>
            <pc:docMk/>
            <pc:sldMk cId="0" sldId="3436"/>
            <ac:spMk id="5" creationId="{00000000-0000-0000-0000-000000000000}"/>
          </ac:spMkLst>
        </pc:spChg>
        <pc:spChg chg="mod">
          <ac:chgData name="Marilee Turscak" userId="b6afee78-a127-49ab-8aa2-390f57a164b5" providerId="ADAL" clId="{A6474D22-3922-432A-8A29-489720CB6866}" dt="2026-10-08T01:56:50.323" v="1967" actId="20577"/>
          <ac:spMkLst>
            <pc:docMk/>
            <pc:sldMk cId="0" sldId="3436"/>
            <ac:spMk id="11" creationId="{00000000-0000-0000-0000-000000000000}"/>
          </ac:spMkLst>
        </pc:spChg>
        <pc:spChg chg="mod">
          <ac:chgData name="Marilee Turscak" userId="b6afee78-a127-49ab-8aa2-390f57a164b5" providerId="ADAL" clId="{A6474D22-3922-432A-8A29-489720CB6866}" dt="2026-10-08T23:44:44.818" v="3141" actId="20577"/>
          <ac:spMkLst>
            <pc:docMk/>
            <pc:sldMk cId="0" sldId="3436"/>
            <ac:spMk id="14" creationId="{00000000-0000-0000-0000-000000000000}"/>
          </ac:spMkLst>
        </pc:spChg>
        <pc:spChg chg="del">
          <ac:chgData name="Marilee Turscak" userId="b6afee78-a127-49ab-8aa2-390f57a164b5" providerId="ADAL" clId="{A6474D22-3922-432A-8A29-489720CB6866}" dt="2026-10-08T23:44:50.895" v="3143" actId="478"/>
          <ac:spMkLst>
            <pc:docMk/>
            <pc:sldMk cId="0" sldId="3436"/>
            <ac:spMk id="15" creationId="{00000000-0000-0000-0000-000000000000}"/>
          </ac:spMkLst>
        </pc:spChg>
        <pc:spChg chg="add del">
          <ac:chgData name="Marilee Turscak" userId="b6afee78-a127-49ab-8aa2-390f57a164b5" providerId="ADAL" clId="{A6474D22-3922-432A-8A29-489720CB6866}" dt="2026-10-09T01:14:53.678" v="4052" actId="478"/>
          <ac:spMkLst>
            <pc:docMk/>
            <pc:sldMk cId="0" sldId="3436"/>
            <ac:spMk id="15" creationId="{64C33386-E192-6FEF-8335-E0F9D49A78C4}"/>
          </ac:spMkLst>
        </pc:spChg>
        <pc:spChg chg="del">
          <ac:chgData name="Marilee Turscak" userId="b6afee78-a127-49ab-8aa2-390f57a164b5" providerId="ADAL" clId="{A6474D22-3922-432A-8A29-489720CB6866}" dt="2026-10-08T23:44:47.250" v="3142" actId="478"/>
          <ac:spMkLst>
            <pc:docMk/>
            <pc:sldMk cId="0" sldId="3436"/>
            <ac:spMk id="16" creationId="{00000000-0000-0000-0000-000000000000}"/>
          </ac:spMkLst>
        </pc:spChg>
        <pc:spChg chg="mod">
          <ac:chgData name="Marilee Turscak" userId="b6afee78-a127-49ab-8aa2-390f57a164b5" providerId="ADAL" clId="{A6474D22-3922-432A-8A29-489720CB6866}" dt="2026-10-08T23:45:05.351" v="3150" actId="20577"/>
          <ac:spMkLst>
            <pc:docMk/>
            <pc:sldMk cId="0" sldId="3436"/>
            <ac:spMk id="17" creationId="{00000000-0000-0000-0000-000000000000}"/>
          </ac:spMkLst>
        </pc:spChg>
        <pc:spChg chg="mod">
          <ac:chgData name="Marilee Turscak" userId="b6afee78-a127-49ab-8aa2-390f57a164b5" providerId="ADAL" clId="{A6474D22-3922-432A-8A29-489720CB6866}" dt="2026-10-08T23:45:47.502" v="3202" actId="20577"/>
          <ac:spMkLst>
            <pc:docMk/>
            <pc:sldMk cId="0" sldId="3436"/>
            <ac:spMk id="18" creationId="{00000000-0000-0000-0000-000000000000}"/>
          </ac:spMkLst>
        </pc:spChg>
        <pc:spChg chg="del mod">
          <ac:chgData name="Marilee Turscak" userId="b6afee78-a127-49ab-8aa2-390f57a164b5" providerId="ADAL" clId="{A6474D22-3922-432A-8A29-489720CB6866}" dt="2026-10-08T23:17:27.058" v="2717" actId="478"/>
          <ac:spMkLst>
            <pc:docMk/>
            <pc:sldMk cId="0" sldId="3436"/>
            <ac:spMk id="19" creationId="{00000000-0000-0000-0000-000000000000}"/>
          </ac:spMkLst>
        </pc:spChg>
        <pc:spChg chg="add mod">
          <ac:chgData name="Marilee Turscak" userId="b6afee78-a127-49ab-8aa2-390f57a164b5" providerId="ADAL" clId="{A6474D22-3922-432A-8A29-489720CB6866}" dt="2026-10-09T01:15:31.699" v="4089" actId="20577"/>
          <ac:spMkLst>
            <pc:docMk/>
            <pc:sldMk cId="0" sldId="3436"/>
            <ac:spMk id="19" creationId="{C1F98F84-AFFB-523B-066E-2AC4301E2716}"/>
          </ac:spMkLst>
        </pc:spChg>
        <pc:spChg chg="del">
          <ac:chgData name="Marilee Turscak" userId="b6afee78-a127-49ab-8aa2-390f57a164b5" providerId="ADAL" clId="{A6474D22-3922-432A-8A29-489720CB6866}" dt="2026-10-08T23:17:23.313" v="2715" actId="478"/>
          <ac:spMkLst>
            <pc:docMk/>
            <pc:sldMk cId="0" sldId="3436"/>
            <ac:spMk id="20" creationId="{00000000-0000-0000-0000-000000000000}"/>
          </ac:spMkLst>
        </pc:spChg>
        <pc:spChg chg="mod">
          <ac:chgData name="Marilee Turscak" userId="b6afee78-a127-49ab-8aa2-390f57a164b5" providerId="ADAL" clId="{A6474D22-3922-432A-8A29-489720CB6866}" dt="2026-10-08T21:54:46.445" v="2636" actId="20577"/>
          <ac:spMkLst>
            <pc:docMk/>
            <pc:sldMk cId="0" sldId="3436"/>
            <ac:spMk id="21" creationId="{00000000-0000-0000-0000-000000000000}"/>
          </ac:spMkLst>
        </pc:spChg>
        <pc:spChg chg="add mod">
          <ac:chgData name="Marilee Turscak" userId="b6afee78-a127-49ab-8aa2-390f57a164b5" providerId="ADAL" clId="{A6474D22-3922-432A-8A29-489720CB6866}" dt="2026-10-09T01:15:02.048" v="4058" actId="20577"/>
          <ac:spMkLst>
            <pc:docMk/>
            <pc:sldMk cId="0" sldId="3436"/>
            <ac:spMk id="22" creationId="{F148248C-C0BE-CFFA-4AA1-CE81366187FE}"/>
          </ac:spMkLst>
        </pc:spChg>
        <pc:spChg chg="add mod">
          <ac:chgData name="Marilee Turscak" userId="b6afee78-a127-49ab-8aa2-390f57a164b5" providerId="ADAL" clId="{A6474D22-3922-432A-8A29-489720CB6866}" dt="2026-10-09T01:15:07.490" v="4062" actId="20577"/>
          <ac:spMkLst>
            <pc:docMk/>
            <pc:sldMk cId="0" sldId="3436"/>
            <ac:spMk id="23" creationId="{629C638A-DEF3-C0BB-AC20-F85FF2716804}"/>
          </ac:spMkLst>
        </pc:spChg>
        <pc:spChg chg="add mod">
          <ac:chgData name="Marilee Turscak" userId="b6afee78-a127-49ab-8aa2-390f57a164b5" providerId="ADAL" clId="{A6474D22-3922-432A-8A29-489720CB6866}" dt="2026-10-09T01:14:34.700" v="4047" actId="1076"/>
          <ac:spMkLst>
            <pc:docMk/>
            <pc:sldMk cId="0" sldId="3436"/>
            <ac:spMk id="25" creationId="{3D30A11D-DD23-072D-8370-28A404E007E6}"/>
          </ac:spMkLst>
        </pc:spChg>
      </pc:sldChg>
      <pc:sldChg chg="delSp modSp mod modNotesTx">
        <pc:chgData name="Marilee Turscak" userId="b6afee78-a127-49ab-8aa2-390f57a164b5" providerId="ADAL" clId="{A6474D22-3922-432A-8A29-489720CB6866}" dt="2026-10-09T01:20:56.260" v="4384" actId="20577"/>
        <pc:sldMkLst>
          <pc:docMk/>
          <pc:sldMk cId="0" sldId="3437"/>
        </pc:sldMkLst>
        <pc:spChg chg="mod">
          <ac:chgData name="Marilee Turscak" userId="b6afee78-a127-49ab-8aa2-390f57a164b5" providerId="ADAL" clId="{A6474D22-3922-432A-8A29-489720CB6866}" dt="2026-10-09T00:19:22.940" v="3685" actId="20577"/>
          <ac:spMkLst>
            <pc:docMk/>
            <pc:sldMk cId="0" sldId="3437"/>
            <ac:spMk id="2" creationId="{00000000-0000-0000-0000-000000000000}"/>
          </ac:spMkLst>
        </pc:spChg>
        <pc:spChg chg="del">
          <ac:chgData name="Marilee Turscak" userId="b6afee78-a127-49ab-8aa2-390f57a164b5" providerId="ADAL" clId="{A6474D22-3922-432A-8A29-489720CB6866}" dt="2026-10-08T20:17:10.467" v="2293" actId="478"/>
          <ac:spMkLst>
            <pc:docMk/>
            <pc:sldMk cId="0" sldId="3437"/>
            <ac:spMk id="3" creationId="{00000000-0000-0000-0000-000000000000}"/>
          </ac:spMkLst>
        </pc:spChg>
        <pc:spChg chg="mod">
          <ac:chgData name="Marilee Turscak" userId="b6afee78-a127-49ab-8aa2-390f57a164b5" providerId="ADAL" clId="{A6474D22-3922-432A-8A29-489720CB6866}" dt="2026-10-07T22:21:50.326" v="1563" actId="20577"/>
          <ac:spMkLst>
            <pc:docMk/>
            <pc:sldMk cId="0" sldId="3437"/>
            <ac:spMk id="8" creationId="{00000000-0000-0000-0000-000000000000}"/>
          </ac:spMkLst>
        </pc:spChg>
        <pc:spChg chg="mod">
          <ac:chgData name="Marilee Turscak" userId="b6afee78-a127-49ab-8aa2-390f57a164b5" providerId="ADAL" clId="{A6474D22-3922-432A-8A29-489720CB6866}" dt="2026-10-07T22:21:47.837" v="1562" actId="20577"/>
          <ac:spMkLst>
            <pc:docMk/>
            <pc:sldMk cId="0" sldId="3437"/>
            <ac:spMk id="10" creationId="{00000000-0000-0000-0000-000000000000}"/>
          </ac:spMkLst>
        </pc:spChg>
        <pc:spChg chg="mod">
          <ac:chgData name="Marilee Turscak" userId="b6afee78-a127-49ab-8aa2-390f57a164b5" providerId="ADAL" clId="{A6474D22-3922-432A-8A29-489720CB6866}" dt="2026-10-09T01:19:03.902" v="4229" actId="20577"/>
          <ac:spMkLst>
            <pc:docMk/>
            <pc:sldMk cId="0" sldId="3437"/>
            <ac:spMk id="11" creationId="{00000000-0000-0000-0000-000000000000}"/>
          </ac:spMkLst>
        </pc:spChg>
      </pc:sldChg>
      <pc:sldChg chg="delSp modSp mod">
        <pc:chgData name="Marilee Turscak" userId="b6afee78-a127-49ab-8aa2-390f57a164b5" providerId="ADAL" clId="{A6474D22-3922-432A-8A29-489720CB6866}" dt="2026-10-08T23:47:51.403" v="3253" actId="20577"/>
        <pc:sldMkLst>
          <pc:docMk/>
          <pc:sldMk cId="0" sldId="3438"/>
        </pc:sldMkLst>
        <pc:spChg chg="mod">
          <ac:chgData name="Marilee Turscak" userId="b6afee78-a127-49ab-8aa2-390f57a164b5" providerId="ADAL" clId="{A6474D22-3922-432A-8A29-489720CB6866}" dt="2026-10-08T23:47:46.204" v="3246" actId="20577"/>
          <ac:spMkLst>
            <pc:docMk/>
            <pc:sldMk cId="0" sldId="3438"/>
            <ac:spMk id="2" creationId="{00000000-0000-0000-0000-000000000000}"/>
          </ac:spMkLst>
        </pc:spChg>
        <pc:spChg chg="del">
          <ac:chgData name="Marilee Turscak" userId="b6afee78-a127-49ab-8aa2-390f57a164b5" providerId="ADAL" clId="{A6474D22-3922-432A-8A29-489720CB6866}" dt="2026-10-08T20:17:05.267" v="2292" actId="478"/>
          <ac:spMkLst>
            <pc:docMk/>
            <pc:sldMk cId="0" sldId="3438"/>
            <ac:spMk id="3" creationId="{00000000-0000-0000-0000-000000000000}"/>
          </ac:spMkLst>
        </pc:spChg>
        <pc:spChg chg="mod">
          <ac:chgData name="Marilee Turscak" userId="b6afee78-a127-49ab-8aa2-390f57a164b5" providerId="ADAL" clId="{A6474D22-3922-432A-8A29-489720CB6866}" dt="2026-10-08T23:47:51.403" v="3253" actId="20577"/>
          <ac:spMkLst>
            <pc:docMk/>
            <pc:sldMk cId="0" sldId="3438"/>
            <ac:spMk id="5" creationId="{00000000-0000-0000-0000-000000000000}"/>
          </ac:spMkLst>
        </pc:spChg>
        <pc:spChg chg="mod">
          <ac:chgData name="Marilee Turscak" userId="b6afee78-a127-49ab-8aa2-390f57a164b5" providerId="ADAL" clId="{A6474D22-3922-432A-8A29-489720CB6866}" dt="2026-10-08T23:47:11.370" v="3231" actId="1076"/>
          <ac:spMkLst>
            <pc:docMk/>
            <pc:sldMk cId="0" sldId="3438"/>
            <ac:spMk id="6" creationId="{00000000-0000-0000-0000-000000000000}"/>
          </ac:spMkLst>
        </pc:spChg>
        <pc:spChg chg="mod">
          <ac:chgData name="Marilee Turscak" userId="b6afee78-a127-49ab-8aa2-390f57a164b5" providerId="ADAL" clId="{A6474D22-3922-432A-8A29-489720CB6866}" dt="2026-10-08T23:46:20.069" v="3221" actId="20577"/>
          <ac:spMkLst>
            <pc:docMk/>
            <pc:sldMk cId="0" sldId="3438"/>
            <ac:spMk id="7" creationId="{00000000-0000-0000-0000-000000000000}"/>
          </ac:spMkLst>
        </pc:spChg>
        <pc:spChg chg="del mod">
          <ac:chgData name="Marilee Turscak" userId="b6afee78-a127-49ab-8aa2-390f57a164b5" providerId="ADAL" clId="{A6474D22-3922-432A-8A29-489720CB6866}" dt="2026-10-08T23:46:34.447" v="3224" actId="478"/>
          <ac:spMkLst>
            <pc:docMk/>
            <pc:sldMk cId="0" sldId="3438"/>
            <ac:spMk id="8" creationId="{00000000-0000-0000-0000-000000000000}"/>
          </ac:spMkLst>
        </pc:spChg>
        <pc:spChg chg="del mod">
          <ac:chgData name="Marilee Turscak" userId="b6afee78-a127-49ab-8aa2-390f57a164b5" providerId="ADAL" clId="{A6474D22-3922-432A-8A29-489720CB6866}" dt="2026-10-08T23:46:28.371" v="3222" actId="478"/>
          <ac:spMkLst>
            <pc:docMk/>
            <pc:sldMk cId="0" sldId="3438"/>
            <ac:spMk id="9" creationId="{00000000-0000-0000-0000-000000000000}"/>
          </ac:spMkLst>
        </pc:spChg>
        <pc:spChg chg="mod">
          <ac:chgData name="Marilee Turscak" userId="b6afee78-a127-49ab-8aa2-390f57a164b5" providerId="ADAL" clId="{A6474D22-3922-432A-8A29-489720CB6866}" dt="2026-10-08T23:46:44.063" v="3226" actId="1076"/>
          <ac:spMkLst>
            <pc:docMk/>
            <pc:sldMk cId="0" sldId="3438"/>
            <ac:spMk id="10" creationId="{00000000-0000-0000-0000-000000000000}"/>
          </ac:spMkLst>
        </pc:spChg>
        <pc:spChg chg="mod">
          <ac:chgData name="Marilee Turscak" userId="b6afee78-a127-49ab-8aa2-390f57a164b5" providerId="ADAL" clId="{A6474D22-3922-432A-8A29-489720CB6866}" dt="2026-10-08T23:46:39.825" v="3225" actId="1076"/>
          <ac:spMkLst>
            <pc:docMk/>
            <pc:sldMk cId="0" sldId="3438"/>
            <ac:spMk id="11" creationId="{00000000-0000-0000-0000-000000000000}"/>
          </ac:spMkLst>
        </pc:spChg>
        <pc:spChg chg="mod">
          <ac:chgData name="Marilee Turscak" userId="b6afee78-a127-49ab-8aa2-390f57a164b5" providerId="ADAL" clId="{A6474D22-3922-432A-8A29-489720CB6866}" dt="2026-10-08T23:46:51.170" v="3228" actId="1076"/>
          <ac:spMkLst>
            <pc:docMk/>
            <pc:sldMk cId="0" sldId="3438"/>
            <ac:spMk id="12" creationId="{00000000-0000-0000-0000-000000000000}"/>
          </ac:spMkLst>
        </pc:spChg>
        <pc:spChg chg="mod">
          <ac:chgData name="Marilee Turscak" userId="b6afee78-a127-49ab-8aa2-390f57a164b5" providerId="ADAL" clId="{A6474D22-3922-432A-8A29-489720CB6866}" dt="2026-10-08T23:46:47.353" v="3227" actId="1076"/>
          <ac:spMkLst>
            <pc:docMk/>
            <pc:sldMk cId="0" sldId="3438"/>
            <ac:spMk id="13" creationId="{00000000-0000-0000-0000-000000000000}"/>
          </ac:spMkLst>
        </pc:spChg>
        <pc:spChg chg="mod">
          <ac:chgData name="Marilee Turscak" userId="b6afee78-a127-49ab-8aa2-390f57a164b5" providerId="ADAL" clId="{A6474D22-3922-432A-8A29-489720CB6866}" dt="2026-10-08T23:47:03.123" v="3230" actId="1076"/>
          <ac:spMkLst>
            <pc:docMk/>
            <pc:sldMk cId="0" sldId="3438"/>
            <ac:spMk id="14" creationId="{00000000-0000-0000-0000-000000000000}"/>
          </ac:spMkLst>
        </pc:spChg>
        <pc:spChg chg="mod">
          <ac:chgData name="Marilee Turscak" userId="b6afee78-a127-49ab-8aa2-390f57a164b5" providerId="ADAL" clId="{A6474D22-3922-432A-8A29-489720CB6866}" dt="2026-10-08T23:46:58.792" v="3229" actId="1076"/>
          <ac:spMkLst>
            <pc:docMk/>
            <pc:sldMk cId="0" sldId="3438"/>
            <ac:spMk id="15" creationId="{00000000-0000-0000-0000-000000000000}"/>
          </ac:spMkLst>
        </pc:spChg>
        <pc:spChg chg="mod">
          <ac:chgData name="Marilee Turscak" userId="b6afee78-a127-49ab-8aa2-390f57a164b5" providerId="ADAL" clId="{A6474D22-3922-432A-8A29-489720CB6866}" dt="2026-10-08T23:47:17.846" v="3233" actId="1076"/>
          <ac:spMkLst>
            <pc:docMk/>
            <pc:sldMk cId="0" sldId="3438"/>
            <ac:spMk id="16" creationId="{00000000-0000-0000-0000-000000000000}"/>
          </ac:spMkLst>
        </pc:spChg>
        <pc:spChg chg="mod">
          <ac:chgData name="Marilee Turscak" userId="b6afee78-a127-49ab-8aa2-390f57a164b5" providerId="ADAL" clId="{A6474D22-3922-432A-8A29-489720CB6866}" dt="2026-10-08T23:47:13.953" v="3232" actId="1076"/>
          <ac:spMkLst>
            <pc:docMk/>
            <pc:sldMk cId="0" sldId="3438"/>
            <ac:spMk id="17" creationId="{00000000-0000-0000-0000-000000000000}"/>
          </ac:spMkLst>
        </pc:spChg>
      </pc:sldChg>
      <pc:sldChg chg="modSp mod">
        <pc:chgData name="Marilee Turscak" userId="b6afee78-a127-49ab-8aa2-390f57a164b5" providerId="ADAL" clId="{A6474D22-3922-432A-8A29-489720CB6866}" dt="2026-10-08T23:55:43.905" v="3377" actId="20577"/>
        <pc:sldMkLst>
          <pc:docMk/>
          <pc:sldMk cId="0" sldId="3439"/>
        </pc:sldMkLst>
        <pc:spChg chg="mod">
          <ac:chgData name="Marilee Turscak" userId="b6afee78-a127-49ab-8aa2-390f57a164b5" providerId="ADAL" clId="{A6474D22-3922-432A-8A29-489720CB6866}" dt="2026-10-08T23:55:43.905" v="3377" actId="20577"/>
          <ac:spMkLst>
            <pc:docMk/>
            <pc:sldMk cId="0" sldId="3439"/>
            <ac:spMk id="2" creationId="{00000000-0000-0000-0000-000000000000}"/>
          </ac:spMkLst>
        </pc:spChg>
      </pc:sldChg>
      <pc:sldChg chg="delSp modSp mod">
        <pc:chgData name="Marilee Turscak" userId="b6afee78-a127-49ab-8aa2-390f57a164b5" providerId="ADAL" clId="{A6474D22-3922-432A-8A29-489720CB6866}" dt="2026-10-09T00:01:31.580" v="3474" actId="20577"/>
        <pc:sldMkLst>
          <pc:docMk/>
          <pc:sldMk cId="0" sldId="3440"/>
        </pc:sldMkLst>
        <pc:spChg chg="mod">
          <ac:chgData name="Marilee Turscak" userId="b6afee78-a127-49ab-8aa2-390f57a164b5" providerId="ADAL" clId="{A6474D22-3922-432A-8A29-489720CB6866}" dt="2026-10-09T00:01:31.580" v="3474" actId="20577"/>
          <ac:spMkLst>
            <pc:docMk/>
            <pc:sldMk cId="0" sldId="3440"/>
            <ac:spMk id="2" creationId="{00000000-0000-0000-0000-000000000000}"/>
          </ac:spMkLst>
        </pc:spChg>
      </pc:sldChg>
      <pc:sldChg chg="mod ord modShow">
        <pc:chgData name="Marilee Turscak" userId="b6afee78-a127-49ab-8aa2-390f57a164b5" providerId="ADAL" clId="{A6474D22-3922-432A-8A29-489720CB6866}" dt="2026-10-09T00:09:12.137" v="3592" actId="729"/>
        <pc:sldMkLst>
          <pc:docMk/>
          <pc:sldMk cId="0" sldId="3441"/>
        </pc:sldMkLst>
      </pc:sldChg>
      <pc:sldChg chg="delSp modSp mod">
        <pc:chgData name="Marilee Turscak" userId="b6afee78-a127-49ab-8aa2-390f57a164b5" providerId="ADAL" clId="{A6474D22-3922-432A-8A29-489720CB6866}" dt="2026-10-08T21:53:05.154" v="2608" actId="478"/>
        <pc:sldMkLst>
          <pc:docMk/>
          <pc:sldMk cId="352335318" sldId="3442"/>
        </pc:sldMkLst>
        <pc:spChg chg="del">
          <ac:chgData name="Marilee Turscak" userId="b6afee78-a127-49ab-8aa2-390f57a164b5" providerId="ADAL" clId="{A6474D22-3922-432A-8A29-489720CB6866}" dt="2026-10-08T21:53:05.154" v="2608" actId="478"/>
          <ac:spMkLst>
            <pc:docMk/>
            <pc:sldMk cId="352335318" sldId="3442"/>
            <ac:spMk id="4" creationId="{00000000-0000-0000-0000-000000000000}"/>
          </ac:spMkLst>
        </pc:spChg>
        <pc:spChg chg="mod">
          <ac:chgData name="Marilee Turscak" userId="b6afee78-a127-49ab-8aa2-390f57a164b5" providerId="ADAL" clId="{A6474D22-3922-432A-8A29-489720CB6866}" dt="2026-09-22T00:08:23.683" v="459" actId="1076"/>
          <ac:spMkLst>
            <pc:docMk/>
            <pc:sldMk cId="352335318" sldId="3442"/>
            <ac:spMk id="24" creationId="{00000000-0000-0000-0000-000000000000}"/>
          </ac:spMkLst>
        </pc:spChg>
        <pc:spChg chg="del">
          <ac:chgData name="Marilee Turscak" userId="b6afee78-a127-49ab-8aa2-390f57a164b5" providerId="ADAL" clId="{A6474D22-3922-432A-8A29-489720CB6866}" dt="2026-10-08T21:53:02.480" v="2607" actId="478"/>
          <ac:spMkLst>
            <pc:docMk/>
            <pc:sldMk cId="352335318" sldId="3442"/>
            <ac:spMk id="29" creationId="{00000000-0000-0000-0000-000000000000}"/>
          </ac:spMkLst>
        </pc:spChg>
      </pc:sldChg>
      <pc:sldChg chg="delSp modSp mod">
        <pc:chgData name="Marilee Turscak" userId="b6afee78-a127-49ab-8aa2-390f57a164b5" providerId="ADAL" clId="{A6474D22-3922-432A-8A29-489720CB6866}" dt="2026-10-07T15:22:27.095" v="1297" actId="1076"/>
        <pc:sldMkLst>
          <pc:docMk/>
          <pc:sldMk cId="1176361696" sldId="3443"/>
        </pc:sldMkLst>
        <pc:spChg chg="mod">
          <ac:chgData name="Marilee Turscak" userId="b6afee78-a127-49ab-8aa2-390f57a164b5" providerId="ADAL" clId="{A6474D22-3922-432A-8A29-489720CB6866}" dt="2026-10-07T15:22:27.095" v="1297" actId="1076"/>
          <ac:spMkLst>
            <pc:docMk/>
            <pc:sldMk cId="1176361696" sldId="3443"/>
            <ac:spMk id="32" creationId="{00000000-0000-0000-0000-000000000000}"/>
          </ac:spMkLst>
        </pc:spChg>
      </pc:sldChg>
      <pc:sldChg chg="delSp mod">
        <pc:chgData name="Marilee Turscak" userId="b6afee78-a127-49ab-8aa2-390f57a164b5" providerId="ADAL" clId="{A6474D22-3922-432A-8A29-489720CB6866}" dt="2026-10-08T21:31:30.603" v="2606" actId="478"/>
        <pc:sldMkLst>
          <pc:docMk/>
          <pc:sldMk cId="0" sldId="3445"/>
        </pc:sldMkLst>
        <pc:spChg chg="del">
          <ac:chgData name="Marilee Turscak" userId="b6afee78-a127-49ab-8aa2-390f57a164b5" providerId="ADAL" clId="{A6474D22-3922-432A-8A29-489720CB6866}" dt="2026-10-08T21:31:30.603" v="2606" actId="478"/>
          <ac:spMkLst>
            <pc:docMk/>
            <pc:sldMk cId="0" sldId="3445"/>
            <ac:spMk id="4" creationId="{00000000-0000-0000-0000-000000000000}"/>
          </ac:spMkLst>
        </pc:spChg>
      </pc:sldChg>
      <pc:sldChg chg="modSp add mod ord modShow">
        <pc:chgData name="Marilee Turscak" userId="b6afee78-a127-49ab-8aa2-390f57a164b5" providerId="ADAL" clId="{A6474D22-3922-432A-8A29-489720CB6866}" dt="2026-09-22T00:11:41.820" v="465" actId="1076"/>
        <pc:sldMkLst>
          <pc:docMk/>
          <pc:sldMk cId="599615893" sldId="3446"/>
        </pc:sldMkLst>
        <pc:spChg chg="mod">
          <ac:chgData name="Marilee Turscak" userId="b6afee78-a127-49ab-8aa2-390f57a164b5" providerId="ADAL" clId="{A6474D22-3922-432A-8A29-489720CB6866}" dt="2026-09-22T00:11:41.820" v="465" actId="1076"/>
          <ac:spMkLst>
            <pc:docMk/>
            <pc:sldMk cId="599615893" sldId="3446"/>
            <ac:spMk id="4" creationId="{00000000-0000-0000-0000-000000000000}"/>
          </ac:spMkLst>
        </pc:spChg>
        <pc:spChg chg="mod">
          <ac:chgData name="Marilee Turscak" userId="b6afee78-a127-49ab-8aa2-390f57a164b5" providerId="ADAL" clId="{A6474D22-3922-432A-8A29-489720CB6866}" dt="2026-09-22T00:11:31.973" v="463" actId="1076"/>
          <ac:spMkLst>
            <pc:docMk/>
            <pc:sldMk cId="599615893" sldId="3446"/>
            <ac:spMk id="5" creationId="{00000000-0000-0000-0000-000000000000}"/>
          </ac:spMkLst>
        </pc:spChg>
        <pc:spChg chg="mod">
          <ac:chgData name="Marilee Turscak" userId="b6afee78-a127-49ab-8aa2-390f57a164b5" providerId="ADAL" clId="{A6474D22-3922-432A-8A29-489720CB6866}" dt="2026-09-10T21:19:55.347" v="170" actId="207"/>
          <ac:spMkLst>
            <pc:docMk/>
            <pc:sldMk cId="599615893" sldId="3446"/>
            <ac:spMk id="8" creationId="{00000000-0000-0000-0000-000000000000}"/>
          </ac:spMkLst>
        </pc:spChg>
        <pc:spChg chg="mod">
          <ac:chgData name="Marilee Turscak" userId="b6afee78-a127-49ab-8aa2-390f57a164b5" providerId="ADAL" clId="{A6474D22-3922-432A-8A29-489720CB6866}" dt="2026-09-10T21:19:57.386" v="171" actId="207"/>
          <ac:spMkLst>
            <pc:docMk/>
            <pc:sldMk cId="599615893" sldId="3446"/>
            <ac:spMk id="14" creationId="{00000000-0000-0000-0000-000000000000}"/>
          </ac:spMkLst>
        </pc:spChg>
      </pc:sldChg>
      <pc:sldChg chg="addSp delSp modSp add mod modShow">
        <pc:chgData name="Marilee Turscak" userId="b6afee78-a127-49ab-8aa2-390f57a164b5" providerId="ADAL" clId="{A6474D22-3922-432A-8A29-489720CB6866}" dt="2026-10-08T20:08:16.555" v="2105" actId="729"/>
        <pc:sldMkLst>
          <pc:docMk/>
          <pc:sldMk cId="2209760087" sldId="3447"/>
        </pc:sldMkLst>
        <pc:picChg chg="add mod">
          <ac:chgData name="Marilee Turscak" userId="b6afee78-a127-49ab-8aa2-390f57a164b5" providerId="ADAL" clId="{A6474D22-3922-432A-8A29-489720CB6866}" dt="2026-09-15T00:44:32.863" v="428" actId="962"/>
          <ac:picMkLst>
            <pc:docMk/>
            <pc:sldMk cId="2209760087" sldId="3447"/>
            <ac:picMk id="12" creationId="{A20743A0-E8F7-DF60-E441-99AF0C0C761B}"/>
          </ac:picMkLst>
        </pc:picChg>
      </pc:sldChg>
      <pc:sldChg chg="addSp delSp modSp add mod modShow">
        <pc:chgData name="Marilee Turscak" userId="b6afee78-a127-49ab-8aa2-390f57a164b5" providerId="ADAL" clId="{A6474D22-3922-432A-8A29-489720CB6866}" dt="2026-10-08T20:08:16.555" v="2105" actId="729"/>
        <pc:sldMkLst>
          <pc:docMk/>
          <pc:sldMk cId="4185805856" sldId="3448"/>
        </pc:sldMkLst>
        <pc:picChg chg="add mod">
          <ac:chgData name="Marilee Turscak" userId="b6afee78-a127-49ab-8aa2-390f57a164b5" providerId="ADAL" clId="{A6474D22-3922-432A-8A29-489720CB6866}" dt="2026-09-15T00:48:58.488" v="434" actId="962"/>
          <ac:picMkLst>
            <pc:docMk/>
            <pc:sldMk cId="4185805856" sldId="3448"/>
            <ac:picMk id="6" creationId="{71CB45BE-B6BA-5C5C-0C30-4B5118067B71}"/>
          </ac:picMkLst>
        </pc:picChg>
      </pc:sldChg>
      <pc:sldChg chg="addSp delSp modSp add mod modShow">
        <pc:chgData name="Marilee Turscak" userId="b6afee78-a127-49ab-8aa2-390f57a164b5" providerId="ADAL" clId="{A6474D22-3922-432A-8A29-489720CB6866}" dt="2026-10-08T20:08:16.555" v="2105" actId="729"/>
        <pc:sldMkLst>
          <pc:docMk/>
          <pc:sldMk cId="2841577379" sldId="3449"/>
        </pc:sldMkLst>
        <pc:picChg chg="mod">
          <ac:chgData name="Marilee Turscak" userId="b6afee78-a127-49ab-8aa2-390f57a164b5" providerId="ADAL" clId="{A6474D22-3922-432A-8A29-489720CB6866}" dt="2026-09-15T00:51:12.135" v="440" actId="962"/>
          <ac:picMkLst>
            <pc:docMk/>
            <pc:sldMk cId="2841577379" sldId="3449"/>
            <ac:picMk id="2" creationId="{C376301E-4389-076A-6C38-40508159D94F}"/>
          </ac:picMkLst>
        </pc:picChg>
        <pc:picChg chg="add mod">
          <ac:chgData name="Marilee Turscak" userId="b6afee78-a127-49ab-8aa2-390f57a164b5" providerId="ADAL" clId="{A6474D22-3922-432A-8A29-489720CB6866}" dt="2026-09-15T00:51:12.135" v="439" actId="27614"/>
          <ac:picMkLst>
            <pc:docMk/>
            <pc:sldMk cId="2841577379" sldId="3449"/>
            <ac:picMk id="7" creationId="{0738393E-703D-9B0A-C84F-1CEAF7515E90}"/>
          </ac:picMkLst>
        </pc:picChg>
      </pc:sldChg>
      <pc:sldChg chg="addSp delSp modSp add mod modShow">
        <pc:chgData name="Marilee Turscak" userId="b6afee78-a127-49ab-8aa2-390f57a164b5" providerId="ADAL" clId="{A6474D22-3922-432A-8A29-489720CB6866}" dt="2026-10-08T20:08:16.555" v="2105" actId="729"/>
        <pc:sldMkLst>
          <pc:docMk/>
          <pc:sldMk cId="2077312578" sldId="3451"/>
        </pc:sldMkLst>
        <pc:picChg chg="add mod">
          <ac:chgData name="Marilee Turscak" userId="b6afee78-a127-49ab-8aa2-390f57a164b5" providerId="ADAL" clId="{A6474D22-3922-432A-8A29-489720CB6866}" dt="2026-09-15T01:19:07.761" v="453" actId="27614"/>
          <ac:picMkLst>
            <pc:docMk/>
            <pc:sldMk cId="2077312578" sldId="3451"/>
            <ac:picMk id="6" creationId="{C242A2B3-2E7E-4526-217D-357849A614FB}"/>
          </ac:picMkLst>
        </pc:picChg>
      </pc:sldChg>
      <pc:sldChg chg="addSp delSp modSp add mod modShow">
        <pc:chgData name="Marilee Turscak" userId="b6afee78-a127-49ab-8aa2-390f57a164b5" providerId="ADAL" clId="{A6474D22-3922-432A-8A29-489720CB6866}" dt="2026-10-08T20:08:16.555" v="2105" actId="729"/>
        <pc:sldMkLst>
          <pc:docMk/>
          <pc:sldMk cId="2814514749" sldId="3452"/>
        </pc:sldMkLst>
        <pc:picChg chg="add mod">
          <ac:chgData name="Marilee Turscak" userId="b6afee78-a127-49ab-8aa2-390f57a164b5" providerId="ADAL" clId="{A6474D22-3922-432A-8A29-489720CB6866}" dt="2026-09-15T01:03:16.065" v="447" actId="27614"/>
          <ac:picMkLst>
            <pc:docMk/>
            <pc:sldMk cId="2814514749" sldId="3452"/>
            <ac:picMk id="6" creationId="{2065E26A-F7D4-9936-9E03-1D1A0699E394}"/>
          </ac:picMkLst>
        </pc:picChg>
      </pc:sldChg>
      <pc:sldChg chg="add mod ord setBg modShow">
        <pc:chgData name="Marilee Turscak" userId="b6afee78-a127-49ab-8aa2-390f57a164b5" providerId="ADAL" clId="{A6474D22-3922-432A-8A29-489720CB6866}" dt="2026-10-09T00:09:50.002" v="3595" actId="729"/>
        <pc:sldMkLst>
          <pc:docMk/>
          <pc:sldMk cId="0" sldId="3453"/>
        </pc:sldMkLst>
      </pc:sldChg>
      <pc:sldChg chg="addSp delSp modSp new mod">
        <pc:chgData name="Marilee Turscak" userId="b6afee78-a127-49ab-8aa2-390f57a164b5" providerId="ADAL" clId="{A6474D22-3922-432A-8A29-489720CB6866}" dt="2026-10-09T00:57:06.033" v="4041" actId="1076"/>
        <pc:sldMkLst>
          <pc:docMk/>
          <pc:sldMk cId="4294496283" sldId="3454"/>
        </pc:sldMkLst>
        <pc:spChg chg="mod">
          <ac:chgData name="Marilee Turscak" userId="b6afee78-a127-49ab-8aa2-390f57a164b5" providerId="ADAL" clId="{A6474D22-3922-432A-8A29-489720CB6866}" dt="2026-10-08T20:10:03.334" v="2109" actId="1076"/>
          <ac:spMkLst>
            <pc:docMk/>
            <pc:sldMk cId="4294496283" sldId="3454"/>
            <ac:spMk id="2" creationId="{25CECA23-ED82-1801-5A17-0D5C2701C632}"/>
          </ac:spMkLst>
        </pc:spChg>
        <pc:spChg chg="add mod">
          <ac:chgData name="Marilee Turscak" userId="b6afee78-a127-49ab-8aa2-390f57a164b5" providerId="ADAL" clId="{A6474D22-3922-432A-8A29-489720CB6866}" dt="2026-10-09T00:57:06.033" v="4041" actId="1076"/>
          <ac:spMkLst>
            <pc:docMk/>
            <pc:sldMk cId="4294496283" sldId="3454"/>
            <ac:spMk id="4" creationId="{DA26232A-BD01-A9B6-BE0A-B9F1D55A4EF6}"/>
          </ac:spMkLst>
        </pc:spChg>
      </pc:sldChg>
      <pc:sldChg chg="addSp delSp modSp add mod">
        <pc:chgData name="Marilee Turscak" userId="b6afee78-a127-49ab-8aa2-390f57a164b5" providerId="ADAL" clId="{A6474D22-3922-432A-8A29-489720CB6866}" dt="2026-10-08T01:55:34.028" v="1905" actId="1076"/>
        <pc:sldMkLst>
          <pc:docMk/>
          <pc:sldMk cId="1198039877" sldId="3455"/>
        </pc:sldMkLst>
        <pc:spChg chg="mod">
          <ac:chgData name="Marilee Turscak" userId="b6afee78-a127-49ab-8aa2-390f57a164b5" providerId="ADAL" clId="{A6474D22-3922-432A-8A29-489720CB6866}" dt="2026-10-08T01:55:16" v="1900" actId="1076"/>
          <ac:spMkLst>
            <pc:docMk/>
            <pc:sldMk cId="1198039877" sldId="3455"/>
            <ac:spMk id="5" creationId="{2A5B28CC-3E7F-A510-707D-BAEF18AEC1EA}"/>
          </ac:spMkLst>
        </pc:spChg>
        <pc:spChg chg="mod">
          <ac:chgData name="Marilee Turscak" userId="b6afee78-a127-49ab-8aa2-390f57a164b5" providerId="ADAL" clId="{A6474D22-3922-432A-8A29-489720CB6866}" dt="2026-10-08T01:54:51.160" v="1894" actId="1076"/>
          <ac:spMkLst>
            <pc:docMk/>
            <pc:sldMk cId="1198039877" sldId="3455"/>
            <ac:spMk id="15" creationId="{2240FD4F-0DB6-3541-CAC5-9D76CBE12338}"/>
          </ac:spMkLst>
        </pc:spChg>
        <pc:spChg chg="mod">
          <ac:chgData name="Marilee Turscak" userId="b6afee78-a127-49ab-8aa2-390f57a164b5" providerId="ADAL" clId="{A6474D22-3922-432A-8A29-489720CB6866}" dt="2026-10-07T21:27:34.298" v="1416" actId="20577"/>
          <ac:spMkLst>
            <pc:docMk/>
            <pc:sldMk cId="1198039877" sldId="3455"/>
            <ac:spMk id="29" creationId="{E9D94A1E-3632-78AB-EB42-42C6C7DCA138}"/>
          </ac:spMkLst>
        </pc:spChg>
        <pc:spChg chg="add del">
          <ac:chgData name="Marilee Turscak" userId="b6afee78-a127-49ab-8aa2-390f57a164b5" providerId="ADAL" clId="{A6474D22-3922-432A-8A29-489720CB6866}" dt="2026-10-08T01:55:08.882" v="1897" actId="478"/>
          <ac:spMkLst>
            <pc:docMk/>
            <pc:sldMk cId="1198039877" sldId="3455"/>
            <ac:spMk id="34" creationId="{50B90D58-8221-B4CA-786A-DEDEAF071113}"/>
          </ac:spMkLst>
        </pc:spChg>
        <pc:spChg chg="mod">
          <ac:chgData name="Marilee Turscak" userId="b6afee78-a127-49ab-8aa2-390f57a164b5" providerId="ADAL" clId="{A6474D22-3922-432A-8A29-489720CB6866}" dt="2026-10-08T01:54:24.721" v="1888" actId="20577"/>
          <ac:spMkLst>
            <pc:docMk/>
            <pc:sldMk cId="1198039877" sldId="3455"/>
            <ac:spMk id="35" creationId="{2ED8192D-A295-268F-EABC-1BFB49BFD378}"/>
          </ac:spMkLst>
        </pc:spChg>
        <pc:spChg chg="mod">
          <ac:chgData name="Marilee Turscak" userId="b6afee78-a127-49ab-8aa2-390f57a164b5" providerId="ADAL" clId="{A6474D22-3922-432A-8A29-489720CB6866}" dt="2026-10-08T01:55:34.028" v="1905" actId="1076"/>
          <ac:spMkLst>
            <pc:docMk/>
            <pc:sldMk cId="1198039877" sldId="3455"/>
            <ac:spMk id="37" creationId="{8D4FC5F2-E5ED-08B5-B716-E08631A6089E}"/>
          </ac:spMkLst>
        </pc:spChg>
        <pc:spChg chg="mod">
          <ac:chgData name="Marilee Turscak" userId="b6afee78-a127-49ab-8aa2-390f57a164b5" providerId="ADAL" clId="{A6474D22-3922-432A-8A29-489720CB6866}" dt="2026-10-08T01:55:12.465" v="1898"/>
          <ac:spMkLst>
            <pc:docMk/>
            <pc:sldMk cId="1198039877" sldId="3455"/>
            <ac:spMk id="38" creationId="{31AC0B5D-B272-4D74-5370-4773581C5B45}"/>
          </ac:spMkLst>
        </pc:spChg>
        <pc:spChg chg="mod">
          <ac:chgData name="Marilee Turscak" userId="b6afee78-a127-49ab-8aa2-390f57a164b5" providerId="ADAL" clId="{A6474D22-3922-432A-8A29-489720CB6866}" dt="2026-10-08T01:55:12.465" v="1898"/>
          <ac:spMkLst>
            <pc:docMk/>
            <pc:sldMk cId="1198039877" sldId="3455"/>
            <ac:spMk id="40" creationId="{B35F8604-4DB8-998D-6072-76DC2DB73CEF}"/>
          </ac:spMkLst>
        </pc:spChg>
        <pc:spChg chg="mod">
          <ac:chgData name="Marilee Turscak" userId="b6afee78-a127-49ab-8aa2-390f57a164b5" providerId="ADAL" clId="{A6474D22-3922-432A-8A29-489720CB6866}" dt="2026-10-08T01:55:31.419" v="1904" actId="1076"/>
          <ac:spMkLst>
            <pc:docMk/>
            <pc:sldMk cId="1198039877" sldId="3455"/>
            <ac:spMk id="41" creationId="{68A004DB-2C97-570C-7181-B1D02D34600D}"/>
          </ac:spMkLst>
        </pc:spChg>
        <pc:spChg chg="mod">
          <ac:chgData name="Marilee Turscak" userId="b6afee78-a127-49ab-8aa2-390f57a164b5" providerId="ADAL" clId="{A6474D22-3922-432A-8A29-489720CB6866}" dt="2026-10-08T01:55:19.895" v="1901"/>
          <ac:spMkLst>
            <pc:docMk/>
            <pc:sldMk cId="1198039877" sldId="3455"/>
            <ac:spMk id="44" creationId="{F3F1E990-CEBA-C9A4-69B0-D020B3F90A43}"/>
          </ac:spMkLst>
        </pc:spChg>
        <pc:spChg chg="mod">
          <ac:chgData name="Marilee Turscak" userId="b6afee78-a127-49ab-8aa2-390f57a164b5" providerId="ADAL" clId="{A6474D22-3922-432A-8A29-489720CB6866}" dt="2026-10-08T01:55:19.895" v="1901"/>
          <ac:spMkLst>
            <pc:docMk/>
            <pc:sldMk cId="1198039877" sldId="3455"/>
            <ac:spMk id="45" creationId="{FE52714E-38AC-A24C-20C1-3BF25B5CF5D8}"/>
          </ac:spMkLst>
        </pc:spChg>
        <pc:spChg chg="mod">
          <ac:chgData name="Marilee Turscak" userId="b6afee78-a127-49ab-8aa2-390f57a164b5" providerId="ADAL" clId="{A6474D22-3922-432A-8A29-489720CB6866}" dt="2026-10-07T21:28:58.237" v="1426" actId="20577"/>
          <ac:spMkLst>
            <pc:docMk/>
            <pc:sldMk cId="1198039877" sldId="3455"/>
            <ac:spMk id="52" creationId="{9C6CEAAD-2B33-4376-8F05-E8654CE49FC5}"/>
          </ac:spMkLst>
        </pc:spChg>
        <pc:spChg chg="mod">
          <ac:chgData name="Marilee Turscak" userId="b6afee78-a127-49ab-8aa2-390f57a164b5" providerId="ADAL" clId="{A6474D22-3922-432A-8A29-489720CB6866}" dt="2026-10-07T21:31:12.152" v="1449" actId="20577"/>
          <ac:spMkLst>
            <pc:docMk/>
            <pc:sldMk cId="1198039877" sldId="3455"/>
            <ac:spMk id="56" creationId="{F8D692A0-7DB8-1913-63FF-0D7DAA51E5E5}"/>
          </ac:spMkLst>
        </pc:spChg>
        <pc:spChg chg="mod">
          <ac:chgData name="Marilee Turscak" userId="b6afee78-a127-49ab-8aa2-390f57a164b5" providerId="ADAL" clId="{A6474D22-3922-432A-8A29-489720CB6866}" dt="2026-10-07T21:32:18.499" v="1473" actId="1076"/>
          <ac:spMkLst>
            <pc:docMk/>
            <pc:sldMk cId="1198039877" sldId="3455"/>
            <ac:spMk id="58" creationId="{4D4E263D-1AA0-244A-31D1-097A40CF9E22}"/>
          </ac:spMkLst>
        </pc:spChg>
        <pc:spChg chg="mod">
          <ac:chgData name="Marilee Turscak" userId="b6afee78-a127-49ab-8aa2-390f57a164b5" providerId="ADAL" clId="{A6474D22-3922-432A-8A29-489720CB6866}" dt="2026-10-07T21:32:09.916" v="1472" actId="1076"/>
          <ac:spMkLst>
            <pc:docMk/>
            <pc:sldMk cId="1198039877" sldId="3455"/>
            <ac:spMk id="60" creationId="{76A061AB-4E70-4ED4-8F45-E0E8F92AF368}"/>
          </ac:spMkLst>
        </pc:spChg>
        <pc:grpChg chg="add mod">
          <ac:chgData name="Marilee Turscak" userId="b6afee78-a127-49ab-8aa2-390f57a164b5" providerId="ADAL" clId="{A6474D22-3922-432A-8A29-489720CB6866}" dt="2026-10-08T01:55:12.465" v="1898"/>
          <ac:grpSpMkLst>
            <pc:docMk/>
            <pc:sldMk cId="1198039877" sldId="3455"/>
            <ac:grpSpMk id="36" creationId="{27A381CE-C1B1-DA84-B151-FF54B03B6702}"/>
          </ac:grpSpMkLst>
        </pc:grpChg>
        <pc:grpChg chg="add mod">
          <ac:chgData name="Marilee Turscak" userId="b6afee78-a127-49ab-8aa2-390f57a164b5" providerId="ADAL" clId="{A6474D22-3922-432A-8A29-489720CB6866}" dt="2026-10-08T01:55:24.476" v="1902" actId="1076"/>
          <ac:grpSpMkLst>
            <pc:docMk/>
            <pc:sldMk cId="1198039877" sldId="3455"/>
            <ac:grpSpMk id="43" creationId="{534CA715-114D-AC96-B8C0-B7D8BCA484F2}"/>
          </ac:grpSpMkLst>
        </pc:grpChg>
        <pc:cxnChg chg="mod">
          <ac:chgData name="Marilee Turscak" userId="b6afee78-a127-49ab-8aa2-390f57a164b5" providerId="ADAL" clId="{A6474D22-3922-432A-8A29-489720CB6866}" dt="2026-10-08T01:55:27.678" v="1903" actId="1076"/>
          <ac:cxnSpMkLst>
            <pc:docMk/>
            <pc:sldMk cId="1198039877" sldId="3455"/>
            <ac:cxnSpMk id="42" creationId="{035E04AE-EEE1-2464-18FD-F2B487B1B604}"/>
          </ac:cxnSpMkLst>
        </pc:cxnChg>
      </pc:sldChg>
      <pc:sldChg chg="add mod ord modShow">
        <pc:chgData name="Marilee Turscak" userId="b6afee78-a127-49ab-8aa2-390f57a164b5" providerId="ADAL" clId="{A6474D22-3922-432A-8A29-489720CB6866}" dt="2026-10-09T00:17:19.722" v="3640"/>
        <pc:sldMkLst>
          <pc:docMk/>
          <pc:sldMk cId="2719097131" sldId="3456"/>
        </pc:sldMkLst>
      </pc:sldChg>
      <pc:sldChg chg="delSp modSp add mod setBg">
        <pc:chgData name="Marilee Turscak" userId="b6afee78-a127-49ab-8aa2-390f57a164b5" providerId="ADAL" clId="{A6474D22-3922-432A-8A29-489720CB6866}" dt="2026-10-08T01:06:32.094" v="1761" actId="20577"/>
        <pc:sldMkLst>
          <pc:docMk/>
          <pc:sldMk cId="0" sldId="3457"/>
        </pc:sldMkLst>
        <pc:spChg chg="mod">
          <ac:chgData name="Marilee Turscak" userId="b6afee78-a127-49ab-8aa2-390f57a164b5" providerId="ADAL" clId="{A6474D22-3922-432A-8A29-489720CB6866}" dt="2026-10-08T01:06:32.094" v="1761" actId="20577"/>
          <ac:spMkLst>
            <pc:docMk/>
            <pc:sldMk cId="0" sldId="3457"/>
            <ac:spMk id="3" creationId="{00000000-0000-0000-0000-000000000000}"/>
          </ac:spMkLst>
        </pc:spChg>
        <pc:spChg chg="del">
          <ac:chgData name="Marilee Turscak" userId="b6afee78-a127-49ab-8aa2-390f57a164b5" providerId="ADAL" clId="{A6474D22-3922-432A-8A29-489720CB6866}" dt="2026-10-08T01:05:51.788" v="1736" actId="478"/>
          <ac:spMkLst>
            <pc:docMk/>
            <pc:sldMk cId="0" sldId="3457"/>
            <ac:spMk id="12" creationId="{00000000-0000-0000-0000-000000000000}"/>
          </ac:spMkLst>
        </pc:spChg>
        <pc:spChg chg="mod">
          <ac:chgData name="Marilee Turscak" userId="b6afee78-a127-49ab-8aa2-390f57a164b5" providerId="ADAL" clId="{A6474D22-3922-432A-8A29-489720CB6866}" dt="2026-10-08T01:05:58.935" v="1740" actId="1076"/>
          <ac:spMkLst>
            <pc:docMk/>
            <pc:sldMk cId="0" sldId="3457"/>
            <ac:spMk id="13" creationId="{00000000-0000-0000-0000-000000000000}"/>
          </ac:spMkLst>
        </pc:spChg>
        <pc:spChg chg="del">
          <ac:chgData name="Marilee Turscak" userId="b6afee78-a127-49ab-8aa2-390f57a164b5" providerId="ADAL" clId="{A6474D22-3922-432A-8A29-489720CB6866}" dt="2026-10-08T01:06:01.904" v="1741" actId="478"/>
          <ac:spMkLst>
            <pc:docMk/>
            <pc:sldMk cId="0" sldId="3457"/>
            <ac:spMk id="28" creationId="{00000000-0000-0000-0000-000000000000}"/>
          </ac:spMkLst>
        </pc:spChg>
        <pc:spChg chg="mod">
          <ac:chgData name="Marilee Turscak" userId="b6afee78-a127-49ab-8aa2-390f57a164b5" providerId="ADAL" clId="{A6474D22-3922-432A-8A29-489720CB6866}" dt="2026-10-08T01:06:10.191" v="1745" actId="1076"/>
          <ac:spMkLst>
            <pc:docMk/>
            <pc:sldMk cId="0" sldId="3457"/>
            <ac:spMk id="29" creationId="{00000000-0000-0000-0000-000000000000}"/>
          </ac:spMkLst>
        </pc:spChg>
      </pc:sldChg>
      <pc:sldChg chg="addSp delSp modSp add mod modNotesTx">
        <pc:chgData name="Marilee Turscak" userId="b6afee78-a127-49ab-8aa2-390f57a164b5" providerId="ADAL" clId="{A6474D22-3922-432A-8A29-489720CB6866}" dt="2026-10-09T01:23:04.741" v="4525" actId="20577"/>
        <pc:sldMkLst>
          <pc:docMk/>
          <pc:sldMk cId="2434001002" sldId="3458"/>
        </pc:sldMkLst>
        <pc:spChg chg="mod">
          <ac:chgData name="Marilee Turscak" userId="b6afee78-a127-49ab-8aa2-390f57a164b5" providerId="ADAL" clId="{A6474D22-3922-432A-8A29-489720CB6866}" dt="2026-10-09T00:42:29.603" v="3930" actId="20577"/>
          <ac:spMkLst>
            <pc:docMk/>
            <pc:sldMk cId="2434001002" sldId="3458"/>
            <ac:spMk id="2" creationId="{986C298A-85D5-1B65-D2FA-F252CDD853AF}"/>
          </ac:spMkLst>
        </pc:spChg>
        <pc:spChg chg="mod">
          <ac:chgData name="Marilee Turscak" userId="b6afee78-a127-49ab-8aa2-390f57a164b5" providerId="ADAL" clId="{A6474D22-3922-432A-8A29-489720CB6866}" dt="2026-10-08T23:30:48.562" v="3034" actId="20577"/>
          <ac:spMkLst>
            <pc:docMk/>
            <pc:sldMk cId="2434001002" sldId="3458"/>
            <ac:spMk id="5" creationId="{1A53C2E0-2687-C821-A6E0-2656439F0F05}"/>
          </ac:spMkLst>
        </pc:spChg>
        <pc:spChg chg="mod">
          <ac:chgData name="Marilee Turscak" userId="b6afee78-a127-49ab-8aa2-390f57a164b5" providerId="ADAL" clId="{A6474D22-3922-432A-8A29-489720CB6866}" dt="2026-10-08T23:28:04.142" v="2825" actId="14100"/>
          <ac:spMkLst>
            <pc:docMk/>
            <pc:sldMk cId="2434001002" sldId="3458"/>
            <ac:spMk id="6" creationId="{85D6AC8B-8205-F0F6-D76C-EB1AE5CAE505}"/>
          </ac:spMkLst>
        </pc:spChg>
        <pc:spChg chg="del">
          <ac:chgData name="Marilee Turscak" userId="b6afee78-a127-49ab-8aa2-390f57a164b5" providerId="ADAL" clId="{A6474D22-3922-432A-8A29-489720CB6866}" dt="2026-10-08T23:22:25.574" v="2754" actId="478"/>
          <ac:spMkLst>
            <pc:docMk/>
            <pc:sldMk cId="2434001002" sldId="3458"/>
            <ac:spMk id="7" creationId="{0D081FB7-BE01-62A1-2403-54289FBC91E2}"/>
          </ac:spMkLst>
        </pc:spChg>
        <pc:spChg chg="del">
          <ac:chgData name="Marilee Turscak" userId="b6afee78-a127-49ab-8aa2-390f57a164b5" providerId="ADAL" clId="{A6474D22-3922-432A-8A29-489720CB6866}" dt="2026-10-08T23:22:20.656" v="2753" actId="478"/>
          <ac:spMkLst>
            <pc:docMk/>
            <pc:sldMk cId="2434001002" sldId="3458"/>
            <ac:spMk id="8" creationId="{C256FE9E-F207-E4A3-BF53-4A8C012FE8C0}"/>
          </ac:spMkLst>
        </pc:spChg>
        <pc:spChg chg="del mod">
          <ac:chgData name="Marilee Turscak" userId="b6afee78-a127-49ab-8aa2-390f57a164b5" providerId="ADAL" clId="{A6474D22-3922-432A-8A29-489720CB6866}" dt="2026-10-08T23:21:20.174" v="2728" actId="478"/>
          <ac:spMkLst>
            <pc:docMk/>
            <pc:sldMk cId="2434001002" sldId="3458"/>
            <ac:spMk id="9" creationId="{2E377779-F4AE-4BC1-55D5-A5100FE4D7C2}"/>
          </ac:spMkLst>
        </pc:spChg>
        <pc:spChg chg="del">
          <ac:chgData name="Marilee Turscak" userId="b6afee78-a127-49ab-8aa2-390f57a164b5" providerId="ADAL" clId="{A6474D22-3922-432A-8A29-489720CB6866}" dt="2026-10-08T23:22:15.655" v="2752" actId="478"/>
          <ac:spMkLst>
            <pc:docMk/>
            <pc:sldMk cId="2434001002" sldId="3458"/>
            <ac:spMk id="10" creationId="{3649EB45-F1FF-29A9-672C-50753C27FCF3}"/>
          </ac:spMkLst>
        </pc:spChg>
        <pc:spChg chg="del">
          <ac:chgData name="Marilee Turscak" userId="b6afee78-a127-49ab-8aa2-390f57a164b5" providerId="ADAL" clId="{A6474D22-3922-432A-8A29-489720CB6866}" dt="2026-10-08T23:21:22.322" v="2729" actId="478"/>
          <ac:spMkLst>
            <pc:docMk/>
            <pc:sldMk cId="2434001002" sldId="3458"/>
            <ac:spMk id="11" creationId="{65398C03-EDCB-883B-BEE4-0015519CF1D5}"/>
          </ac:spMkLst>
        </pc:spChg>
        <pc:spChg chg="del mod">
          <ac:chgData name="Marilee Turscak" userId="b6afee78-a127-49ab-8aa2-390f57a164b5" providerId="ADAL" clId="{A6474D22-3922-432A-8A29-489720CB6866}" dt="2026-10-08T23:22:13.318" v="2751" actId="478"/>
          <ac:spMkLst>
            <pc:docMk/>
            <pc:sldMk cId="2434001002" sldId="3458"/>
            <ac:spMk id="12" creationId="{B5A44484-0F23-D094-8DA1-5F2D41B24FCA}"/>
          </ac:spMkLst>
        </pc:spChg>
        <pc:spChg chg="del">
          <ac:chgData name="Marilee Turscak" userId="b6afee78-a127-49ab-8aa2-390f57a164b5" providerId="ADAL" clId="{A6474D22-3922-432A-8A29-489720CB6866}" dt="2026-10-08T23:21:24.229" v="2730" actId="478"/>
          <ac:spMkLst>
            <pc:docMk/>
            <pc:sldMk cId="2434001002" sldId="3458"/>
            <ac:spMk id="13" creationId="{7489A5B3-7E7F-8E48-6B81-E632DB92CEFC}"/>
          </ac:spMkLst>
        </pc:spChg>
        <pc:spChg chg="del">
          <ac:chgData name="Marilee Turscak" userId="b6afee78-a127-49ab-8aa2-390f57a164b5" providerId="ADAL" clId="{A6474D22-3922-432A-8A29-489720CB6866}" dt="2026-10-08T23:22:06.139" v="2747" actId="478"/>
          <ac:spMkLst>
            <pc:docMk/>
            <pc:sldMk cId="2434001002" sldId="3458"/>
            <ac:spMk id="14" creationId="{4C48B5EC-AD2B-79CF-E0C2-B2E473F7F62B}"/>
          </ac:spMkLst>
        </pc:spChg>
        <pc:spChg chg="del">
          <ac:chgData name="Marilee Turscak" userId="b6afee78-a127-49ab-8aa2-390f57a164b5" providerId="ADAL" clId="{A6474D22-3922-432A-8A29-489720CB6866}" dt="2026-10-08T23:21:16.472" v="2726" actId="478"/>
          <ac:spMkLst>
            <pc:docMk/>
            <pc:sldMk cId="2434001002" sldId="3458"/>
            <ac:spMk id="15" creationId="{411D3D74-FC21-DE50-955E-8FB62733D65E}"/>
          </ac:spMkLst>
        </pc:spChg>
        <pc:spChg chg="del mod">
          <ac:chgData name="Marilee Turscak" userId="b6afee78-a127-49ab-8aa2-390f57a164b5" providerId="ADAL" clId="{A6474D22-3922-432A-8A29-489720CB6866}" dt="2026-10-08T23:22:09.276" v="2749" actId="478"/>
          <ac:spMkLst>
            <pc:docMk/>
            <pc:sldMk cId="2434001002" sldId="3458"/>
            <ac:spMk id="16" creationId="{C1061F2A-B620-194A-4F66-2124731F2F57}"/>
          </ac:spMkLst>
        </pc:spChg>
        <pc:spChg chg="del">
          <ac:chgData name="Marilee Turscak" userId="b6afee78-a127-49ab-8aa2-390f57a164b5" providerId="ADAL" clId="{A6474D22-3922-432A-8A29-489720CB6866}" dt="2026-10-08T23:21:15.170" v="2725" actId="478"/>
          <ac:spMkLst>
            <pc:docMk/>
            <pc:sldMk cId="2434001002" sldId="3458"/>
            <ac:spMk id="17" creationId="{026E1093-4B42-1A34-6687-2098EBCACC9F}"/>
          </ac:spMkLst>
        </pc:spChg>
        <pc:spChg chg="del mod">
          <ac:chgData name="Marilee Turscak" userId="b6afee78-a127-49ab-8aa2-390f57a164b5" providerId="ADAL" clId="{A6474D22-3922-432A-8A29-489720CB6866}" dt="2026-10-08T23:21:28.059" v="2732" actId="478"/>
          <ac:spMkLst>
            <pc:docMk/>
            <pc:sldMk cId="2434001002" sldId="3458"/>
            <ac:spMk id="18" creationId="{923BBDF0-ADE4-29DD-0D73-83890BAF980D}"/>
          </ac:spMkLst>
        </pc:spChg>
        <pc:spChg chg="del">
          <ac:chgData name="Marilee Turscak" userId="b6afee78-a127-49ab-8aa2-390f57a164b5" providerId="ADAL" clId="{A6474D22-3922-432A-8A29-489720CB6866}" dt="2026-10-08T23:21:30.325" v="2733" actId="478"/>
          <ac:spMkLst>
            <pc:docMk/>
            <pc:sldMk cId="2434001002" sldId="3458"/>
            <ac:spMk id="19" creationId="{87C2E975-58FA-3FEE-8C18-D412E977D7E8}"/>
          </ac:spMkLst>
        </pc:spChg>
        <pc:spChg chg="del">
          <ac:chgData name="Marilee Turscak" userId="b6afee78-a127-49ab-8aa2-390f57a164b5" providerId="ADAL" clId="{A6474D22-3922-432A-8A29-489720CB6866}" dt="2026-10-08T23:21:33.843" v="2734" actId="478"/>
          <ac:spMkLst>
            <pc:docMk/>
            <pc:sldMk cId="2434001002" sldId="3458"/>
            <ac:spMk id="20" creationId="{7EFC481E-3CAF-AFD8-0FB1-36E945B7CE1C}"/>
          </ac:spMkLst>
        </pc:spChg>
        <pc:spChg chg="del">
          <ac:chgData name="Marilee Turscak" userId="b6afee78-a127-49ab-8aa2-390f57a164b5" providerId="ADAL" clId="{A6474D22-3922-432A-8A29-489720CB6866}" dt="2026-10-08T23:21:35.079" v="2735" actId="478"/>
          <ac:spMkLst>
            <pc:docMk/>
            <pc:sldMk cId="2434001002" sldId="3458"/>
            <ac:spMk id="21" creationId="{47F35858-F167-5C66-A56C-EF18BB15C1DB}"/>
          </ac:spMkLst>
        </pc:spChg>
        <pc:spChg chg="del">
          <ac:chgData name="Marilee Turscak" userId="b6afee78-a127-49ab-8aa2-390f57a164b5" providerId="ADAL" clId="{A6474D22-3922-432A-8A29-489720CB6866}" dt="2026-10-08T23:22:01.093" v="2746" actId="478"/>
          <ac:spMkLst>
            <pc:docMk/>
            <pc:sldMk cId="2434001002" sldId="3458"/>
            <ac:spMk id="22" creationId="{9AAEDACB-45C3-D979-B1C2-87A14887F173}"/>
          </ac:spMkLst>
        </pc:spChg>
        <pc:spChg chg="del mod">
          <ac:chgData name="Marilee Turscak" userId="b6afee78-a127-49ab-8aa2-390f57a164b5" providerId="ADAL" clId="{A6474D22-3922-432A-8A29-489720CB6866}" dt="2026-10-08T23:21:39.803" v="2738" actId="478"/>
          <ac:spMkLst>
            <pc:docMk/>
            <pc:sldMk cId="2434001002" sldId="3458"/>
            <ac:spMk id="23" creationId="{CFA20528-A8D2-0099-248A-A9F1E5834A54}"/>
          </ac:spMkLst>
        </pc:spChg>
        <pc:spChg chg="del">
          <ac:chgData name="Marilee Turscak" userId="b6afee78-a127-49ab-8aa2-390f57a164b5" providerId="ADAL" clId="{A6474D22-3922-432A-8A29-489720CB6866}" dt="2026-10-08T23:21:59.201" v="2745" actId="478"/>
          <ac:spMkLst>
            <pc:docMk/>
            <pc:sldMk cId="2434001002" sldId="3458"/>
            <ac:spMk id="24" creationId="{C409FAF5-5942-F3F5-4CAD-FEC958748665}"/>
          </ac:spMkLst>
        </pc:spChg>
        <pc:spChg chg="del">
          <ac:chgData name="Marilee Turscak" userId="b6afee78-a127-49ab-8aa2-390f57a164b5" providerId="ADAL" clId="{A6474D22-3922-432A-8A29-489720CB6866}" dt="2026-10-08T23:21:36.380" v="2736" actId="478"/>
          <ac:spMkLst>
            <pc:docMk/>
            <pc:sldMk cId="2434001002" sldId="3458"/>
            <ac:spMk id="25" creationId="{591B4A21-542E-893F-7EFA-F0620E7BEF40}"/>
          </ac:spMkLst>
        </pc:spChg>
        <pc:spChg chg="del">
          <ac:chgData name="Marilee Turscak" userId="b6afee78-a127-49ab-8aa2-390f57a164b5" providerId="ADAL" clId="{A6474D22-3922-432A-8A29-489720CB6866}" dt="2026-10-08T23:21:57.879" v="2744" actId="478"/>
          <ac:spMkLst>
            <pc:docMk/>
            <pc:sldMk cId="2434001002" sldId="3458"/>
            <ac:spMk id="26" creationId="{9B0377E8-5D5D-CAB2-40CB-94C248222D72}"/>
          </ac:spMkLst>
        </pc:spChg>
        <pc:spChg chg="del">
          <ac:chgData name="Marilee Turscak" userId="b6afee78-a127-49ab-8aa2-390f57a164b5" providerId="ADAL" clId="{A6474D22-3922-432A-8A29-489720CB6866}" dt="2026-10-08T23:21:42.543" v="2739" actId="478"/>
          <ac:spMkLst>
            <pc:docMk/>
            <pc:sldMk cId="2434001002" sldId="3458"/>
            <ac:spMk id="27" creationId="{92D7E405-8AB5-A2F6-3984-AAC62B64C6E7}"/>
          </ac:spMkLst>
        </pc:spChg>
        <pc:spChg chg="del">
          <ac:chgData name="Marilee Turscak" userId="b6afee78-a127-49ab-8aa2-390f57a164b5" providerId="ADAL" clId="{A6474D22-3922-432A-8A29-489720CB6866}" dt="2026-10-08T23:21:54.888" v="2743" actId="478"/>
          <ac:spMkLst>
            <pc:docMk/>
            <pc:sldMk cId="2434001002" sldId="3458"/>
            <ac:spMk id="28" creationId="{FF51CA8C-020E-1BB6-5862-3DD89C6331CB}"/>
          </ac:spMkLst>
        </pc:spChg>
        <pc:spChg chg="del">
          <ac:chgData name="Marilee Turscak" userId="b6afee78-a127-49ab-8aa2-390f57a164b5" providerId="ADAL" clId="{A6474D22-3922-432A-8A29-489720CB6866}" dt="2026-10-08T23:21:45.321" v="2740" actId="478"/>
          <ac:spMkLst>
            <pc:docMk/>
            <pc:sldMk cId="2434001002" sldId="3458"/>
            <ac:spMk id="29" creationId="{3D62B4A1-880A-392E-D2D0-6D5C79819046}"/>
          </ac:spMkLst>
        </pc:spChg>
        <pc:spChg chg="del">
          <ac:chgData name="Marilee Turscak" userId="b6afee78-a127-49ab-8aa2-390f57a164b5" providerId="ADAL" clId="{A6474D22-3922-432A-8A29-489720CB6866}" dt="2026-10-08T23:21:52.702" v="2742" actId="478"/>
          <ac:spMkLst>
            <pc:docMk/>
            <pc:sldMk cId="2434001002" sldId="3458"/>
            <ac:spMk id="30" creationId="{522D6D3D-5695-7608-365A-F685D0E67410}"/>
          </ac:spMkLst>
        </pc:spChg>
        <pc:spChg chg="mod">
          <ac:chgData name="Marilee Turscak" userId="b6afee78-a127-49ab-8aa2-390f57a164b5" providerId="ADAL" clId="{A6474D22-3922-432A-8A29-489720CB6866}" dt="2026-10-08T23:29:30.510" v="3011" actId="1076"/>
          <ac:spMkLst>
            <pc:docMk/>
            <pc:sldMk cId="2434001002" sldId="3458"/>
            <ac:spMk id="31" creationId="{7D9D3B95-0AD9-42DD-E61B-2301628A8ED4}"/>
          </ac:spMkLst>
        </pc:spChg>
        <pc:spChg chg="add mod">
          <ac:chgData name="Marilee Turscak" userId="b6afee78-a127-49ab-8aa2-390f57a164b5" providerId="ADAL" clId="{A6474D22-3922-432A-8A29-489720CB6866}" dt="2026-10-08T23:28:00.725" v="2824" actId="14100"/>
          <ac:spMkLst>
            <pc:docMk/>
            <pc:sldMk cId="2434001002" sldId="3458"/>
            <ac:spMk id="32" creationId="{1BD8BBBE-B378-FAE5-4DC0-1608021F7284}"/>
          </ac:spMkLst>
        </pc:spChg>
        <pc:picChg chg="add mod">
          <ac:chgData name="Marilee Turscak" userId="b6afee78-a127-49ab-8aa2-390f57a164b5" providerId="ADAL" clId="{A6474D22-3922-432A-8A29-489720CB6866}" dt="2026-10-08T23:28:32.678" v="2845" actId="27614"/>
          <ac:picMkLst>
            <pc:docMk/>
            <pc:sldMk cId="2434001002" sldId="3458"/>
            <ac:picMk id="34" creationId="{1B648CA2-9E42-D8EA-3F95-658413EECDF8}"/>
          </ac:picMkLst>
        </pc:picChg>
      </pc:sldChg>
      <pc:sldChg chg="addSp delSp modSp add mod ord modShow">
        <pc:chgData name="Marilee Turscak" userId="b6afee78-a127-49ab-8aa2-390f57a164b5" providerId="ADAL" clId="{A6474D22-3922-432A-8A29-489720CB6866}" dt="2026-10-08T23:34:40.054" v="3122"/>
        <pc:sldMkLst>
          <pc:docMk/>
          <pc:sldMk cId="1509696844" sldId="3459"/>
        </pc:sldMkLst>
        <pc:spChg chg="mod">
          <ac:chgData name="Marilee Turscak" userId="b6afee78-a127-49ab-8aa2-390f57a164b5" providerId="ADAL" clId="{A6474D22-3922-432A-8A29-489720CB6866}" dt="2026-10-08T23:32:12.698" v="3119" actId="20577"/>
          <ac:spMkLst>
            <pc:docMk/>
            <pc:sldMk cId="1509696844" sldId="3459"/>
            <ac:spMk id="2" creationId="{4B33BEFC-8661-1FFC-1F9E-BB311DA67936}"/>
          </ac:spMkLst>
        </pc:spChg>
        <pc:spChg chg="del">
          <ac:chgData name="Marilee Turscak" userId="b6afee78-a127-49ab-8aa2-390f57a164b5" providerId="ADAL" clId="{A6474D22-3922-432A-8A29-489720CB6866}" dt="2026-10-08T23:31:48.983" v="3068" actId="478"/>
          <ac:spMkLst>
            <pc:docMk/>
            <pc:sldMk cId="1509696844" sldId="3459"/>
            <ac:spMk id="5" creationId="{8673AAF1-65F5-E634-50F1-2D9F243F5A89}"/>
          </ac:spMkLst>
        </pc:spChg>
        <pc:spChg chg="del">
          <ac:chgData name="Marilee Turscak" userId="b6afee78-a127-49ab-8aa2-390f57a164b5" providerId="ADAL" clId="{A6474D22-3922-432A-8A29-489720CB6866}" dt="2026-10-08T23:31:35.767" v="3062" actId="478"/>
          <ac:spMkLst>
            <pc:docMk/>
            <pc:sldMk cId="1509696844" sldId="3459"/>
            <ac:spMk id="6" creationId="{E9744280-2CA6-1963-6AD8-611A2F022B62}"/>
          </ac:spMkLst>
        </pc:spChg>
        <pc:spChg chg="add mod">
          <ac:chgData name="Marilee Turscak" userId="b6afee78-a127-49ab-8aa2-390f57a164b5" providerId="ADAL" clId="{A6474D22-3922-432A-8A29-489720CB6866}" dt="2026-10-08T23:32:02.007" v="3071" actId="255"/>
          <ac:spMkLst>
            <pc:docMk/>
            <pc:sldMk cId="1509696844" sldId="3459"/>
            <ac:spMk id="7" creationId="{CA2D4C2F-D2B8-825E-918F-78A1472083A3}"/>
          </ac:spMkLst>
        </pc:spChg>
        <pc:spChg chg="del">
          <ac:chgData name="Marilee Turscak" userId="b6afee78-a127-49ab-8aa2-390f57a164b5" providerId="ADAL" clId="{A6474D22-3922-432A-8A29-489720CB6866}" dt="2026-10-08T23:31:38.725" v="3064" actId="478"/>
          <ac:spMkLst>
            <pc:docMk/>
            <pc:sldMk cId="1509696844" sldId="3459"/>
            <ac:spMk id="31" creationId="{63AF0586-7FA3-A7CB-E586-4E41F14760DD}"/>
          </ac:spMkLst>
        </pc:spChg>
        <pc:spChg chg="del">
          <ac:chgData name="Marilee Turscak" userId="b6afee78-a127-49ab-8aa2-390f57a164b5" providerId="ADAL" clId="{A6474D22-3922-432A-8A29-489720CB6866}" dt="2026-10-08T23:31:34.192" v="3061" actId="478"/>
          <ac:spMkLst>
            <pc:docMk/>
            <pc:sldMk cId="1509696844" sldId="3459"/>
            <ac:spMk id="32" creationId="{2920C25F-B98C-09AA-D01D-BB37B778589C}"/>
          </ac:spMkLst>
        </pc:spChg>
        <pc:picChg chg="del">
          <ac:chgData name="Marilee Turscak" userId="b6afee78-a127-49ab-8aa2-390f57a164b5" providerId="ADAL" clId="{A6474D22-3922-432A-8A29-489720CB6866}" dt="2026-10-08T23:31:36.841" v="3063" actId="478"/>
          <ac:picMkLst>
            <pc:docMk/>
            <pc:sldMk cId="1509696844" sldId="3459"/>
            <ac:picMk id="34" creationId="{A514CD8C-0B0C-D270-3D56-FCD8D469E661}"/>
          </ac:picMkLst>
        </pc:picChg>
      </pc:sldChg>
      <pc:sldChg chg="addSp delSp modSp add mod ord modNotesTx">
        <pc:chgData name="Marilee Turscak" userId="b6afee78-a127-49ab-8aa2-390f57a164b5" providerId="ADAL" clId="{A6474D22-3922-432A-8A29-489720CB6866}" dt="2026-10-09T01:27:51.852" v="4891" actId="20577"/>
        <pc:sldMkLst>
          <pc:docMk/>
          <pc:sldMk cId="3390780309" sldId="3460"/>
        </pc:sldMkLst>
        <pc:spChg chg="mod">
          <ac:chgData name="Marilee Turscak" userId="b6afee78-a127-49ab-8aa2-390f57a164b5" providerId="ADAL" clId="{A6474D22-3922-432A-8A29-489720CB6866}" dt="2026-10-08T23:55:07.962" v="3350" actId="20577"/>
          <ac:spMkLst>
            <pc:docMk/>
            <pc:sldMk cId="3390780309" sldId="3460"/>
            <ac:spMk id="2" creationId="{839E998C-EBAB-AF6A-3E39-B9047AC22EE6}"/>
          </ac:spMkLst>
        </pc:spChg>
        <pc:spChg chg="del">
          <ac:chgData name="Marilee Turscak" userId="b6afee78-a127-49ab-8aa2-390f57a164b5" providerId="ADAL" clId="{A6474D22-3922-432A-8A29-489720CB6866}" dt="2026-10-08T23:53:30.649" v="3300" actId="478"/>
          <ac:spMkLst>
            <pc:docMk/>
            <pc:sldMk cId="3390780309" sldId="3460"/>
            <ac:spMk id="5" creationId="{CD6D1568-47EF-B685-1A6E-8E9BF45E146A}"/>
          </ac:spMkLst>
        </pc:spChg>
        <pc:spChg chg="add mod">
          <ac:chgData name="Marilee Turscak" userId="b6afee78-a127-49ab-8aa2-390f57a164b5" providerId="ADAL" clId="{A6474D22-3922-432A-8A29-489720CB6866}" dt="2026-10-08T23:54:54.173" v="3342" actId="20577"/>
          <ac:spMkLst>
            <pc:docMk/>
            <pc:sldMk cId="3390780309" sldId="3460"/>
            <ac:spMk id="6" creationId="{0C7D92B0-CF9C-8F68-52C7-00F4D0EC0736}"/>
          </ac:spMkLst>
        </pc:spChg>
        <pc:spChg chg="del mod">
          <ac:chgData name="Marilee Turscak" userId="b6afee78-a127-49ab-8aa2-390f57a164b5" providerId="ADAL" clId="{A6474D22-3922-432A-8A29-489720CB6866}" dt="2026-10-08T23:53:39.255" v="3303" actId="478"/>
          <ac:spMkLst>
            <pc:docMk/>
            <pc:sldMk cId="3390780309" sldId="3460"/>
            <ac:spMk id="8" creationId="{64F51D43-B90A-FA9B-6FD1-AF081B8A32CE}"/>
          </ac:spMkLst>
        </pc:spChg>
        <pc:spChg chg="del">
          <ac:chgData name="Marilee Turscak" userId="b6afee78-a127-49ab-8aa2-390f57a164b5" providerId="ADAL" clId="{A6474D22-3922-432A-8A29-489720CB6866}" dt="2026-10-08T23:53:34.360" v="3301" actId="478"/>
          <ac:spMkLst>
            <pc:docMk/>
            <pc:sldMk cId="3390780309" sldId="3460"/>
            <ac:spMk id="9" creationId="{DE151E9E-D2D1-4B9F-0137-6FC36E06F51B}"/>
          </ac:spMkLst>
        </pc:spChg>
        <pc:spChg chg="del">
          <ac:chgData name="Marilee Turscak" userId="b6afee78-a127-49ab-8aa2-390f57a164b5" providerId="ADAL" clId="{A6474D22-3922-432A-8A29-489720CB6866}" dt="2026-10-08T23:53:40.621" v="3304" actId="478"/>
          <ac:spMkLst>
            <pc:docMk/>
            <pc:sldMk cId="3390780309" sldId="3460"/>
            <ac:spMk id="10" creationId="{8100BAA9-E6EA-5248-4460-52FC4F3AA3CB}"/>
          </ac:spMkLst>
        </pc:spChg>
        <pc:spChg chg="del">
          <ac:chgData name="Marilee Turscak" userId="b6afee78-a127-49ab-8aa2-390f57a164b5" providerId="ADAL" clId="{A6474D22-3922-432A-8A29-489720CB6866}" dt="2026-10-08T23:53:18.456" v="3264" actId="478"/>
          <ac:spMkLst>
            <pc:docMk/>
            <pc:sldMk cId="3390780309" sldId="3460"/>
            <ac:spMk id="11" creationId="{DD9F67D0-0EB3-6D55-6D82-6F56A5A7D7D2}"/>
          </ac:spMkLst>
        </pc:spChg>
      </pc:sldChg>
      <pc:sldChg chg="modSp add mod ord modNotesTx">
        <pc:chgData name="Marilee Turscak" userId="b6afee78-a127-49ab-8aa2-390f57a164b5" providerId="ADAL" clId="{A6474D22-3922-432A-8A29-489720CB6866}" dt="2026-10-09T01:31:16.788" v="5072" actId="20577"/>
        <pc:sldMkLst>
          <pc:docMk/>
          <pc:sldMk cId="1085337607" sldId="3461"/>
        </pc:sldMkLst>
        <pc:spChg chg="mod">
          <ac:chgData name="Marilee Turscak" userId="b6afee78-a127-49ab-8aa2-390f57a164b5" providerId="ADAL" clId="{A6474D22-3922-432A-8A29-489720CB6866}" dt="2026-10-09T00:00:50.499" v="3452" actId="20577"/>
          <ac:spMkLst>
            <pc:docMk/>
            <pc:sldMk cId="1085337607" sldId="3461"/>
            <ac:spMk id="2" creationId="{4A9227D6-8FB6-226E-7C7F-BCC69D8B3710}"/>
          </ac:spMkLst>
        </pc:spChg>
        <pc:spChg chg="mod">
          <ac:chgData name="Marilee Turscak" userId="b6afee78-a127-49ab-8aa2-390f57a164b5" providerId="ADAL" clId="{A6474D22-3922-432A-8A29-489720CB6866}" dt="2026-10-09T00:04:01.043" v="3526" actId="20577"/>
          <ac:spMkLst>
            <pc:docMk/>
            <pc:sldMk cId="1085337607" sldId="3461"/>
            <ac:spMk id="6" creationId="{79D2AF5B-D21E-1873-1339-EAC3C873B637}"/>
          </ac:spMkLst>
        </pc:spChg>
      </pc:sldChg>
      <pc:sldChg chg="modSp add mod ord modNotesTx">
        <pc:chgData name="Marilee Turscak" userId="b6afee78-a127-49ab-8aa2-390f57a164b5" providerId="ADAL" clId="{A6474D22-3922-432A-8A29-489720CB6866}" dt="2026-10-09T01:37:18.923" v="5317" actId="20577"/>
        <pc:sldMkLst>
          <pc:docMk/>
          <pc:sldMk cId="1589396186" sldId="3462"/>
        </pc:sldMkLst>
        <pc:spChg chg="mod">
          <ac:chgData name="Marilee Turscak" userId="b6afee78-a127-49ab-8aa2-390f57a164b5" providerId="ADAL" clId="{A6474D22-3922-432A-8A29-489720CB6866}" dt="2026-10-09T00:03:05.857" v="3516" actId="20577"/>
          <ac:spMkLst>
            <pc:docMk/>
            <pc:sldMk cId="1589396186" sldId="3462"/>
            <ac:spMk id="2" creationId="{FAD0D47A-2630-50A8-C12E-4082BD5D75C0}"/>
          </ac:spMkLst>
        </pc:spChg>
        <pc:spChg chg="mod">
          <ac:chgData name="Marilee Turscak" userId="b6afee78-a127-49ab-8aa2-390f57a164b5" providerId="ADAL" clId="{A6474D22-3922-432A-8A29-489720CB6866}" dt="2026-10-09T01:35:52.986" v="5226" actId="20577"/>
          <ac:spMkLst>
            <pc:docMk/>
            <pc:sldMk cId="1589396186" sldId="3462"/>
            <ac:spMk id="6" creationId="{6AC0C82D-126F-74D9-0611-433BF658F1A5}"/>
          </ac:spMkLst>
        </pc:spChg>
      </pc:sldChg>
      <pc:sldChg chg="add del">
        <pc:chgData name="Marilee Turscak" userId="b6afee78-a127-49ab-8aa2-390f57a164b5" providerId="ADAL" clId="{A6474D22-3922-432A-8A29-489720CB6866}" dt="2026-10-09T00:02:33.787" v="3476" actId="2890"/>
        <pc:sldMkLst>
          <pc:docMk/>
          <pc:sldMk cId="2935902300" sldId="3462"/>
        </pc:sldMkLst>
      </pc:sldChg>
      <pc:sldChg chg="addSp delSp modSp add mod modNotesTx">
        <pc:chgData name="Marilee Turscak" userId="b6afee78-a127-49ab-8aa2-390f57a164b5" providerId="ADAL" clId="{A6474D22-3922-432A-8A29-489720CB6866}" dt="2026-10-09T01:46:59.573" v="5501" actId="20577"/>
        <pc:sldMkLst>
          <pc:docMk/>
          <pc:sldMk cId="397012478" sldId="3463"/>
        </pc:sldMkLst>
        <pc:spChg chg="mod">
          <ac:chgData name="Marilee Turscak" userId="b6afee78-a127-49ab-8aa2-390f57a164b5" providerId="ADAL" clId="{A6474D22-3922-432A-8A29-489720CB6866}" dt="2026-10-09T00:56:28.044" v="3998" actId="20577"/>
          <ac:spMkLst>
            <pc:docMk/>
            <pc:sldMk cId="397012478" sldId="3463"/>
            <ac:spMk id="5" creationId="{8B918E74-88A4-9495-319B-3DF026CAC549}"/>
          </ac:spMkLst>
        </pc:spChg>
        <pc:spChg chg="del mod">
          <ac:chgData name="Marilee Turscak" userId="b6afee78-a127-49ab-8aa2-390f57a164b5" providerId="ADAL" clId="{A6474D22-3922-432A-8A29-489720CB6866}" dt="2026-10-09T00:56:38.506" v="4000" actId="478"/>
          <ac:spMkLst>
            <pc:docMk/>
            <pc:sldMk cId="397012478" sldId="3463"/>
            <ac:spMk id="6" creationId="{0965317C-C513-F593-F3D3-854427421662}"/>
          </ac:spMkLst>
        </pc:spChg>
        <pc:spChg chg="mod">
          <ac:chgData name="Marilee Turscak" userId="b6afee78-a127-49ab-8aa2-390f57a164b5" providerId="ADAL" clId="{A6474D22-3922-432A-8A29-489720CB6866}" dt="2026-10-09T00:56:45.116" v="4036" actId="20577"/>
          <ac:spMkLst>
            <pc:docMk/>
            <pc:sldMk cId="397012478" sldId="3463"/>
            <ac:spMk id="8" creationId="{3F76F40E-EDDA-962F-FDCE-CD73B172205C}"/>
          </ac:spMkLst>
        </pc:spChg>
        <pc:spChg chg="del">
          <ac:chgData name="Marilee Turscak" userId="b6afee78-a127-49ab-8aa2-390f57a164b5" providerId="ADAL" clId="{A6474D22-3922-432A-8A29-489720CB6866}" dt="2026-10-09T00:56:47.180" v="4037" actId="478"/>
          <ac:spMkLst>
            <pc:docMk/>
            <pc:sldMk cId="397012478" sldId="3463"/>
            <ac:spMk id="9" creationId="{614D285A-712B-7F19-95B3-E606C666CBE5}"/>
          </ac:spMkLst>
        </pc:spChg>
        <pc:spChg chg="del">
          <ac:chgData name="Marilee Turscak" userId="b6afee78-a127-49ab-8aa2-390f57a164b5" providerId="ADAL" clId="{A6474D22-3922-432A-8A29-489720CB6866}" dt="2026-10-09T00:56:53.749" v="4040" actId="478"/>
          <ac:spMkLst>
            <pc:docMk/>
            <pc:sldMk cId="397012478" sldId="3463"/>
            <ac:spMk id="10" creationId="{96E96FE0-95E7-EA51-9E37-BD5B1637B3D8}"/>
          </ac:spMkLst>
        </pc:spChg>
        <pc:picChg chg="add del">
          <ac:chgData name="Marilee Turscak" userId="b6afee78-a127-49ab-8aa2-390f57a164b5" providerId="ADAL" clId="{A6474D22-3922-432A-8A29-489720CB6866}" dt="2026-10-09T00:56:52.227" v="4039" actId="478"/>
          <ac:picMkLst>
            <pc:docMk/>
            <pc:sldMk cId="397012478" sldId="3463"/>
            <ac:picMk id="2" creationId="{0CA46295-6049-B4D1-F9EA-3FE90F4D277E}"/>
          </ac:picMkLst>
        </pc:picChg>
      </pc:sldChg>
      <pc:sldChg chg="modSp add mod ord modNotesTx">
        <pc:chgData name="Marilee Turscak" userId="b6afee78-a127-49ab-8aa2-390f57a164b5" providerId="ADAL" clId="{A6474D22-3922-432A-8A29-489720CB6866}" dt="2026-10-09T01:17:26.684" v="4157" actId="20577"/>
        <pc:sldMkLst>
          <pc:docMk/>
          <pc:sldMk cId="3587835327" sldId="3464"/>
        </pc:sldMkLst>
        <pc:spChg chg="mod">
          <ac:chgData name="Marilee Turscak" userId="b6afee78-a127-49ab-8aa2-390f57a164b5" providerId="ADAL" clId="{A6474D22-3922-432A-8A29-489720CB6866}" dt="2026-10-09T00:26:00.584" v="3799" actId="20577"/>
          <ac:spMkLst>
            <pc:docMk/>
            <pc:sldMk cId="3587835327" sldId="3464"/>
            <ac:spMk id="2" creationId="{429F6489-3F28-2A4B-7ABD-A41760A11288}"/>
          </ac:spMkLst>
        </pc:spChg>
        <pc:spChg chg="mod">
          <ac:chgData name="Marilee Turscak" userId="b6afee78-a127-49ab-8aa2-390f57a164b5" providerId="ADAL" clId="{A6474D22-3922-432A-8A29-489720CB6866}" dt="2026-10-09T00:27:21.869" v="3900" actId="1076"/>
          <ac:spMkLst>
            <pc:docMk/>
            <pc:sldMk cId="3587835327" sldId="3464"/>
            <ac:spMk id="6" creationId="{966953A4-BFD3-A0C4-FE3B-B2953F3C8596}"/>
          </ac:spMkLst>
        </pc:spChg>
      </pc:sldChg>
      <pc:sldChg chg="add del">
        <pc:chgData name="Marilee Turscak" userId="b6afee78-a127-49ab-8aa2-390f57a164b5" providerId="ADAL" clId="{A6474D22-3922-432A-8A29-489720CB6866}" dt="2026-10-09T00:43:29.323" v="3931" actId="47"/>
        <pc:sldMkLst>
          <pc:docMk/>
          <pc:sldMk cId="2623798199" sldId="3465"/>
        </pc:sldMkLst>
      </pc:sldChg>
      <pc:sldChg chg="addSp delSp modSp add del mod">
        <pc:chgData name="Marilee Turscak" userId="b6afee78-a127-49ab-8aa2-390f57a164b5" providerId="ADAL" clId="{A6474D22-3922-432A-8A29-489720CB6866}" dt="2026-10-09T01:42:49.376" v="5498" actId="47"/>
        <pc:sldMkLst>
          <pc:docMk/>
          <pc:sldMk cId="1408970192" sldId="3466"/>
        </pc:sldMkLst>
        <pc:picChg chg="add del mod">
          <ac:chgData name="Marilee Turscak" userId="b6afee78-a127-49ab-8aa2-390f57a164b5" providerId="ADAL" clId="{A6474D22-3922-432A-8A29-489720CB6866}" dt="2026-10-09T00:40:29.943" v="3919" actId="478"/>
          <ac:picMkLst>
            <pc:docMk/>
            <pc:sldMk cId="1408970192" sldId="3466"/>
            <ac:picMk id="2" creationId="{1ABCA5E4-4FD6-B717-924B-6762944C1C34}"/>
          </ac:picMkLst>
        </pc:picChg>
      </pc:sldChg>
      <pc:sldChg chg="addSp modSp new mod">
        <pc:chgData name="Marilee Turscak" userId="b6afee78-a127-49ab-8aa2-390f57a164b5" providerId="ADAL" clId="{A6474D22-3922-432A-8A29-489720CB6866}" dt="2026-10-09T00:39:19.483" v="3911" actId="962"/>
        <pc:sldMkLst>
          <pc:docMk/>
          <pc:sldMk cId="1468099635" sldId="3467"/>
        </pc:sldMkLst>
        <pc:picChg chg="add mod">
          <ac:chgData name="Marilee Turscak" userId="b6afee78-a127-49ab-8aa2-390f57a164b5" providerId="ADAL" clId="{A6474D22-3922-432A-8A29-489720CB6866}" dt="2026-10-09T00:39:19.483" v="3911" actId="962"/>
          <ac:picMkLst>
            <pc:docMk/>
            <pc:sldMk cId="1468099635" sldId="3467"/>
            <ac:picMk id="2" creationId="{7428A7D7-248D-02E5-09DF-AC1960F27EDD}"/>
          </ac:picMkLst>
        </pc:picChg>
      </pc:sldChg>
      <pc:sldChg chg="addSp modSp new mod ord">
        <pc:chgData name="Marilee Turscak" userId="b6afee78-a127-49ab-8aa2-390f57a164b5" providerId="ADAL" clId="{A6474D22-3922-432A-8A29-489720CB6866}" dt="2026-10-09T00:40:59.184" v="3929"/>
        <pc:sldMkLst>
          <pc:docMk/>
          <pc:sldMk cId="2903546480" sldId="3468"/>
        </pc:sldMkLst>
        <pc:picChg chg="add mod">
          <ac:chgData name="Marilee Turscak" userId="b6afee78-a127-49ab-8aa2-390f57a164b5" providerId="ADAL" clId="{A6474D22-3922-432A-8A29-489720CB6866}" dt="2026-10-09T00:40:40.596" v="3925" actId="962"/>
          <ac:picMkLst>
            <pc:docMk/>
            <pc:sldMk cId="2903546480" sldId="3468"/>
            <ac:picMk id="2" creationId="{8A144671-EA6C-9F7C-2F4E-DF4D92399AA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2B37DC-FAAD-40F2-96AC-CBFCAB1D77CA}"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EA6E9F-99E5-4B65-B603-445AB579BCBF}" type="slidenum">
              <a:rPr lang="en-US" smtClean="0"/>
              <a:t>‹#›</a:t>
            </a:fld>
            <a:endParaRPr lang="en-US"/>
          </a:p>
        </p:txBody>
      </p:sp>
    </p:spTree>
    <p:extLst>
      <p:ext uri="{BB962C8B-B14F-4D97-AF65-F5344CB8AC3E}">
        <p14:creationId xmlns:p14="http://schemas.microsoft.com/office/powerpoint/2010/main" val="46847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employee, PM, developer, and skill author has a role in securing AI because we are closest to the work. We decide what the agent should do, what information it should need, and how much authority the task should require. We should follow secure design practices—but we should not build a security strategy that depends on every person making a perfect decision in every interaction. That is why individual responsibility and enterprise security go </a:t>
            </a:r>
            <a:r>
              <a:rPr lang="en-US" dirty="0" err="1"/>
              <a:t>han</a:t>
            </a:r>
            <a:r>
              <a:rPr lang="en-US" dirty="0"/>
              <a:t>  in hand. People design the safer path; enterprise controls enforce the boundary. Neither layer is sufficient alone.</a:t>
            </a:r>
          </a:p>
          <a:p>
            <a:endParaRPr lang="en-US" dirty="0"/>
          </a:p>
          <a:p>
            <a:r>
              <a:rPr lang="en-US" dirty="0"/>
              <a:t>We are going to talk about how to build precise skills and walk through building a security review skill. Then we are going to also zoom out and talk about our enterprise vision for securing AI all-up. We don’t want this to be a product pitch but we believe it’s a joint effort between organizations and their people to use AI responsibly. </a:t>
            </a:r>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F57B9D4A-384D-8D4A-9447-B0E05A0894BD}"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84312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Prompt injection assets (built assets and pushed them to my </a:t>
            </a:r>
            <a:r>
              <a:rPr lang="en-US" dirty="0" err="1"/>
              <a:t>Github</a:t>
            </a:r>
            <a:r>
              <a:rPr lang="en-US" dirty="0"/>
              <a:t> but forgot to add the main part)</a:t>
            </a:r>
          </a:p>
          <a:p>
            <a:r>
              <a:rPr lang="en-US" dirty="0"/>
              <a:t>Bear photo</a:t>
            </a:r>
          </a:p>
        </p:txBody>
      </p:sp>
      <p:sp>
        <p:nvSpPr>
          <p:cNvPr id="4" name="Slide Number Placeholder 3"/>
          <p:cNvSpPr>
            <a:spLocks noGrp="1"/>
          </p:cNvSpPr>
          <p:nvPr>
            <p:ph type="sldNum" sz="quarter" idx="5"/>
          </p:nvPr>
        </p:nvSpPr>
        <p:spPr/>
        <p:txBody>
          <a:bodyPr/>
          <a:lstStyle/>
          <a:p>
            <a:fld id="{8FEA6E9F-99E5-4B65-B603-445AB579BCBF}" type="slidenum">
              <a:rPr lang="en-US" smtClean="0"/>
              <a:t>4</a:t>
            </a:fld>
            <a:endParaRPr lang="en-US"/>
          </a:p>
        </p:txBody>
      </p:sp>
    </p:spTree>
    <p:extLst>
      <p:ext uri="{BB962C8B-B14F-4D97-AF65-F5344CB8AC3E}">
        <p14:creationId xmlns:p14="http://schemas.microsoft.com/office/powerpoint/2010/main" val="837037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6</a:t>
            </a:fld>
            <a:endParaRPr lang="en-US"/>
          </a:p>
        </p:txBody>
      </p:sp>
    </p:spTree>
    <p:extLst>
      <p:ext uri="{BB962C8B-B14F-4D97-AF65-F5344CB8AC3E}">
        <p14:creationId xmlns:p14="http://schemas.microsoft.com/office/powerpoint/2010/main" val="172253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Skills are powerful precisely because they give agents reusable instructions. But that also means we need to be thoughtful about which instructions we trust.</a:t>
            </a:r>
          </a:p>
          <a:p>
            <a:pPr fontAlgn="t"/>
            <a:r>
              <a:rPr lang="en-US" sz="1200" b="0" i="0" kern="1200" dirty="0">
                <a:solidFill>
                  <a:schemeClr val="tx1"/>
                </a:solidFill>
                <a:effectLst/>
                <a:latin typeface="+mn-lt"/>
                <a:ea typeface="+mn-ea"/>
                <a:cs typeface="+mn-cs"/>
              </a:rPr>
              <a:t>If I download a skill from a random repository or website, I'm effectively giving someone else's instructions to my agent and asking it to follow them. Those instructions could be malicious, or they could simply do something I wasn't expecting. That's why skills from external sources need to be reviewed before they're trusted.</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The same goes for skills generated by an agent. Just because the model created the skill doesn't mean we should immediately run it. We should understand what's in it first, and for sensitive or repeatable workflows, ideally we're authoring and controlling those skills ourselves.</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There's also a second category of risk that has nothing to do with malicious content: </a:t>
            </a:r>
            <a:r>
              <a:rPr lang="en-US" sz="1200" b="1" i="0" kern="1200" dirty="0">
                <a:solidFill>
                  <a:schemeClr val="tx1"/>
                </a:solidFill>
                <a:effectLst/>
                <a:latin typeface="+mn-lt"/>
                <a:ea typeface="+mn-ea"/>
                <a:cs typeface="+mn-cs"/>
              </a:rPr>
              <a:t>the model can simply get it wrong</a:t>
            </a:r>
            <a:r>
              <a:rPr lang="en-US" sz="1200" b="0" i="0" kern="1200" dirty="0">
                <a:solidFill>
                  <a:schemeClr val="tx1"/>
                </a:solidFill>
                <a:effectLst/>
                <a:latin typeface="+mn-lt"/>
                <a:ea typeface="+mn-ea"/>
                <a:cs typeface="+mn-cs"/>
              </a:rPr>
              <a:t>. A skill provides instructions, but the agent still has to interpret them. In a multi-step workflow, one incorrect interpretation can affect every step that follows. </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The instructions say: take five signals, apply a different weight to each one, normalize the result, and then classify the customer into a risk tier.</a:t>
            </a:r>
          </a:p>
          <a:p>
            <a:pPr fontAlgn="t"/>
            <a:r>
              <a:rPr lang="en-US" sz="1200" b="0" i="0" kern="1200" dirty="0">
                <a:solidFill>
                  <a:schemeClr val="tx1"/>
                </a:solidFill>
                <a:effectLst/>
                <a:latin typeface="+mn-lt"/>
                <a:ea typeface="+mn-ea"/>
                <a:cs typeface="+mn-cs"/>
              </a:rPr>
              <a:t>None of the instructions are malicious. But the agent misinterprets one of the weighting rules, or rounds a value too early. </a:t>
            </a:r>
          </a:p>
          <a:p>
            <a:pPr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That's especially important when we're dealing with calculations or other workflows where we expect deterministic behavior. Think about a skill that asks an agent to calculate a risk score across several steps. If the model gets one calculation wrong early in the workflow, every decision downstream can still execute perfectly, but against the wrong number. That's why deterministic operations like calculations should ideally be handled by code or tools, with the model orchestrating the workflow rather than doing the arithmetic </a:t>
            </a:r>
            <a:r>
              <a:rPr lang="en-US" sz="1200" b="0" i="0" kern="1200" dirty="0" err="1">
                <a:solidFill>
                  <a:schemeClr val="tx1"/>
                </a:solidFill>
                <a:effectLst/>
                <a:latin typeface="+mn-lt"/>
                <a:ea typeface="+mn-ea"/>
                <a:cs typeface="+mn-cs"/>
              </a:rPr>
              <a:t>itsel</a:t>
            </a: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Then there's execution. A skill may call commands, scripts, packages, or other dependencies. Each of those introduces another thing we're trusting.</a:t>
            </a:r>
          </a:p>
          <a:p>
            <a:pPr fontAlgn="t"/>
            <a:r>
              <a:rPr lang="en-US" sz="1200" b="0" i="0" kern="1200" dirty="0">
                <a:solidFill>
                  <a:schemeClr val="tx1"/>
                </a:solidFill>
                <a:effectLst/>
                <a:latin typeface="+mn-lt"/>
                <a:ea typeface="+mn-ea"/>
                <a:cs typeface="+mn-cs"/>
              </a:rPr>
              <a:t>And all of this is happening within whatever access we've given the agent. If it can reach local files, credentials, browsers, or network resources, a bad instruction has a much larger blast radius.</a:t>
            </a:r>
          </a:p>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7</a:t>
            </a:fld>
            <a:endParaRPr lang="en-US"/>
          </a:p>
        </p:txBody>
      </p:sp>
    </p:spTree>
    <p:extLst>
      <p:ext uri="{BB962C8B-B14F-4D97-AF65-F5344CB8AC3E}">
        <p14:creationId xmlns:p14="http://schemas.microsoft.com/office/powerpoint/2010/main" val="4252879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8</a:t>
            </a:fld>
            <a:endParaRPr lang="en-US"/>
          </a:p>
        </p:txBody>
      </p:sp>
    </p:spTree>
    <p:extLst>
      <p:ext uri="{BB962C8B-B14F-4D97-AF65-F5344CB8AC3E}">
        <p14:creationId xmlns:p14="http://schemas.microsoft.com/office/powerpoint/2010/main" val="4145770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9</a:t>
            </a:fld>
            <a:endParaRPr lang="en-US"/>
          </a:p>
        </p:txBody>
      </p:sp>
    </p:spTree>
    <p:extLst>
      <p:ext uri="{BB962C8B-B14F-4D97-AF65-F5344CB8AC3E}">
        <p14:creationId xmlns:p14="http://schemas.microsoft.com/office/powerpoint/2010/main" val="452231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7B3F-29AB-413E-D72A-A191D50177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E79FC-AE0C-5274-A696-85CFE0D9F1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A3CA5E-E2B4-AF72-C750-7979338D6102}"/>
              </a:ext>
            </a:extLst>
          </p:cNvPr>
          <p:cNvSpPr>
            <a:spLocks noGrp="1"/>
          </p:cNvSpPr>
          <p:nvPr>
            <p:ph type="body" idx="1"/>
          </p:nvPr>
        </p:nvSpPr>
        <p:spPr/>
        <p:txBody>
          <a:bodyPr/>
          <a:lstStyle/>
          <a:p>
            <a:r>
              <a:rPr lang="en-US" dirty="0"/>
              <a:t>Vs. general review where we would need to correct multiple times</a:t>
            </a:r>
          </a:p>
        </p:txBody>
      </p:sp>
      <p:sp>
        <p:nvSpPr>
          <p:cNvPr id="4" name="Slide Number Placeholder 3">
            <a:extLst>
              <a:ext uri="{FF2B5EF4-FFF2-40B4-BE49-F238E27FC236}">
                <a16:creationId xmlns:a16="http://schemas.microsoft.com/office/drawing/2014/main" id="{0BA2A1ED-5E89-17D3-E768-7EA8F294EF20}"/>
              </a:ext>
            </a:extLst>
          </p:cNvPr>
          <p:cNvSpPr>
            <a:spLocks noGrp="1"/>
          </p:cNvSpPr>
          <p:nvPr>
            <p:ph type="sldNum" sz="quarter" idx="5"/>
          </p:nvPr>
        </p:nvSpPr>
        <p:spPr/>
        <p:txBody>
          <a:bodyPr/>
          <a:lstStyle/>
          <a:p>
            <a:fld id="{8FEA6E9F-99E5-4B65-B603-445AB579BCBF}" type="slidenum">
              <a:rPr lang="en-US" smtClean="0"/>
              <a:t>10</a:t>
            </a:fld>
            <a:endParaRPr lang="en-US"/>
          </a:p>
        </p:txBody>
      </p:sp>
    </p:spTree>
    <p:extLst>
      <p:ext uri="{BB962C8B-B14F-4D97-AF65-F5344CB8AC3E}">
        <p14:creationId xmlns:p14="http://schemas.microsoft.com/office/powerpoint/2010/main" val="37999256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Could be triggered by a message, schedule, webhook, or prompt. This is the first thing the LLM reads to determine routing logic. </a:t>
            </a:r>
          </a:p>
          <a:p>
            <a:pPr fontAlgn="t"/>
            <a:endParaRPr lang="en-US" sz="1200" b="1" i="0" kern="1200" dirty="0">
              <a:solidFill>
                <a:schemeClr val="tx1"/>
              </a:solidFill>
              <a:effectLst/>
              <a:latin typeface="+mn-lt"/>
              <a:ea typeface="+mn-ea"/>
              <a:cs typeface="+mn-cs"/>
            </a:endParaRPr>
          </a:p>
          <a:p>
            <a:pPr fontAlgn="t"/>
            <a:r>
              <a:rPr lang="en-US" sz="1200" b="1" i="0" kern="1200" dirty="0">
                <a:solidFill>
                  <a:schemeClr val="tx1"/>
                </a:solidFill>
                <a:effectLst/>
                <a:latin typeface="+mn-lt"/>
                <a:ea typeface="+mn-ea"/>
                <a:cs typeface="+mn-cs"/>
              </a:rPr>
              <a:t>The description is the discovery mechanism for the skill.</a:t>
            </a:r>
            <a:br>
              <a:rPr lang="en-US" sz="1200" b="1"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 user shouldn't have to know that a security-review skill exists. They should just be able to say, "Review this code for security issues," and Copilot should recognize that a specialized workflow applies.</a:t>
            </a:r>
          </a:p>
          <a:p>
            <a:pPr fontAlgn="t"/>
            <a:r>
              <a:rPr lang="en-US" sz="1200" b="0" i="0" kern="1200" dirty="0">
                <a:solidFill>
                  <a:schemeClr val="tx1"/>
                </a:solidFill>
                <a:effectLst/>
                <a:latin typeface="+mn-lt"/>
                <a:ea typeface="+mn-ea"/>
                <a:cs typeface="+mn-cs"/>
              </a:rPr>
              <a:t>This becomes especially valuable in shared repositories, where people can benefit from expertise and workflows contributed by others without knowing every skill that's available.</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That's why a good description defines both </a:t>
            </a:r>
            <a:r>
              <a:rPr lang="en-US" sz="1200" b="1" i="0" kern="1200" dirty="0">
                <a:solidFill>
                  <a:schemeClr val="tx1"/>
                </a:solidFill>
                <a:effectLst/>
                <a:latin typeface="+mn-lt"/>
                <a:ea typeface="+mn-ea"/>
                <a:cs typeface="+mn-cs"/>
              </a:rPr>
              <a:t>when to trigger</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when not to trigger</a:t>
            </a:r>
            <a:r>
              <a:rPr lang="en-US" sz="1200" b="0" i="0" kern="1200" dirty="0">
                <a:solidFill>
                  <a:schemeClr val="tx1"/>
                </a:solidFill>
                <a:effectLst/>
                <a:latin typeface="+mn-lt"/>
                <a:ea typeface="+mn-ea"/>
                <a:cs typeface="+mn-cs"/>
              </a:rPr>
              <a:t>. The body makes the skill good at the job. The description makes sure the right job finds the skill.</a:t>
            </a:r>
          </a:p>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11</a:t>
            </a:fld>
            <a:endParaRPr lang="en-US"/>
          </a:p>
        </p:txBody>
      </p:sp>
    </p:spTree>
    <p:extLst>
      <p:ext uri="{BB962C8B-B14F-4D97-AF65-F5344CB8AC3E}">
        <p14:creationId xmlns:p14="http://schemas.microsoft.com/office/powerpoint/2010/main" val="3013245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12</a:t>
            </a:fld>
            <a:endParaRPr lang="en-US"/>
          </a:p>
        </p:txBody>
      </p:sp>
    </p:spTree>
    <p:extLst>
      <p:ext uri="{BB962C8B-B14F-4D97-AF65-F5344CB8AC3E}">
        <p14:creationId xmlns:p14="http://schemas.microsoft.com/office/powerpoint/2010/main" val="142675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14204-815A-A09D-C179-2F3D110EA9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861E7D-9CDB-8603-1DA4-E46CC07B9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74E3E-8059-F7AC-9915-A35073F6F262}"/>
              </a:ext>
            </a:extLst>
          </p:cNvPr>
          <p:cNvSpPr>
            <a:spLocks noGrp="1"/>
          </p:cNvSpPr>
          <p:nvPr>
            <p:ph type="body" idx="1"/>
          </p:nvPr>
        </p:nvSpPr>
        <p:spPr/>
        <p:txBody>
          <a:bodyPr/>
          <a:lstStyle/>
          <a:p>
            <a:r>
              <a:rPr lang="en-US" dirty="0"/>
              <a:t>It keeps the </a:t>
            </a:r>
            <a:r>
              <a:rPr lang="en-US" dirty="0" err="1"/>
              <a:t>the</a:t>
            </a:r>
            <a:r>
              <a:rPr lang="en-US" dirty="0"/>
              <a:t> context from getting overloaded while also giving it the required details to get the job done correctly.</a:t>
            </a:r>
          </a:p>
        </p:txBody>
      </p:sp>
      <p:sp>
        <p:nvSpPr>
          <p:cNvPr id="4" name="Slide Number Placeholder 3">
            <a:extLst>
              <a:ext uri="{FF2B5EF4-FFF2-40B4-BE49-F238E27FC236}">
                <a16:creationId xmlns:a16="http://schemas.microsoft.com/office/drawing/2014/main" id="{B2E02B15-A763-D6E9-0896-37029FA66136}"/>
              </a:ext>
            </a:extLst>
          </p:cNvPr>
          <p:cNvSpPr>
            <a:spLocks noGrp="1"/>
          </p:cNvSpPr>
          <p:nvPr>
            <p:ph type="sldNum" sz="quarter" idx="5"/>
          </p:nvPr>
        </p:nvSpPr>
        <p:spPr/>
        <p:txBody>
          <a:bodyPr/>
          <a:lstStyle/>
          <a:p>
            <a:fld id="{8FEA6E9F-99E5-4B65-B603-445AB579BCBF}" type="slidenum">
              <a:rPr lang="en-US" smtClean="0"/>
              <a:t>13</a:t>
            </a:fld>
            <a:endParaRPr lang="en-US"/>
          </a:p>
        </p:txBody>
      </p:sp>
    </p:spTree>
    <p:extLst>
      <p:ext uri="{BB962C8B-B14F-4D97-AF65-F5344CB8AC3E}">
        <p14:creationId xmlns:p14="http://schemas.microsoft.com/office/powerpoint/2010/main" val="1854242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14</a:t>
            </a:fld>
            <a:endParaRPr lang="en-US"/>
          </a:p>
        </p:txBody>
      </p:sp>
    </p:spTree>
    <p:extLst>
      <p:ext uri="{BB962C8B-B14F-4D97-AF65-F5344CB8AC3E}">
        <p14:creationId xmlns:p14="http://schemas.microsoft.com/office/powerpoint/2010/main" val="28029771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B25BF-D5D6-8EE0-44FD-18D1BCC41E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43381-ADE6-09B9-F6D9-4D7C4041E8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98956-2DB7-239F-1A75-BB93F57E5406}"/>
              </a:ext>
            </a:extLst>
          </p:cNvPr>
          <p:cNvSpPr>
            <a:spLocks noGrp="1"/>
          </p:cNvSpPr>
          <p:nvPr>
            <p:ph type="body" idx="1"/>
          </p:nvPr>
        </p:nvSpPr>
        <p:spPr/>
        <p:txBody>
          <a:bodyPr/>
          <a:lstStyle/>
          <a:p>
            <a:r>
              <a:rPr lang="en-US" dirty="0"/>
              <a:t>When we require precision for sensitive steps or do not want to waste tokens (prompting, timing) doing a repeated task, embed the scripts directly with pre-loaded queries and calculations. Even if the LLM could write this accurately on its own, we want to reduce context. </a:t>
            </a:r>
          </a:p>
        </p:txBody>
      </p:sp>
      <p:sp>
        <p:nvSpPr>
          <p:cNvPr id="4" name="Slide Number Placeholder 3">
            <a:extLst>
              <a:ext uri="{FF2B5EF4-FFF2-40B4-BE49-F238E27FC236}">
                <a16:creationId xmlns:a16="http://schemas.microsoft.com/office/drawing/2014/main" id="{E24ED576-D147-876A-32CB-725BAC63452A}"/>
              </a:ext>
            </a:extLst>
          </p:cNvPr>
          <p:cNvSpPr>
            <a:spLocks noGrp="1"/>
          </p:cNvSpPr>
          <p:nvPr>
            <p:ph type="sldNum" sz="quarter" idx="5"/>
          </p:nvPr>
        </p:nvSpPr>
        <p:spPr/>
        <p:txBody>
          <a:bodyPr/>
          <a:lstStyle/>
          <a:p>
            <a:fld id="{8FEA6E9F-99E5-4B65-B603-445AB579BCBF}" type="slidenum">
              <a:rPr lang="en-US" smtClean="0"/>
              <a:t>15</a:t>
            </a:fld>
            <a:endParaRPr lang="en-US"/>
          </a:p>
        </p:txBody>
      </p:sp>
    </p:spTree>
    <p:extLst>
      <p:ext uri="{BB962C8B-B14F-4D97-AF65-F5344CB8AC3E}">
        <p14:creationId xmlns:p14="http://schemas.microsoft.com/office/powerpoint/2010/main" val="3939482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16</a:t>
            </a:fld>
            <a:endParaRPr lang="en-US"/>
          </a:p>
        </p:txBody>
      </p:sp>
    </p:spTree>
    <p:extLst>
      <p:ext uri="{BB962C8B-B14F-4D97-AF65-F5344CB8AC3E}">
        <p14:creationId xmlns:p14="http://schemas.microsoft.com/office/powerpoint/2010/main" val="39104301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B0816-0FF2-CB33-DDFD-685E39C648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4E96F-1A2F-B670-0679-934F812CB0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11C52-D8D0-2C1A-512E-2D11A85E88B5}"/>
              </a:ext>
            </a:extLst>
          </p:cNvPr>
          <p:cNvSpPr>
            <a:spLocks noGrp="1"/>
          </p:cNvSpPr>
          <p:nvPr>
            <p:ph type="body" idx="1"/>
          </p:nvPr>
        </p:nvSpPr>
        <p:spPr/>
        <p:txBody>
          <a:bodyPr/>
          <a:lstStyle/>
          <a:p>
            <a:r>
              <a:rPr lang="en-US" dirty="0"/>
              <a:t>LLM often has guardrails, but we may not always be using the same LLM. This improves the quality of the skill, provides expected output, while also improving security.</a:t>
            </a:r>
          </a:p>
        </p:txBody>
      </p:sp>
      <p:sp>
        <p:nvSpPr>
          <p:cNvPr id="4" name="Slide Number Placeholder 3">
            <a:extLst>
              <a:ext uri="{FF2B5EF4-FFF2-40B4-BE49-F238E27FC236}">
                <a16:creationId xmlns:a16="http://schemas.microsoft.com/office/drawing/2014/main" id="{8CC17EB9-2B8B-8EDF-0BCB-27A7D5AA85E5}"/>
              </a:ext>
            </a:extLst>
          </p:cNvPr>
          <p:cNvSpPr>
            <a:spLocks noGrp="1"/>
          </p:cNvSpPr>
          <p:nvPr>
            <p:ph type="sldNum" sz="quarter" idx="5"/>
          </p:nvPr>
        </p:nvSpPr>
        <p:spPr/>
        <p:txBody>
          <a:bodyPr/>
          <a:lstStyle/>
          <a:p>
            <a:fld id="{8FEA6E9F-99E5-4B65-B603-445AB579BCBF}" type="slidenum">
              <a:rPr lang="en-US" smtClean="0"/>
              <a:t>17</a:t>
            </a:fld>
            <a:endParaRPr lang="en-US"/>
          </a:p>
        </p:txBody>
      </p:sp>
    </p:spTree>
    <p:extLst>
      <p:ext uri="{BB962C8B-B14F-4D97-AF65-F5344CB8AC3E}">
        <p14:creationId xmlns:p14="http://schemas.microsoft.com/office/powerpoint/2010/main" val="14149504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18</a:t>
            </a:fld>
            <a:endParaRPr lang="en-US"/>
          </a:p>
        </p:txBody>
      </p:sp>
    </p:spTree>
    <p:extLst>
      <p:ext uri="{BB962C8B-B14F-4D97-AF65-F5344CB8AC3E}">
        <p14:creationId xmlns:p14="http://schemas.microsoft.com/office/powerpoint/2010/main" val="1380976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3433B-2ED6-DE75-4960-4D368F142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90ADD-A0BF-3314-7EF1-A471E983A3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C7EF4E-74A5-3F49-C4AE-D88E6C5C6D04}"/>
              </a:ext>
            </a:extLst>
          </p:cNvPr>
          <p:cNvSpPr>
            <a:spLocks noGrp="1"/>
          </p:cNvSpPr>
          <p:nvPr>
            <p:ph type="body" idx="1"/>
          </p:nvPr>
        </p:nvSpPr>
        <p:spPr/>
        <p:txBody>
          <a:bodyPr/>
          <a:lstStyle/>
          <a:p>
            <a:r>
              <a:rPr lang="en-US" dirty="0"/>
              <a:t>We want to tell the agent when to improvise and when to stop and ask for guidance. </a:t>
            </a:r>
          </a:p>
        </p:txBody>
      </p:sp>
      <p:sp>
        <p:nvSpPr>
          <p:cNvPr id="4" name="Slide Number Placeholder 3">
            <a:extLst>
              <a:ext uri="{FF2B5EF4-FFF2-40B4-BE49-F238E27FC236}">
                <a16:creationId xmlns:a16="http://schemas.microsoft.com/office/drawing/2014/main" id="{6A89351A-7EBA-52C0-7E22-BF8F091F12FD}"/>
              </a:ext>
            </a:extLst>
          </p:cNvPr>
          <p:cNvSpPr>
            <a:spLocks noGrp="1"/>
          </p:cNvSpPr>
          <p:nvPr>
            <p:ph type="sldNum" sz="quarter" idx="5"/>
          </p:nvPr>
        </p:nvSpPr>
        <p:spPr/>
        <p:txBody>
          <a:bodyPr/>
          <a:lstStyle/>
          <a:p>
            <a:fld id="{8FEA6E9F-99E5-4B65-B603-445AB579BCBF}" type="slidenum">
              <a:rPr lang="en-US" smtClean="0"/>
              <a:t>19</a:t>
            </a:fld>
            <a:endParaRPr lang="en-US"/>
          </a:p>
        </p:txBody>
      </p:sp>
    </p:spTree>
    <p:extLst>
      <p:ext uri="{BB962C8B-B14F-4D97-AF65-F5344CB8AC3E}">
        <p14:creationId xmlns:p14="http://schemas.microsoft.com/office/powerpoint/2010/main" val="27971548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saying there’s no use for open-prompting, but the goal is get in the habit of creating skills for repeatable tasks. </a:t>
            </a:r>
          </a:p>
        </p:txBody>
      </p:sp>
      <p:sp>
        <p:nvSpPr>
          <p:cNvPr id="4" name="Slide Number Placeholder 3"/>
          <p:cNvSpPr>
            <a:spLocks noGrp="1"/>
          </p:cNvSpPr>
          <p:nvPr>
            <p:ph type="sldNum" sz="quarter" idx="5"/>
          </p:nvPr>
        </p:nvSpPr>
        <p:spPr/>
        <p:txBody>
          <a:bodyPr/>
          <a:lstStyle/>
          <a:p>
            <a:fld id="{8FEA6E9F-99E5-4B65-B603-445AB579BCBF}" type="slidenum">
              <a:rPr lang="en-US" smtClean="0"/>
              <a:t>20</a:t>
            </a:fld>
            <a:endParaRPr lang="en-US"/>
          </a:p>
        </p:txBody>
      </p:sp>
    </p:spTree>
    <p:extLst>
      <p:ext uri="{BB962C8B-B14F-4D97-AF65-F5344CB8AC3E}">
        <p14:creationId xmlns:p14="http://schemas.microsoft.com/office/powerpoint/2010/main" val="34934480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want to zoom out and talk about our enterprise vision for securing AI. </a:t>
            </a:r>
          </a:p>
        </p:txBody>
      </p:sp>
      <p:sp>
        <p:nvSpPr>
          <p:cNvPr id="4" name="Slide Number Placeholder 3"/>
          <p:cNvSpPr>
            <a:spLocks noGrp="1"/>
          </p:cNvSpPr>
          <p:nvPr>
            <p:ph type="sldNum" sz="quarter" idx="5"/>
          </p:nvPr>
        </p:nvSpPr>
        <p:spPr/>
        <p:txBody>
          <a:bodyPr/>
          <a:lstStyle/>
          <a:p>
            <a:fld id="{8FEA6E9F-99E5-4B65-B603-445AB579BCBF}" type="slidenum">
              <a:rPr lang="en-US" smtClean="0"/>
              <a:t>22</a:t>
            </a:fld>
            <a:endParaRPr lang="en-US"/>
          </a:p>
        </p:txBody>
      </p:sp>
    </p:spTree>
    <p:extLst>
      <p:ext uri="{BB962C8B-B14F-4D97-AF65-F5344CB8AC3E}">
        <p14:creationId xmlns:p14="http://schemas.microsoft.com/office/powerpoint/2010/main" val="1988510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user’s responsibility is to build secure skills and do our best to define the agent’s job. The enterprise’s responsibility is to enforce the boundary. This is a joint responsibility.</a:t>
            </a:r>
          </a:p>
        </p:txBody>
      </p:sp>
      <p:sp>
        <p:nvSpPr>
          <p:cNvPr id="4" name="Slide Number Placeholder 3"/>
          <p:cNvSpPr>
            <a:spLocks noGrp="1"/>
          </p:cNvSpPr>
          <p:nvPr>
            <p:ph type="sldNum" sz="quarter" idx="5"/>
          </p:nvPr>
        </p:nvSpPr>
        <p:spPr/>
        <p:txBody>
          <a:bodyPr/>
          <a:lstStyle/>
          <a:p>
            <a:fld id="{8FEA6E9F-99E5-4B65-B603-445AB579BCBF}" type="slidenum">
              <a:rPr lang="en-US" smtClean="0"/>
              <a:t>23</a:t>
            </a:fld>
            <a:endParaRPr lang="en-US"/>
          </a:p>
        </p:txBody>
      </p:sp>
    </p:spTree>
    <p:extLst>
      <p:ext uri="{BB962C8B-B14F-4D97-AF65-F5344CB8AC3E}">
        <p14:creationId xmlns:p14="http://schemas.microsoft.com/office/powerpoint/2010/main" val="35014815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24</a:t>
            </a:fld>
            <a:endParaRPr lang="en-US"/>
          </a:p>
        </p:txBody>
      </p:sp>
    </p:spTree>
    <p:extLst>
      <p:ext uri="{BB962C8B-B14F-4D97-AF65-F5344CB8AC3E}">
        <p14:creationId xmlns:p14="http://schemas.microsoft.com/office/powerpoint/2010/main" val="39324320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25</a:t>
            </a:fld>
            <a:endParaRPr lang="en-US"/>
          </a:p>
        </p:txBody>
      </p:sp>
    </p:spTree>
    <p:extLst>
      <p:ext uri="{BB962C8B-B14F-4D97-AF65-F5344CB8AC3E}">
        <p14:creationId xmlns:p14="http://schemas.microsoft.com/office/powerpoint/2010/main" val="37957537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26</a:t>
            </a:fld>
            <a:endParaRPr lang="en-US"/>
          </a:p>
        </p:txBody>
      </p:sp>
    </p:spTree>
    <p:extLst>
      <p:ext uri="{BB962C8B-B14F-4D97-AF65-F5344CB8AC3E}">
        <p14:creationId xmlns:p14="http://schemas.microsoft.com/office/powerpoint/2010/main" val="20857904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28</a:t>
            </a:fld>
            <a:endParaRPr lang="en-US"/>
          </a:p>
        </p:txBody>
      </p:sp>
    </p:spTree>
    <p:extLst>
      <p:ext uri="{BB962C8B-B14F-4D97-AF65-F5344CB8AC3E}">
        <p14:creationId xmlns:p14="http://schemas.microsoft.com/office/powerpoint/2010/main" val="36392732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29</a:t>
            </a:fld>
            <a:endParaRPr lang="en-US"/>
          </a:p>
        </p:txBody>
      </p:sp>
    </p:spTree>
    <p:extLst>
      <p:ext uri="{BB962C8B-B14F-4D97-AF65-F5344CB8AC3E}">
        <p14:creationId xmlns:p14="http://schemas.microsoft.com/office/powerpoint/2010/main" val="14541151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need every person to become a security expert or every interaction to be perfect. We need safer practices embedded in the way we build and use AI, supported by enterprise controls that remain effective when people and models make mistakes. That is how security stops being a barrier to adoption and becomes the foundation for scaling AI with confidence</a:t>
            </a:r>
          </a:p>
        </p:txBody>
      </p:sp>
      <p:sp>
        <p:nvSpPr>
          <p:cNvPr id="4" name="Slide Number Placeholder 3"/>
          <p:cNvSpPr>
            <a:spLocks noGrp="1"/>
          </p:cNvSpPr>
          <p:nvPr>
            <p:ph type="sldNum" sz="quarter" idx="5"/>
          </p:nvPr>
        </p:nvSpPr>
        <p:spPr/>
        <p:txBody>
          <a:bodyPr/>
          <a:lstStyle/>
          <a:p>
            <a:fld id="{8FEA6E9F-99E5-4B65-B603-445AB579BCBF}" type="slidenum">
              <a:rPr lang="en-US" smtClean="0"/>
              <a:t>30</a:t>
            </a:fld>
            <a:endParaRPr lang="en-US"/>
          </a:p>
        </p:txBody>
      </p:sp>
    </p:spTree>
    <p:extLst>
      <p:ext uri="{BB962C8B-B14F-4D97-AF65-F5344CB8AC3E}">
        <p14:creationId xmlns:p14="http://schemas.microsoft.com/office/powerpoint/2010/main" val="9195643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EA6E9F-99E5-4B65-B603-445AB579BCBF}" type="slidenum">
              <a:rPr lang="en-US" smtClean="0"/>
              <a:t>31</a:t>
            </a:fld>
            <a:endParaRPr lang="en-US"/>
          </a:p>
        </p:txBody>
      </p:sp>
    </p:spTree>
    <p:extLst>
      <p:ext uri="{BB962C8B-B14F-4D97-AF65-F5344CB8AC3E}">
        <p14:creationId xmlns:p14="http://schemas.microsoft.com/office/powerpoint/2010/main" val="17554910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340C7-9ADA-7162-FC5D-092F82268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F284-E21A-9F01-8804-773935325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C729E9-5753-E4C9-26A1-5A1FDC0F6D65}"/>
              </a:ext>
            </a:extLst>
          </p:cNvPr>
          <p:cNvSpPr>
            <a:spLocks noGrp="1"/>
          </p:cNvSpPr>
          <p:nvPr>
            <p:ph type="body" idx="1"/>
          </p:nvPr>
        </p:nvSpPr>
        <p:spPr/>
        <p:txBody>
          <a:bodyPr/>
          <a:lstStyle/>
          <a:p>
            <a:r>
              <a:rPr lang="en-US" dirty="0"/>
              <a:t>Anthropic recommends </a:t>
            </a:r>
          </a:p>
        </p:txBody>
      </p:sp>
      <p:sp>
        <p:nvSpPr>
          <p:cNvPr id="4" name="Slide Number Placeholder 3">
            <a:extLst>
              <a:ext uri="{FF2B5EF4-FFF2-40B4-BE49-F238E27FC236}">
                <a16:creationId xmlns:a16="http://schemas.microsoft.com/office/drawing/2014/main" id="{4F46EBBE-B414-ED72-BA5B-D63A809E28D6}"/>
              </a:ext>
            </a:extLst>
          </p:cNvPr>
          <p:cNvSpPr>
            <a:spLocks noGrp="1"/>
          </p:cNvSpPr>
          <p:nvPr>
            <p:ph type="sldNum" sz="quarter" idx="5"/>
          </p:nvPr>
        </p:nvSpPr>
        <p:spPr/>
        <p:txBody>
          <a:bodyPr/>
          <a:lstStyle/>
          <a:p>
            <a:fld id="{8FEA6E9F-99E5-4B65-B603-445AB579BCBF}" type="slidenum">
              <a:rPr lang="en-US" smtClean="0"/>
              <a:t>36</a:t>
            </a:fld>
            <a:endParaRPr lang="en-US"/>
          </a:p>
        </p:txBody>
      </p:sp>
    </p:spTree>
    <p:extLst>
      <p:ext uri="{BB962C8B-B14F-4D97-AF65-F5344CB8AC3E}">
        <p14:creationId xmlns:p14="http://schemas.microsoft.com/office/powerpoint/2010/main" val="19300588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recent years, more organizations are hard coding instructions to agents through custom skills, vs. using mainly pre-built agents and MCP connectors.</a:t>
            </a:r>
          </a:p>
        </p:txBody>
      </p:sp>
      <p:sp>
        <p:nvSpPr>
          <p:cNvPr id="4" name="Slide Number Placeholder 3"/>
          <p:cNvSpPr>
            <a:spLocks noGrp="1"/>
          </p:cNvSpPr>
          <p:nvPr>
            <p:ph type="sldNum" sz="quarter" idx="5"/>
          </p:nvPr>
        </p:nvSpPr>
        <p:spPr/>
        <p:txBody>
          <a:bodyPr/>
          <a:lstStyle/>
          <a:p>
            <a:fld id="{8FEA6E9F-99E5-4B65-B603-445AB579BCBF}" type="slidenum">
              <a:rPr lang="en-US" smtClean="0"/>
              <a:t>41</a:t>
            </a:fld>
            <a:endParaRPr lang="en-US"/>
          </a:p>
        </p:txBody>
      </p:sp>
    </p:spTree>
    <p:extLst>
      <p:ext uri="{BB962C8B-B14F-4D97-AF65-F5344CB8AC3E}">
        <p14:creationId xmlns:p14="http://schemas.microsoft.com/office/powerpoint/2010/main" val="81157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6ADDB5-BC2C-C429-BB3D-2D0B329A6370}"/>
              </a:ext>
            </a:extLst>
          </p:cNvPr>
          <p:cNvPicPr/>
          <p:nvPr userDrawn="1"/>
        </p:nvPicPr>
        <p:blipFill>
          <a:blip r:embed="rId2"/>
          <a:srcRect b="30334"/>
          <a:stretch>
            <a:fillRect/>
          </a:stretch>
        </p:blipFill>
        <p:spPr>
          <a:xfrm>
            <a:off x="0" y="0"/>
            <a:ext cx="12190307" cy="7035799"/>
          </a:xfrm>
          <a:prstGeom prst="rect">
            <a:avLst/>
          </a:prstGeom>
        </p:spPr>
      </p:pic>
      <p:sp>
        <p:nvSpPr>
          <p:cNvPr id="22" name="Text Placeholder 20">
            <a:extLst>
              <a:ext uri="{FF2B5EF4-FFF2-40B4-BE49-F238E27FC236}">
                <a16:creationId xmlns:a16="http://schemas.microsoft.com/office/drawing/2014/main" id="{B2FBE486-E199-C2EC-B827-724A1EACC0FB}"/>
              </a:ext>
            </a:extLst>
          </p:cNvPr>
          <p:cNvSpPr>
            <a:spLocks noGrp="1"/>
          </p:cNvSpPr>
          <p:nvPr>
            <p:ph type="body" sz="quarter" idx="14" hasCustomPrompt="1"/>
          </p:nvPr>
        </p:nvSpPr>
        <p:spPr>
          <a:xfrm>
            <a:off x="777186" y="4955716"/>
            <a:ext cx="7327451" cy="215444"/>
          </a:xfrm>
        </p:spPr>
        <p:txBody>
          <a:bodyPr/>
          <a:lstStyle>
            <a:lvl1pPr marL="0" indent="0">
              <a:buNone/>
              <a:defRPr sz="1400" b="0" i="0">
                <a:solidFill>
                  <a:schemeClr val="bg1"/>
                </a:solidFill>
                <a:latin typeface="+mn-lt"/>
              </a:defRPr>
            </a:lvl1pPr>
            <a:lvl2pPr marL="228600" indent="0">
              <a:buNone/>
              <a:defRPr sz="1500">
                <a:latin typeface="+mj-lt"/>
              </a:defRPr>
            </a:lvl2pPr>
            <a:lvl3pPr marL="457200" indent="0">
              <a:buNone/>
              <a:defRPr sz="1500">
                <a:latin typeface="+mj-lt"/>
              </a:defRPr>
            </a:lvl3pPr>
            <a:lvl4pPr marL="661988" indent="0">
              <a:buNone/>
              <a:defRPr sz="1500">
                <a:latin typeface="+mj-lt"/>
              </a:defRPr>
            </a:lvl4pPr>
            <a:lvl5pPr marL="855663" indent="0">
              <a:buNone/>
              <a:defRPr sz="1500">
                <a:latin typeface="+mj-lt"/>
              </a:defRPr>
            </a:lvl5pPr>
          </a:lstStyle>
          <a:p>
            <a:pPr lvl="0"/>
            <a:r>
              <a:rPr lang="en-US"/>
              <a:t>By John Doe</a:t>
            </a:r>
          </a:p>
        </p:txBody>
      </p:sp>
      <p:sp>
        <p:nvSpPr>
          <p:cNvPr id="2" name="Title">
            <a:extLst>
              <a:ext uri="{FF2B5EF4-FFF2-40B4-BE49-F238E27FC236}">
                <a16:creationId xmlns:a16="http://schemas.microsoft.com/office/drawing/2014/main" id="{6F52CB07-F231-82C4-4E55-CB0D9146C819}"/>
              </a:ext>
            </a:extLst>
          </p:cNvPr>
          <p:cNvSpPr>
            <a:spLocks noGrp="1"/>
          </p:cNvSpPr>
          <p:nvPr>
            <p:ph type="title"/>
          </p:nvPr>
        </p:nvSpPr>
        <p:spPr>
          <a:xfrm>
            <a:off x="777187" y="2366248"/>
            <a:ext cx="9941614" cy="1747403"/>
          </a:xfrm>
        </p:spPr>
        <p:txBody>
          <a:bodyPr anchor="b">
            <a:normAutofit/>
          </a:bodyPr>
          <a:lstStyle>
            <a:lvl1pPr algn="l">
              <a:lnSpc>
                <a:spcPct val="90000"/>
              </a:lnSpc>
              <a:defRPr sz="3200">
                <a:solidFill>
                  <a:schemeClr val="accent4"/>
                </a:solidFill>
              </a:defRPr>
            </a:lvl1pPr>
          </a:lstStyle>
          <a:p>
            <a:r>
              <a:rPr lang="en-US"/>
              <a:t>Click to edit Master title style</a:t>
            </a:r>
          </a:p>
        </p:txBody>
      </p:sp>
      <p:sp>
        <p:nvSpPr>
          <p:cNvPr id="3" name="Text Placeholder 20">
            <a:extLst>
              <a:ext uri="{FF2B5EF4-FFF2-40B4-BE49-F238E27FC236}">
                <a16:creationId xmlns:a16="http://schemas.microsoft.com/office/drawing/2014/main" id="{9D545993-62E1-520F-B8DB-09DA5ED9780C}"/>
              </a:ext>
            </a:extLst>
          </p:cNvPr>
          <p:cNvSpPr>
            <a:spLocks noGrp="1"/>
          </p:cNvSpPr>
          <p:nvPr>
            <p:ph type="body" sz="quarter" idx="13"/>
          </p:nvPr>
        </p:nvSpPr>
        <p:spPr>
          <a:xfrm>
            <a:off x="777186" y="4230886"/>
            <a:ext cx="7327451" cy="230832"/>
          </a:xfrm>
        </p:spPr>
        <p:txBody>
          <a:bodyPr/>
          <a:lstStyle>
            <a:lvl1pPr marL="0" indent="0">
              <a:buNone/>
              <a:defRPr sz="1500" b="0" i="0">
                <a:solidFill>
                  <a:schemeClr val="bg1"/>
                </a:solidFill>
                <a:latin typeface="+mn-lt"/>
              </a:defRPr>
            </a:lvl1pPr>
            <a:lvl2pPr marL="228600" indent="0">
              <a:buNone/>
              <a:defRPr sz="1500">
                <a:latin typeface="+mj-lt"/>
              </a:defRPr>
            </a:lvl2pPr>
            <a:lvl3pPr marL="457200" indent="0">
              <a:buNone/>
              <a:defRPr sz="1500">
                <a:latin typeface="+mj-lt"/>
              </a:defRPr>
            </a:lvl3pPr>
            <a:lvl4pPr marL="661988" indent="0">
              <a:buNone/>
              <a:defRPr sz="1500">
                <a:latin typeface="+mj-lt"/>
              </a:defRPr>
            </a:lvl4pPr>
            <a:lvl5pPr marL="855663" indent="0">
              <a:buNone/>
              <a:defRPr sz="1500">
                <a:latin typeface="+mj-lt"/>
              </a:defRPr>
            </a:lvl5pPr>
          </a:lstStyle>
          <a:p>
            <a:pPr lvl="0"/>
            <a:r>
              <a:rPr lang="en-US"/>
              <a:t>Click to edit Master text styles</a:t>
            </a:r>
          </a:p>
        </p:txBody>
      </p:sp>
      <p:sp>
        <p:nvSpPr>
          <p:cNvPr id="4" name="TextBox 3">
            <a:extLst>
              <a:ext uri="{FF2B5EF4-FFF2-40B4-BE49-F238E27FC236}">
                <a16:creationId xmlns:a16="http://schemas.microsoft.com/office/drawing/2014/main" id="{FBD2D294-9870-0CD1-4EEE-07274C2C78FF}"/>
              </a:ext>
            </a:extLst>
          </p:cNvPr>
          <p:cNvSpPr txBox="1"/>
          <p:nvPr userDrawn="1"/>
        </p:nvSpPr>
        <p:spPr>
          <a:xfrm>
            <a:off x="9459686" y="6393663"/>
            <a:ext cx="2160815" cy="215444"/>
          </a:xfrm>
          <a:prstGeom prst="rect">
            <a:avLst/>
          </a:prstGeom>
          <a:noFill/>
        </p:spPr>
        <p:txBody>
          <a:bodyPr wrap="square" lIns="0" tIns="0" rIns="0" bIns="0" rtlCol="0" anchor="ctr">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mn-lt"/>
              </a:rPr>
              <a:t>#</a:t>
            </a:r>
            <a:r>
              <a:rPr lang="en-US" sz="1400" b="0" i="0" err="1">
                <a:solidFill>
                  <a:schemeClr val="bg1"/>
                </a:solidFill>
                <a:latin typeface="+mn-lt"/>
              </a:rPr>
              <a:t>InfoSecWorld</a:t>
            </a:r>
            <a:r>
              <a:rPr lang="en-US" sz="1400" b="0" i="0">
                <a:solidFill>
                  <a:schemeClr val="bg1"/>
                </a:solidFill>
                <a:latin typeface="+mn-lt"/>
              </a:rPr>
              <a:t>    |   </a:t>
            </a:r>
            <a:fld id="{59E8C269-FA72-7E4E-9714-C27CD671F9B2}" type="slidenum">
              <a:rPr lang="en-VN" sz="1400" b="0" i="0" smtClean="0">
                <a:solidFill>
                  <a:schemeClr val="bg1"/>
                </a:solidFill>
                <a:latin typeface="+mn-lt"/>
                <a:ea typeface="Calibri" pitchFamily="34" charset="0"/>
              </a:rPr>
              <a:pPr marL="0" marR="0" lvl="0" indent="0" algn="r" defTabSz="914367" rtl="0" eaLnBrk="1" fontAlgn="auto" latinLnBrk="0" hangingPunct="1">
                <a:lnSpc>
                  <a:spcPct val="100000"/>
                </a:lnSpc>
                <a:spcBef>
                  <a:spcPts val="0"/>
                </a:spcBef>
                <a:spcAft>
                  <a:spcPts val="0"/>
                </a:spcAft>
                <a:buClrTx/>
                <a:buSzTx/>
                <a:buFontTx/>
                <a:buNone/>
                <a:tabLst/>
                <a:defRPr/>
              </a:pPr>
              <a:t>‹#›</a:t>
            </a:fld>
            <a:endParaRPr lang="en-VN" sz="1400" b="0" i="0" err="1">
              <a:solidFill>
                <a:schemeClr val="bg1"/>
              </a:solidFill>
              <a:latin typeface="+mn-lt"/>
              <a:ea typeface="Calibri" pitchFamily="34" charset="0"/>
            </a:endParaRPr>
          </a:p>
        </p:txBody>
      </p:sp>
      <p:pic>
        <p:nvPicPr>
          <p:cNvPr id="8" name="Graphic 7">
            <a:extLst>
              <a:ext uri="{FF2B5EF4-FFF2-40B4-BE49-F238E27FC236}">
                <a16:creationId xmlns:a16="http://schemas.microsoft.com/office/drawing/2014/main" id="{E4164332-59F0-41B0-1D7E-AD85771D201B}"/>
              </a:ext>
            </a:extLst>
          </p:cNvPr>
          <p:cNvPicPr>
            <a:picLocks noChangeAspect="1"/>
          </p:cNvPicPr>
          <p:nvPr userDrawn="1"/>
        </p:nvPicPr>
        <p:blipFill>
          <a:blip>
            <a:extLst>
              <a:ext uri="{96DAC541-7B7A-43D3-8B79-37D633B846F1}">
                <asvg:svgBlip xmlns:asvg="http://schemas.microsoft.com/office/drawing/2016/SVG/main" r:embed="rId3"/>
              </a:ext>
            </a:extLst>
          </a:blip>
          <a:srcRect t="17501" b="17501"/>
          <a:stretch/>
        </p:blipFill>
        <p:spPr>
          <a:xfrm>
            <a:off x="460287" y="6345009"/>
            <a:ext cx="1875138" cy="330089"/>
          </a:xfrm>
          <a:prstGeom prst="rect">
            <a:avLst/>
          </a:prstGeom>
        </p:spPr>
      </p:pic>
    </p:spTree>
    <p:extLst>
      <p:ext uri="{BB962C8B-B14F-4D97-AF65-F5344CB8AC3E}">
        <p14:creationId xmlns:p14="http://schemas.microsoft.com/office/powerpoint/2010/main" val="3936804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571500" y="522516"/>
            <a:ext cx="11049000" cy="461665"/>
          </a:xfrm>
        </p:spPr>
        <p:txBody>
          <a:bodyPr/>
          <a:lstStyle>
            <a:lvl1pPr algn="l">
              <a:defRPr/>
            </a:lvl1pPr>
          </a:lstStyle>
          <a:p>
            <a:r>
              <a:rPr lang="en-US"/>
              <a:t>Click to edit Master title style</a:t>
            </a:r>
          </a:p>
        </p:txBody>
      </p:sp>
      <p:cxnSp>
        <p:nvCxnSpPr>
          <p:cNvPr id="4" name="Straight Connector 3">
            <a:extLst>
              <a:ext uri="{FF2B5EF4-FFF2-40B4-BE49-F238E27FC236}">
                <a16:creationId xmlns:a16="http://schemas.microsoft.com/office/drawing/2014/main" id="{95031B7D-945B-64F6-A845-9E1F1C9D64FD}"/>
              </a:ext>
            </a:extLst>
          </p:cNvPr>
          <p:cNvCxnSpPr/>
          <p:nvPr userDrawn="1"/>
        </p:nvCxnSpPr>
        <p:spPr>
          <a:xfrm>
            <a:off x="571500" y="1188720"/>
            <a:ext cx="11049000" cy="0"/>
          </a:xfrm>
          <a:prstGeom prst="line">
            <a:avLst/>
          </a:prstGeom>
          <a:ln w="19050" cap="rnd">
            <a:solidFill>
              <a:schemeClr val="accent1">
                <a:lumMod val="20000"/>
                <a:lumOff val="80000"/>
                <a:alpha val="16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95796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571500" y="522516"/>
            <a:ext cx="11049000" cy="461665"/>
          </a:xfrm>
        </p:spPr>
        <p:txBody>
          <a:bodyPr/>
          <a:lstStyle>
            <a:lvl1pPr algn="l">
              <a:defRPr/>
            </a:lvl1pPr>
          </a:lstStyle>
          <a:p>
            <a:r>
              <a:rPr lang="en-US"/>
              <a:t>Click to edit Master title style</a:t>
            </a:r>
          </a:p>
        </p:txBody>
      </p:sp>
      <p:sp>
        <p:nvSpPr>
          <p:cNvPr id="3" name="Content Placeholder 6">
            <a:extLst>
              <a:ext uri="{FF2B5EF4-FFF2-40B4-BE49-F238E27FC236}">
                <a16:creationId xmlns:a16="http://schemas.microsoft.com/office/drawing/2014/main" id="{7E3C9FCA-2193-7C59-2F47-5D828D64A133}"/>
              </a:ext>
            </a:extLst>
          </p:cNvPr>
          <p:cNvSpPr>
            <a:spLocks noGrp="1"/>
          </p:cNvSpPr>
          <p:nvPr>
            <p:ph sz="quarter" idx="10"/>
          </p:nvPr>
        </p:nvSpPr>
        <p:spPr>
          <a:xfrm>
            <a:off x="571501" y="1414463"/>
            <a:ext cx="11049000" cy="4345066"/>
          </a:xfrm>
        </p:spPr>
        <p:txBody>
          <a:bodyPr>
            <a:normAutofit/>
          </a:bodyPr>
          <a:lstStyle>
            <a:lvl1pPr marL="0" indent="0">
              <a:lnSpc>
                <a:spcPct val="100000"/>
              </a:lnSpc>
              <a:buNone/>
              <a:defRPr sz="2000"/>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00ACF048-E2E5-9F13-B401-F2B49900849E}"/>
              </a:ext>
            </a:extLst>
          </p:cNvPr>
          <p:cNvCxnSpPr/>
          <p:nvPr userDrawn="1"/>
        </p:nvCxnSpPr>
        <p:spPr>
          <a:xfrm>
            <a:off x="571500" y="1188720"/>
            <a:ext cx="11049000" cy="0"/>
          </a:xfrm>
          <a:prstGeom prst="line">
            <a:avLst/>
          </a:prstGeom>
          <a:ln w="19050" cap="rnd">
            <a:solidFill>
              <a:schemeClr val="accent1">
                <a:lumMod val="20000"/>
                <a:lumOff val="80000"/>
                <a:alpha val="16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0062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wo Column">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571500" y="522516"/>
            <a:ext cx="11049000" cy="461665"/>
          </a:xfrm>
        </p:spPr>
        <p:txBody>
          <a:bodyPr/>
          <a:lstStyle>
            <a:lvl1pPr algn="l">
              <a:defRPr/>
            </a:lvl1pPr>
          </a:lstStyle>
          <a:p>
            <a:r>
              <a:rPr lang="en-US"/>
              <a:t>Click to edit Master title style</a:t>
            </a:r>
          </a:p>
        </p:txBody>
      </p:sp>
      <p:sp>
        <p:nvSpPr>
          <p:cNvPr id="3" name="Content Placeholder 6">
            <a:extLst>
              <a:ext uri="{FF2B5EF4-FFF2-40B4-BE49-F238E27FC236}">
                <a16:creationId xmlns:a16="http://schemas.microsoft.com/office/drawing/2014/main" id="{7E3C9FCA-2193-7C59-2F47-5D828D64A133}"/>
              </a:ext>
            </a:extLst>
          </p:cNvPr>
          <p:cNvSpPr>
            <a:spLocks noGrp="1"/>
          </p:cNvSpPr>
          <p:nvPr>
            <p:ph sz="quarter" idx="10"/>
          </p:nvPr>
        </p:nvSpPr>
        <p:spPr>
          <a:xfrm>
            <a:off x="571501" y="1414463"/>
            <a:ext cx="5254264" cy="4340159"/>
          </a:xfrm>
        </p:spPr>
        <p:txBody>
          <a:bodyPr>
            <a:normAutofit/>
          </a:bodyPr>
          <a:lstStyle>
            <a:lvl1pPr marL="0" indent="0">
              <a:lnSpc>
                <a:spcPct val="100000"/>
              </a:lnSpc>
              <a:buNone/>
              <a:defRPr sz="2000"/>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6">
            <a:extLst>
              <a:ext uri="{FF2B5EF4-FFF2-40B4-BE49-F238E27FC236}">
                <a16:creationId xmlns:a16="http://schemas.microsoft.com/office/drawing/2014/main" id="{0D35C999-03CC-B688-90F5-88C2E7B937EC}"/>
              </a:ext>
            </a:extLst>
          </p:cNvPr>
          <p:cNvSpPr>
            <a:spLocks noGrp="1"/>
          </p:cNvSpPr>
          <p:nvPr>
            <p:ph sz="quarter" idx="11"/>
          </p:nvPr>
        </p:nvSpPr>
        <p:spPr>
          <a:xfrm>
            <a:off x="6366237" y="1414463"/>
            <a:ext cx="5254264" cy="4340159"/>
          </a:xfrm>
        </p:spPr>
        <p:txBody>
          <a:bodyPr>
            <a:normAutofit/>
          </a:bodyPr>
          <a:lstStyle>
            <a:lvl1pPr marL="0" indent="0">
              <a:lnSpc>
                <a:spcPct val="100000"/>
              </a:lnSpc>
              <a:buNone/>
              <a:defRPr sz="2000"/>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C62890DB-9A7B-937A-419F-C5D3DCFA6FAE}"/>
              </a:ext>
            </a:extLst>
          </p:cNvPr>
          <p:cNvCxnSpPr/>
          <p:nvPr userDrawn="1"/>
        </p:nvCxnSpPr>
        <p:spPr>
          <a:xfrm>
            <a:off x="571500" y="1188720"/>
            <a:ext cx="11049000" cy="0"/>
          </a:xfrm>
          <a:prstGeom prst="line">
            <a:avLst/>
          </a:prstGeom>
          <a:ln w="19050" cap="rnd">
            <a:solidFill>
              <a:schemeClr val="accent1">
                <a:lumMod val="20000"/>
                <a:lumOff val="80000"/>
                <a:alpha val="16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54903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heading Two Column">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571500" y="522516"/>
            <a:ext cx="11049000" cy="461665"/>
          </a:xfrm>
        </p:spPr>
        <p:txBody>
          <a:bodyPr/>
          <a:lstStyle>
            <a:lvl1pPr algn="l">
              <a:defRPr/>
            </a:lvl1pPr>
          </a:lstStyle>
          <a:p>
            <a:r>
              <a:rPr lang="en-US"/>
              <a:t>Click to edit Master title style</a:t>
            </a:r>
          </a:p>
        </p:txBody>
      </p:sp>
      <p:sp>
        <p:nvSpPr>
          <p:cNvPr id="3" name="Content Placeholder 6">
            <a:extLst>
              <a:ext uri="{FF2B5EF4-FFF2-40B4-BE49-F238E27FC236}">
                <a16:creationId xmlns:a16="http://schemas.microsoft.com/office/drawing/2014/main" id="{7E3C9FCA-2193-7C59-2F47-5D828D64A133}"/>
              </a:ext>
            </a:extLst>
          </p:cNvPr>
          <p:cNvSpPr>
            <a:spLocks noGrp="1"/>
          </p:cNvSpPr>
          <p:nvPr>
            <p:ph sz="quarter" idx="10"/>
          </p:nvPr>
        </p:nvSpPr>
        <p:spPr>
          <a:xfrm>
            <a:off x="571501" y="1875934"/>
            <a:ext cx="5254264" cy="3927458"/>
          </a:xfrm>
        </p:spPr>
        <p:txBody>
          <a:bodyPr>
            <a:normAutofit/>
          </a:bodyPr>
          <a:lstStyle>
            <a:lvl1pPr marL="0" indent="0">
              <a:lnSpc>
                <a:spcPct val="100000"/>
              </a:lnSpc>
              <a:buNone/>
              <a:defRPr sz="2000"/>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6">
            <a:extLst>
              <a:ext uri="{FF2B5EF4-FFF2-40B4-BE49-F238E27FC236}">
                <a16:creationId xmlns:a16="http://schemas.microsoft.com/office/drawing/2014/main" id="{0D35C999-03CC-B688-90F5-88C2E7B937EC}"/>
              </a:ext>
            </a:extLst>
          </p:cNvPr>
          <p:cNvSpPr>
            <a:spLocks noGrp="1"/>
          </p:cNvSpPr>
          <p:nvPr>
            <p:ph sz="quarter" idx="11"/>
          </p:nvPr>
        </p:nvSpPr>
        <p:spPr>
          <a:xfrm>
            <a:off x="6366237" y="1875934"/>
            <a:ext cx="5254264" cy="3927458"/>
          </a:xfrm>
        </p:spPr>
        <p:txBody>
          <a:bodyPr>
            <a:normAutofit/>
          </a:bodyPr>
          <a:lstStyle>
            <a:lvl1pPr marL="0" indent="0">
              <a:lnSpc>
                <a:spcPct val="100000"/>
              </a:lnSpc>
              <a:buNone/>
              <a:defRPr sz="2000"/>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7">
            <a:extLst>
              <a:ext uri="{FF2B5EF4-FFF2-40B4-BE49-F238E27FC236}">
                <a16:creationId xmlns:a16="http://schemas.microsoft.com/office/drawing/2014/main" id="{790F19C0-28F7-7CD9-9E5F-661F79D6962C}"/>
              </a:ext>
            </a:extLst>
          </p:cNvPr>
          <p:cNvSpPr>
            <a:spLocks noGrp="1"/>
          </p:cNvSpPr>
          <p:nvPr>
            <p:ph sz="quarter" idx="12" hasCustomPrompt="1"/>
          </p:nvPr>
        </p:nvSpPr>
        <p:spPr>
          <a:xfrm>
            <a:off x="571499" y="1414463"/>
            <a:ext cx="5254264" cy="276999"/>
          </a:xfrm>
        </p:spPr>
        <p:txBody>
          <a:bodyPr/>
          <a:lstStyle>
            <a:lvl1pPr>
              <a:defRPr sz="1800" b="0" i="0">
                <a:latin typeface="+mj-lt"/>
              </a:defRPr>
            </a:lvl1pPr>
          </a:lstStyle>
          <a:p>
            <a:pPr lvl="0"/>
            <a:r>
              <a:rPr lang="en-US"/>
              <a:t>Click to edit title</a:t>
            </a:r>
          </a:p>
        </p:txBody>
      </p:sp>
      <p:sp>
        <p:nvSpPr>
          <p:cNvPr id="6" name="Content Placeholder 7">
            <a:extLst>
              <a:ext uri="{FF2B5EF4-FFF2-40B4-BE49-F238E27FC236}">
                <a16:creationId xmlns:a16="http://schemas.microsoft.com/office/drawing/2014/main" id="{A221FB30-9143-693B-47EA-A5EC1E39E0D4}"/>
              </a:ext>
            </a:extLst>
          </p:cNvPr>
          <p:cNvSpPr>
            <a:spLocks noGrp="1"/>
          </p:cNvSpPr>
          <p:nvPr>
            <p:ph sz="quarter" idx="13" hasCustomPrompt="1"/>
          </p:nvPr>
        </p:nvSpPr>
        <p:spPr>
          <a:xfrm>
            <a:off x="6366236" y="1424332"/>
            <a:ext cx="5254264" cy="276999"/>
          </a:xfrm>
        </p:spPr>
        <p:txBody>
          <a:bodyPr/>
          <a:lstStyle>
            <a:lvl1pPr>
              <a:defRPr sz="1800" b="0" i="0">
                <a:latin typeface="+mj-lt"/>
              </a:defRPr>
            </a:lvl1pPr>
          </a:lstStyle>
          <a:p>
            <a:pPr lvl="0"/>
            <a:r>
              <a:rPr lang="en-US"/>
              <a:t>Click to edit title</a:t>
            </a:r>
          </a:p>
        </p:txBody>
      </p:sp>
      <p:cxnSp>
        <p:nvCxnSpPr>
          <p:cNvPr id="7" name="Straight Connector 6">
            <a:extLst>
              <a:ext uri="{FF2B5EF4-FFF2-40B4-BE49-F238E27FC236}">
                <a16:creationId xmlns:a16="http://schemas.microsoft.com/office/drawing/2014/main" id="{37BECE31-3B85-548C-84C1-E447A8C536D7}"/>
              </a:ext>
            </a:extLst>
          </p:cNvPr>
          <p:cNvCxnSpPr/>
          <p:nvPr userDrawn="1"/>
        </p:nvCxnSpPr>
        <p:spPr>
          <a:xfrm>
            <a:off x="571500" y="1188720"/>
            <a:ext cx="11049000" cy="0"/>
          </a:xfrm>
          <a:prstGeom prst="line">
            <a:avLst/>
          </a:prstGeom>
          <a:ln w="19050" cap="rnd">
            <a:solidFill>
              <a:schemeClr val="accent1">
                <a:lumMod val="20000"/>
                <a:lumOff val="80000"/>
                <a:alpha val="16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82035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Right Image 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571500" y="522516"/>
            <a:ext cx="11049000" cy="461665"/>
          </a:xfrm>
        </p:spPr>
        <p:txBody>
          <a:bodyPr/>
          <a:lstStyle>
            <a:lvl1pPr algn="l">
              <a:defRPr/>
            </a:lvl1pPr>
          </a:lstStyle>
          <a:p>
            <a:r>
              <a:rPr lang="en-US"/>
              <a:t>Click to edit Master title style</a:t>
            </a:r>
          </a:p>
        </p:txBody>
      </p:sp>
      <p:sp>
        <p:nvSpPr>
          <p:cNvPr id="4" name="Picture Placeholder 3">
            <a:extLst>
              <a:ext uri="{FF2B5EF4-FFF2-40B4-BE49-F238E27FC236}">
                <a16:creationId xmlns:a16="http://schemas.microsoft.com/office/drawing/2014/main" id="{0CA9CB8C-B65C-9CC6-0AA8-79670999B16A}"/>
              </a:ext>
            </a:extLst>
          </p:cNvPr>
          <p:cNvSpPr>
            <a:spLocks noGrp="1"/>
          </p:cNvSpPr>
          <p:nvPr>
            <p:ph type="pic" sz="quarter" idx="11"/>
          </p:nvPr>
        </p:nvSpPr>
        <p:spPr>
          <a:xfrm>
            <a:off x="5938887" y="1530196"/>
            <a:ext cx="5681609" cy="4309772"/>
          </a:xfrm>
          <a:custGeom>
            <a:avLst/>
            <a:gdLst>
              <a:gd name="connsiteX0" fmla="*/ 216144 w 6323011"/>
              <a:gd name="connsiteY0" fmla="*/ 0 h 4821237"/>
              <a:gd name="connsiteX1" fmla="*/ 6106868 w 6323011"/>
              <a:gd name="connsiteY1" fmla="*/ 0 h 4821237"/>
              <a:gd name="connsiteX2" fmla="*/ 6323011 w 6323011"/>
              <a:gd name="connsiteY2" fmla="*/ 226020 h 4821237"/>
              <a:gd name="connsiteX3" fmla="*/ 6323011 w 6323011"/>
              <a:gd name="connsiteY3" fmla="*/ 4595217 h 4821237"/>
              <a:gd name="connsiteX4" fmla="*/ 6106868 w 6323011"/>
              <a:gd name="connsiteY4" fmla="*/ 4821237 h 4821237"/>
              <a:gd name="connsiteX5" fmla="*/ 216144 w 6323011"/>
              <a:gd name="connsiteY5" fmla="*/ 4821237 h 4821237"/>
              <a:gd name="connsiteX6" fmla="*/ 0 w 6323011"/>
              <a:gd name="connsiteY6" fmla="*/ 4595217 h 4821237"/>
              <a:gd name="connsiteX7" fmla="*/ 0 w 6323011"/>
              <a:gd name="connsiteY7" fmla="*/ 226020 h 4821237"/>
              <a:gd name="connsiteX8" fmla="*/ 216144 w 6323011"/>
              <a:gd name="connsiteY8" fmla="*/ 0 h 482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23011" h="4821237">
                <a:moveTo>
                  <a:pt x="216144" y="0"/>
                </a:moveTo>
                <a:lnTo>
                  <a:pt x="6106868" y="0"/>
                </a:lnTo>
                <a:cubicBezTo>
                  <a:pt x="6226240" y="0"/>
                  <a:pt x="6323011" y="101193"/>
                  <a:pt x="6323011" y="226020"/>
                </a:cubicBezTo>
                <a:lnTo>
                  <a:pt x="6323011" y="4595217"/>
                </a:lnTo>
                <a:cubicBezTo>
                  <a:pt x="6323011" y="4720044"/>
                  <a:pt x="6226240" y="4821237"/>
                  <a:pt x="6106868" y="4821237"/>
                </a:cubicBezTo>
                <a:lnTo>
                  <a:pt x="216144" y="4821237"/>
                </a:lnTo>
                <a:cubicBezTo>
                  <a:pt x="96771" y="4821237"/>
                  <a:pt x="0" y="4720044"/>
                  <a:pt x="0" y="4595217"/>
                </a:cubicBezTo>
                <a:lnTo>
                  <a:pt x="0" y="226020"/>
                </a:lnTo>
                <a:cubicBezTo>
                  <a:pt x="0" y="101193"/>
                  <a:pt x="96771" y="0"/>
                  <a:pt x="216144"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
        <p:nvSpPr>
          <p:cNvPr id="8" name="Content Placeholder 7">
            <a:extLst>
              <a:ext uri="{FF2B5EF4-FFF2-40B4-BE49-F238E27FC236}">
                <a16:creationId xmlns:a16="http://schemas.microsoft.com/office/drawing/2014/main" id="{2687B132-0957-367B-F30D-930E7AE467AC}"/>
              </a:ext>
            </a:extLst>
          </p:cNvPr>
          <p:cNvSpPr>
            <a:spLocks noGrp="1"/>
          </p:cNvSpPr>
          <p:nvPr>
            <p:ph sz="quarter" idx="12" hasCustomPrompt="1"/>
          </p:nvPr>
        </p:nvSpPr>
        <p:spPr>
          <a:xfrm>
            <a:off x="571500" y="1530195"/>
            <a:ext cx="4943180" cy="276999"/>
          </a:xfrm>
        </p:spPr>
        <p:txBody>
          <a:bodyPr/>
          <a:lstStyle>
            <a:lvl1pPr>
              <a:defRPr sz="1800" b="0" i="0">
                <a:latin typeface="+mj-lt"/>
              </a:defRPr>
            </a:lvl1pPr>
          </a:lstStyle>
          <a:p>
            <a:pPr lvl="0"/>
            <a:r>
              <a:rPr lang="en-US"/>
              <a:t>Click to edit title</a:t>
            </a:r>
          </a:p>
        </p:txBody>
      </p:sp>
      <p:sp>
        <p:nvSpPr>
          <p:cNvPr id="10" name="Content Placeholder 9">
            <a:extLst>
              <a:ext uri="{FF2B5EF4-FFF2-40B4-BE49-F238E27FC236}">
                <a16:creationId xmlns:a16="http://schemas.microsoft.com/office/drawing/2014/main" id="{533B4862-490A-D1EC-4DCA-9B6F8DBDD9D9}"/>
              </a:ext>
            </a:extLst>
          </p:cNvPr>
          <p:cNvSpPr>
            <a:spLocks noGrp="1"/>
          </p:cNvSpPr>
          <p:nvPr>
            <p:ph sz="quarter" idx="13"/>
          </p:nvPr>
        </p:nvSpPr>
        <p:spPr>
          <a:xfrm>
            <a:off x="571500" y="1965912"/>
            <a:ext cx="4943180" cy="3874056"/>
          </a:xfrm>
        </p:spPr>
        <p:txBody>
          <a:bodyPr/>
          <a:lstStyle>
            <a:lvl1pPr>
              <a:defRPr sz="1600"/>
            </a:lvl1pPr>
            <a:lvl2pPr>
              <a:defRPr sz="14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279E5F33-A8A6-413A-BB31-C3E903B0837B}"/>
              </a:ext>
            </a:extLst>
          </p:cNvPr>
          <p:cNvCxnSpPr/>
          <p:nvPr userDrawn="1"/>
        </p:nvCxnSpPr>
        <p:spPr>
          <a:xfrm>
            <a:off x="571500" y="1188720"/>
            <a:ext cx="11049000" cy="0"/>
          </a:xfrm>
          <a:prstGeom prst="line">
            <a:avLst/>
          </a:prstGeom>
          <a:ln w="19050" cap="rnd">
            <a:solidFill>
              <a:schemeClr val="accent1">
                <a:lumMod val="20000"/>
                <a:lumOff val="80000"/>
                <a:alpha val="16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1994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ight Image Block Title and Content">
    <p:spTree>
      <p:nvGrpSpPr>
        <p:cNvPr id="1" name=""/>
        <p:cNvGrpSpPr/>
        <p:nvPr/>
      </p:nvGrpSpPr>
      <p:grpSpPr>
        <a:xfrm>
          <a:off x="0" y="0"/>
          <a:ext cx="0" cy="0"/>
          <a:chOff x="0" y="0"/>
          <a:chExt cx="0" cy="0"/>
        </a:xfrm>
      </p:grpSpPr>
      <p:sp>
        <p:nvSpPr>
          <p:cNvPr id="3" name="Rectangle: Rounded Corners 5">
            <a:extLst>
              <a:ext uri="{FF2B5EF4-FFF2-40B4-BE49-F238E27FC236}">
                <a16:creationId xmlns:a16="http://schemas.microsoft.com/office/drawing/2014/main" id="{76DB91E6-BFE4-D2AE-77E4-719E98349249}"/>
              </a:ext>
            </a:extLst>
          </p:cNvPr>
          <p:cNvSpPr/>
          <p:nvPr userDrawn="1"/>
        </p:nvSpPr>
        <p:spPr bwMode="auto">
          <a:xfrm flipH="1">
            <a:off x="571494" y="1332053"/>
            <a:ext cx="11049001" cy="4495723"/>
          </a:xfrm>
          <a:prstGeom prst="roundRect">
            <a:avLst>
              <a:gd name="adj" fmla="val 5131"/>
            </a:avLst>
          </a:prstGeom>
          <a:solidFill>
            <a:srgbClr val="21205B"/>
          </a:solidFill>
          <a:ln>
            <a:noFill/>
            <a:headEnd type="none" w="med" len="med"/>
            <a:tailEnd type="none" w="med" len="med"/>
          </a:ln>
          <a:effectLst>
            <a:outerShdw blurRad="127000" dist="63500" dir="5400000" algn="t" rotWithShape="0">
              <a:schemeClr val="tx2">
                <a:alpha val="2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b="0" i="0" err="1">
              <a:solidFill>
                <a:schemeClr val="accent3">
                  <a:lumMod val="75000"/>
                </a:schemeClr>
              </a:solidFill>
              <a:latin typeface="Arial" panose="020B0604020202020204" pitchFamily="34" charset="0"/>
              <a:cs typeface="Segoe UI" pitchFamily="34" charset="0"/>
            </a:endParaRPr>
          </a:p>
        </p:txBody>
      </p:sp>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571500" y="522516"/>
            <a:ext cx="11049000" cy="461665"/>
          </a:xfrm>
        </p:spPr>
        <p:txBody>
          <a:bodyPr/>
          <a:lstStyle>
            <a:lvl1pPr algn="l">
              <a:defRPr/>
            </a:lvl1pPr>
          </a:lstStyle>
          <a:p>
            <a:r>
              <a:rPr lang="en-US"/>
              <a:t>Click to edit Master title style</a:t>
            </a:r>
          </a:p>
        </p:txBody>
      </p:sp>
      <p:sp>
        <p:nvSpPr>
          <p:cNvPr id="4" name="Picture Placeholder 3">
            <a:extLst>
              <a:ext uri="{FF2B5EF4-FFF2-40B4-BE49-F238E27FC236}">
                <a16:creationId xmlns:a16="http://schemas.microsoft.com/office/drawing/2014/main" id="{0CA9CB8C-B65C-9CC6-0AA8-79670999B16A}"/>
              </a:ext>
            </a:extLst>
          </p:cNvPr>
          <p:cNvSpPr>
            <a:spLocks noGrp="1"/>
          </p:cNvSpPr>
          <p:nvPr>
            <p:ph type="pic" sz="quarter" idx="11"/>
          </p:nvPr>
        </p:nvSpPr>
        <p:spPr>
          <a:xfrm>
            <a:off x="5297485" y="1332053"/>
            <a:ext cx="6323011" cy="4495723"/>
          </a:xfrm>
          <a:custGeom>
            <a:avLst/>
            <a:gdLst>
              <a:gd name="connsiteX0" fmla="*/ 216144 w 6323011"/>
              <a:gd name="connsiteY0" fmla="*/ 0 h 4821237"/>
              <a:gd name="connsiteX1" fmla="*/ 6106868 w 6323011"/>
              <a:gd name="connsiteY1" fmla="*/ 0 h 4821237"/>
              <a:gd name="connsiteX2" fmla="*/ 6323011 w 6323011"/>
              <a:gd name="connsiteY2" fmla="*/ 226020 h 4821237"/>
              <a:gd name="connsiteX3" fmla="*/ 6323011 w 6323011"/>
              <a:gd name="connsiteY3" fmla="*/ 4595217 h 4821237"/>
              <a:gd name="connsiteX4" fmla="*/ 6106868 w 6323011"/>
              <a:gd name="connsiteY4" fmla="*/ 4821237 h 4821237"/>
              <a:gd name="connsiteX5" fmla="*/ 216144 w 6323011"/>
              <a:gd name="connsiteY5" fmla="*/ 4821237 h 4821237"/>
              <a:gd name="connsiteX6" fmla="*/ 0 w 6323011"/>
              <a:gd name="connsiteY6" fmla="*/ 4595217 h 4821237"/>
              <a:gd name="connsiteX7" fmla="*/ 0 w 6323011"/>
              <a:gd name="connsiteY7" fmla="*/ 226020 h 4821237"/>
              <a:gd name="connsiteX8" fmla="*/ 216144 w 6323011"/>
              <a:gd name="connsiteY8" fmla="*/ 0 h 482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23011" h="4821237">
                <a:moveTo>
                  <a:pt x="216144" y="0"/>
                </a:moveTo>
                <a:lnTo>
                  <a:pt x="6106868" y="0"/>
                </a:lnTo>
                <a:cubicBezTo>
                  <a:pt x="6226240" y="0"/>
                  <a:pt x="6323011" y="101193"/>
                  <a:pt x="6323011" y="226020"/>
                </a:cubicBezTo>
                <a:lnTo>
                  <a:pt x="6323011" y="4595217"/>
                </a:lnTo>
                <a:cubicBezTo>
                  <a:pt x="6323011" y="4720044"/>
                  <a:pt x="6226240" y="4821237"/>
                  <a:pt x="6106868" y="4821237"/>
                </a:cubicBezTo>
                <a:lnTo>
                  <a:pt x="216144" y="4821237"/>
                </a:lnTo>
                <a:cubicBezTo>
                  <a:pt x="96771" y="4821237"/>
                  <a:pt x="0" y="4720044"/>
                  <a:pt x="0" y="4595217"/>
                </a:cubicBezTo>
                <a:lnTo>
                  <a:pt x="0" y="226020"/>
                </a:lnTo>
                <a:cubicBezTo>
                  <a:pt x="0" y="101193"/>
                  <a:pt x="96771" y="0"/>
                  <a:pt x="216144"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
        <p:nvSpPr>
          <p:cNvPr id="8" name="Content Placeholder 7">
            <a:extLst>
              <a:ext uri="{FF2B5EF4-FFF2-40B4-BE49-F238E27FC236}">
                <a16:creationId xmlns:a16="http://schemas.microsoft.com/office/drawing/2014/main" id="{2687B132-0957-367B-F30D-930E7AE467AC}"/>
              </a:ext>
            </a:extLst>
          </p:cNvPr>
          <p:cNvSpPr>
            <a:spLocks noGrp="1"/>
          </p:cNvSpPr>
          <p:nvPr>
            <p:ph sz="quarter" idx="12" hasCustomPrompt="1"/>
          </p:nvPr>
        </p:nvSpPr>
        <p:spPr>
          <a:xfrm>
            <a:off x="1039309" y="1792954"/>
            <a:ext cx="3733800" cy="276999"/>
          </a:xfrm>
        </p:spPr>
        <p:txBody>
          <a:bodyPr/>
          <a:lstStyle>
            <a:lvl1pPr>
              <a:defRPr sz="1800" b="0" i="0">
                <a:latin typeface="+mj-lt"/>
              </a:defRPr>
            </a:lvl1pPr>
          </a:lstStyle>
          <a:p>
            <a:pPr lvl="0"/>
            <a:r>
              <a:rPr lang="en-US"/>
              <a:t>Click to edit title</a:t>
            </a:r>
          </a:p>
        </p:txBody>
      </p:sp>
      <p:sp>
        <p:nvSpPr>
          <p:cNvPr id="10" name="Content Placeholder 9">
            <a:extLst>
              <a:ext uri="{FF2B5EF4-FFF2-40B4-BE49-F238E27FC236}">
                <a16:creationId xmlns:a16="http://schemas.microsoft.com/office/drawing/2014/main" id="{533B4862-490A-D1EC-4DCA-9B6F8DBDD9D9}"/>
              </a:ext>
            </a:extLst>
          </p:cNvPr>
          <p:cNvSpPr>
            <a:spLocks noGrp="1"/>
          </p:cNvSpPr>
          <p:nvPr>
            <p:ph sz="quarter" idx="13"/>
          </p:nvPr>
        </p:nvSpPr>
        <p:spPr>
          <a:xfrm>
            <a:off x="1039309" y="2228671"/>
            <a:ext cx="3733800" cy="3297276"/>
          </a:xfrm>
        </p:spPr>
        <p:txBody>
          <a:bodyPr/>
          <a:lstStyle>
            <a:lvl1pPr>
              <a:defRPr sz="1600"/>
            </a:lvl1pPr>
            <a:lvl2pPr>
              <a:defRPr sz="14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79954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eft Image 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571500" y="522516"/>
            <a:ext cx="11049000" cy="461665"/>
          </a:xfrm>
        </p:spPr>
        <p:txBody>
          <a:bodyPr/>
          <a:lstStyle>
            <a:lvl1pPr algn="l">
              <a:defRPr/>
            </a:lvl1pPr>
          </a:lstStyle>
          <a:p>
            <a:r>
              <a:rPr lang="en-US"/>
              <a:t>Click to edit Master title style</a:t>
            </a:r>
          </a:p>
        </p:txBody>
      </p:sp>
      <p:sp>
        <p:nvSpPr>
          <p:cNvPr id="4" name="Picture Placeholder 3">
            <a:extLst>
              <a:ext uri="{FF2B5EF4-FFF2-40B4-BE49-F238E27FC236}">
                <a16:creationId xmlns:a16="http://schemas.microsoft.com/office/drawing/2014/main" id="{0CA9CB8C-B65C-9CC6-0AA8-79670999B16A}"/>
              </a:ext>
            </a:extLst>
          </p:cNvPr>
          <p:cNvSpPr>
            <a:spLocks noGrp="1"/>
          </p:cNvSpPr>
          <p:nvPr>
            <p:ph type="pic" sz="quarter" idx="11"/>
          </p:nvPr>
        </p:nvSpPr>
        <p:spPr>
          <a:xfrm>
            <a:off x="571503" y="1551216"/>
            <a:ext cx="5524497" cy="4237897"/>
          </a:xfrm>
          <a:custGeom>
            <a:avLst/>
            <a:gdLst>
              <a:gd name="connsiteX0" fmla="*/ 216144 w 6323011"/>
              <a:gd name="connsiteY0" fmla="*/ 0 h 4821237"/>
              <a:gd name="connsiteX1" fmla="*/ 6106868 w 6323011"/>
              <a:gd name="connsiteY1" fmla="*/ 0 h 4821237"/>
              <a:gd name="connsiteX2" fmla="*/ 6323011 w 6323011"/>
              <a:gd name="connsiteY2" fmla="*/ 226020 h 4821237"/>
              <a:gd name="connsiteX3" fmla="*/ 6323011 w 6323011"/>
              <a:gd name="connsiteY3" fmla="*/ 4595217 h 4821237"/>
              <a:gd name="connsiteX4" fmla="*/ 6106868 w 6323011"/>
              <a:gd name="connsiteY4" fmla="*/ 4821237 h 4821237"/>
              <a:gd name="connsiteX5" fmla="*/ 216144 w 6323011"/>
              <a:gd name="connsiteY5" fmla="*/ 4821237 h 4821237"/>
              <a:gd name="connsiteX6" fmla="*/ 0 w 6323011"/>
              <a:gd name="connsiteY6" fmla="*/ 4595217 h 4821237"/>
              <a:gd name="connsiteX7" fmla="*/ 0 w 6323011"/>
              <a:gd name="connsiteY7" fmla="*/ 226020 h 4821237"/>
              <a:gd name="connsiteX8" fmla="*/ 216144 w 6323011"/>
              <a:gd name="connsiteY8" fmla="*/ 0 h 482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23011" h="4821237">
                <a:moveTo>
                  <a:pt x="216144" y="0"/>
                </a:moveTo>
                <a:lnTo>
                  <a:pt x="6106868" y="0"/>
                </a:lnTo>
                <a:cubicBezTo>
                  <a:pt x="6226240" y="0"/>
                  <a:pt x="6323011" y="101193"/>
                  <a:pt x="6323011" y="226020"/>
                </a:cubicBezTo>
                <a:lnTo>
                  <a:pt x="6323011" y="4595217"/>
                </a:lnTo>
                <a:cubicBezTo>
                  <a:pt x="6323011" y="4720044"/>
                  <a:pt x="6226240" y="4821237"/>
                  <a:pt x="6106868" y="4821237"/>
                </a:cubicBezTo>
                <a:lnTo>
                  <a:pt x="216144" y="4821237"/>
                </a:lnTo>
                <a:cubicBezTo>
                  <a:pt x="96771" y="4821237"/>
                  <a:pt x="0" y="4720044"/>
                  <a:pt x="0" y="4595217"/>
                </a:cubicBezTo>
                <a:lnTo>
                  <a:pt x="0" y="226020"/>
                </a:lnTo>
                <a:cubicBezTo>
                  <a:pt x="0" y="101193"/>
                  <a:pt x="96771" y="0"/>
                  <a:pt x="216144"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
        <p:nvSpPr>
          <p:cNvPr id="8" name="Content Placeholder 7">
            <a:extLst>
              <a:ext uri="{FF2B5EF4-FFF2-40B4-BE49-F238E27FC236}">
                <a16:creationId xmlns:a16="http://schemas.microsoft.com/office/drawing/2014/main" id="{2687B132-0957-367B-F30D-930E7AE467AC}"/>
              </a:ext>
            </a:extLst>
          </p:cNvPr>
          <p:cNvSpPr>
            <a:spLocks noGrp="1"/>
          </p:cNvSpPr>
          <p:nvPr>
            <p:ph sz="quarter" idx="12" hasCustomPrompt="1"/>
          </p:nvPr>
        </p:nvSpPr>
        <p:spPr>
          <a:xfrm>
            <a:off x="6579476" y="1551216"/>
            <a:ext cx="5041021" cy="276999"/>
          </a:xfrm>
        </p:spPr>
        <p:txBody>
          <a:bodyPr/>
          <a:lstStyle>
            <a:lvl1pPr>
              <a:defRPr sz="1800" b="0" i="0">
                <a:latin typeface="+mj-lt"/>
              </a:defRPr>
            </a:lvl1pPr>
          </a:lstStyle>
          <a:p>
            <a:pPr lvl="0"/>
            <a:r>
              <a:rPr lang="en-US"/>
              <a:t>Click to edit title</a:t>
            </a:r>
          </a:p>
        </p:txBody>
      </p:sp>
      <p:sp>
        <p:nvSpPr>
          <p:cNvPr id="10" name="Content Placeholder 9">
            <a:extLst>
              <a:ext uri="{FF2B5EF4-FFF2-40B4-BE49-F238E27FC236}">
                <a16:creationId xmlns:a16="http://schemas.microsoft.com/office/drawing/2014/main" id="{533B4862-490A-D1EC-4DCA-9B6F8DBDD9D9}"/>
              </a:ext>
            </a:extLst>
          </p:cNvPr>
          <p:cNvSpPr>
            <a:spLocks noGrp="1"/>
          </p:cNvSpPr>
          <p:nvPr>
            <p:ph sz="quarter" idx="13"/>
          </p:nvPr>
        </p:nvSpPr>
        <p:spPr>
          <a:xfrm>
            <a:off x="6579476" y="1986933"/>
            <a:ext cx="5041021" cy="3816460"/>
          </a:xfrm>
        </p:spPr>
        <p:txBody>
          <a:bodyPr/>
          <a:lstStyle>
            <a:lvl1pPr>
              <a:defRPr sz="1600"/>
            </a:lvl1pPr>
            <a:lvl2pPr>
              <a:defRPr sz="14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5374D9ED-303D-3F55-2BA5-B085FFA5A05C}"/>
              </a:ext>
            </a:extLst>
          </p:cNvPr>
          <p:cNvCxnSpPr/>
          <p:nvPr userDrawn="1"/>
        </p:nvCxnSpPr>
        <p:spPr>
          <a:xfrm>
            <a:off x="571500" y="1188720"/>
            <a:ext cx="11049000" cy="0"/>
          </a:xfrm>
          <a:prstGeom prst="line">
            <a:avLst/>
          </a:prstGeom>
          <a:ln w="19050" cap="rnd">
            <a:solidFill>
              <a:schemeClr val="accent1">
                <a:lumMod val="20000"/>
                <a:lumOff val="80000"/>
                <a:alpha val="16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19665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eft Image Block Title and Content">
    <p:bg>
      <p:bgPr>
        <a:solidFill>
          <a:schemeClr val="accent6"/>
        </a:solidFill>
        <a:effectLst/>
      </p:bgPr>
    </p:bg>
    <p:spTree>
      <p:nvGrpSpPr>
        <p:cNvPr id="1" name=""/>
        <p:cNvGrpSpPr/>
        <p:nvPr/>
      </p:nvGrpSpPr>
      <p:grpSpPr>
        <a:xfrm>
          <a:off x="0" y="0"/>
          <a:ext cx="0" cy="0"/>
          <a:chOff x="0" y="0"/>
          <a:chExt cx="0" cy="0"/>
        </a:xfrm>
      </p:grpSpPr>
      <p:sp>
        <p:nvSpPr>
          <p:cNvPr id="3" name="Rectangle: Rounded Corners 5">
            <a:extLst>
              <a:ext uri="{FF2B5EF4-FFF2-40B4-BE49-F238E27FC236}">
                <a16:creationId xmlns:a16="http://schemas.microsoft.com/office/drawing/2014/main" id="{76DB91E6-BFE4-D2AE-77E4-719E98349249}"/>
              </a:ext>
            </a:extLst>
          </p:cNvPr>
          <p:cNvSpPr/>
          <p:nvPr userDrawn="1"/>
        </p:nvSpPr>
        <p:spPr bwMode="auto">
          <a:xfrm flipH="1">
            <a:off x="571494" y="1332053"/>
            <a:ext cx="11049001" cy="4520107"/>
          </a:xfrm>
          <a:prstGeom prst="roundRect">
            <a:avLst>
              <a:gd name="adj" fmla="val 5131"/>
            </a:avLst>
          </a:prstGeom>
          <a:solidFill>
            <a:srgbClr val="21205B"/>
          </a:solidFill>
          <a:ln>
            <a:noFill/>
            <a:headEnd type="none" w="med" len="med"/>
            <a:tailEnd type="none" w="med" len="med"/>
          </a:ln>
          <a:effectLst>
            <a:outerShdw blurRad="127000" dist="63500" dir="5400000" algn="t" rotWithShape="0">
              <a:schemeClr val="tx2">
                <a:alpha val="2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b="0" i="0" err="1">
              <a:solidFill>
                <a:schemeClr val="tx1"/>
              </a:solidFill>
              <a:latin typeface="Arial" panose="020B0604020202020204" pitchFamily="34" charset="0"/>
              <a:cs typeface="Segoe UI" pitchFamily="34" charset="0"/>
            </a:endParaRPr>
          </a:p>
        </p:txBody>
      </p:sp>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571500" y="522516"/>
            <a:ext cx="11049000" cy="461665"/>
          </a:xfrm>
        </p:spPr>
        <p:txBody>
          <a:bodyPr/>
          <a:lstStyle>
            <a:lvl1pPr algn="l">
              <a:defRPr/>
            </a:lvl1pPr>
          </a:lstStyle>
          <a:p>
            <a:r>
              <a:rPr lang="en-US"/>
              <a:t>Click to edit Master title style</a:t>
            </a:r>
          </a:p>
        </p:txBody>
      </p:sp>
      <p:sp>
        <p:nvSpPr>
          <p:cNvPr id="4" name="Picture Placeholder 3">
            <a:extLst>
              <a:ext uri="{FF2B5EF4-FFF2-40B4-BE49-F238E27FC236}">
                <a16:creationId xmlns:a16="http://schemas.microsoft.com/office/drawing/2014/main" id="{0CA9CB8C-B65C-9CC6-0AA8-79670999B16A}"/>
              </a:ext>
            </a:extLst>
          </p:cNvPr>
          <p:cNvSpPr>
            <a:spLocks noGrp="1"/>
          </p:cNvSpPr>
          <p:nvPr>
            <p:ph type="pic" sz="quarter" idx="11"/>
          </p:nvPr>
        </p:nvSpPr>
        <p:spPr>
          <a:xfrm>
            <a:off x="571503" y="1332053"/>
            <a:ext cx="6323011" cy="4520107"/>
          </a:xfrm>
          <a:custGeom>
            <a:avLst/>
            <a:gdLst>
              <a:gd name="connsiteX0" fmla="*/ 216144 w 6323011"/>
              <a:gd name="connsiteY0" fmla="*/ 0 h 4821237"/>
              <a:gd name="connsiteX1" fmla="*/ 6106868 w 6323011"/>
              <a:gd name="connsiteY1" fmla="*/ 0 h 4821237"/>
              <a:gd name="connsiteX2" fmla="*/ 6323011 w 6323011"/>
              <a:gd name="connsiteY2" fmla="*/ 226020 h 4821237"/>
              <a:gd name="connsiteX3" fmla="*/ 6323011 w 6323011"/>
              <a:gd name="connsiteY3" fmla="*/ 4595217 h 4821237"/>
              <a:gd name="connsiteX4" fmla="*/ 6106868 w 6323011"/>
              <a:gd name="connsiteY4" fmla="*/ 4821237 h 4821237"/>
              <a:gd name="connsiteX5" fmla="*/ 216144 w 6323011"/>
              <a:gd name="connsiteY5" fmla="*/ 4821237 h 4821237"/>
              <a:gd name="connsiteX6" fmla="*/ 0 w 6323011"/>
              <a:gd name="connsiteY6" fmla="*/ 4595217 h 4821237"/>
              <a:gd name="connsiteX7" fmla="*/ 0 w 6323011"/>
              <a:gd name="connsiteY7" fmla="*/ 226020 h 4821237"/>
              <a:gd name="connsiteX8" fmla="*/ 216144 w 6323011"/>
              <a:gd name="connsiteY8" fmla="*/ 0 h 482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23011" h="4821237">
                <a:moveTo>
                  <a:pt x="216144" y="0"/>
                </a:moveTo>
                <a:lnTo>
                  <a:pt x="6106868" y="0"/>
                </a:lnTo>
                <a:cubicBezTo>
                  <a:pt x="6226240" y="0"/>
                  <a:pt x="6323011" y="101193"/>
                  <a:pt x="6323011" y="226020"/>
                </a:cubicBezTo>
                <a:lnTo>
                  <a:pt x="6323011" y="4595217"/>
                </a:lnTo>
                <a:cubicBezTo>
                  <a:pt x="6323011" y="4720044"/>
                  <a:pt x="6226240" y="4821237"/>
                  <a:pt x="6106868" y="4821237"/>
                </a:cubicBezTo>
                <a:lnTo>
                  <a:pt x="216144" y="4821237"/>
                </a:lnTo>
                <a:cubicBezTo>
                  <a:pt x="96771" y="4821237"/>
                  <a:pt x="0" y="4720044"/>
                  <a:pt x="0" y="4595217"/>
                </a:cubicBezTo>
                <a:lnTo>
                  <a:pt x="0" y="226020"/>
                </a:lnTo>
                <a:cubicBezTo>
                  <a:pt x="0" y="101193"/>
                  <a:pt x="96771" y="0"/>
                  <a:pt x="216144"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
        <p:nvSpPr>
          <p:cNvPr id="8" name="Content Placeholder 7">
            <a:extLst>
              <a:ext uri="{FF2B5EF4-FFF2-40B4-BE49-F238E27FC236}">
                <a16:creationId xmlns:a16="http://schemas.microsoft.com/office/drawing/2014/main" id="{2687B132-0957-367B-F30D-930E7AE467AC}"/>
              </a:ext>
            </a:extLst>
          </p:cNvPr>
          <p:cNvSpPr>
            <a:spLocks noGrp="1"/>
          </p:cNvSpPr>
          <p:nvPr>
            <p:ph sz="quarter" idx="12" hasCustomPrompt="1"/>
          </p:nvPr>
        </p:nvSpPr>
        <p:spPr>
          <a:xfrm>
            <a:off x="7407863" y="1792954"/>
            <a:ext cx="3733800" cy="276999"/>
          </a:xfrm>
        </p:spPr>
        <p:txBody>
          <a:bodyPr/>
          <a:lstStyle>
            <a:lvl1pPr>
              <a:defRPr sz="1800" b="0" i="0">
                <a:latin typeface="+mj-lt"/>
              </a:defRPr>
            </a:lvl1pPr>
          </a:lstStyle>
          <a:p>
            <a:pPr lvl="0"/>
            <a:r>
              <a:rPr lang="en-US"/>
              <a:t>Click to edit title</a:t>
            </a:r>
          </a:p>
        </p:txBody>
      </p:sp>
      <p:sp>
        <p:nvSpPr>
          <p:cNvPr id="10" name="Content Placeholder 9">
            <a:extLst>
              <a:ext uri="{FF2B5EF4-FFF2-40B4-BE49-F238E27FC236}">
                <a16:creationId xmlns:a16="http://schemas.microsoft.com/office/drawing/2014/main" id="{533B4862-490A-D1EC-4DCA-9B6F8DBDD9D9}"/>
              </a:ext>
            </a:extLst>
          </p:cNvPr>
          <p:cNvSpPr>
            <a:spLocks noGrp="1"/>
          </p:cNvSpPr>
          <p:nvPr>
            <p:ph sz="quarter" idx="13"/>
          </p:nvPr>
        </p:nvSpPr>
        <p:spPr>
          <a:xfrm>
            <a:off x="7407863" y="2228671"/>
            <a:ext cx="3733800" cy="3297276"/>
          </a:xfrm>
        </p:spPr>
        <p:txBody>
          <a:bodyPr/>
          <a:lstStyle>
            <a:lvl1pPr>
              <a:defRPr sz="1600"/>
            </a:lvl1pPr>
            <a:lvl2pPr>
              <a:defRPr sz="1400"/>
            </a:lvl2pPr>
            <a:lvl3pPr>
              <a:defRPr sz="11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04023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Four Image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571500" y="522516"/>
            <a:ext cx="11049000" cy="461665"/>
          </a:xfrm>
        </p:spPr>
        <p:txBody>
          <a:bodyPr/>
          <a:lstStyle>
            <a:lvl1pPr algn="l">
              <a:defRPr/>
            </a:lvl1pPr>
          </a:lstStyle>
          <a:p>
            <a:r>
              <a:rPr lang="en-US"/>
              <a:t>Click to edit Master title style</a:t>
            </a:r>
          </a:p>
        </p:txBody>
      </p:sp>
      <p:sp>
        <p:nvSpPr>
          <p:cNvPr id="4" name="Picture Placeholder 3">
            <a:extLst>
              <a:ext uri="{FF2B5EF4-FFF2-40B4-BE49-F238E27FC236}">
                <a16:creationId xmlns:a16="http://schemas.microsoft.com/office/drawing/2014/main" id="{A1B1D1B0-30C3-59F9-8A14-1FD2DA9F16C0}"/>
              </a:ext>
            </a:extLst>
          </p:cNvPr>
          <p:cNvSpPr>
            <a:spLocks noGrp="1"/>
          </p:cNvSpPr>
          <p:nvPr>
            <p:ph type="pic" sz="quarter" idx="11"/>
          </p:nvPr>
        </p:nvSpPr>
        <p:spPr>
          <a:xfrm>
            <a:off x="716736" y="1469577"/>
            <a:ext cx="2260640" cy="2260694"/>
          </a:xfrm>
          <a:custGeom>
            <a:avLst/>
            <a:gdLst>
              <a:gd name="connsiteX0" fmla="*/ 112783 w 2260640"/>
              <a:gd name="connsiteY0" fmla="*/ 0 h 2260694"/>
              <a:gd name="connsiteX1" fmla="*/ 2147857 w 2260640"/>
              <a:gd name="connsiteY1" fmla="*/ 0 h 2260694"/>
              <a:gd name="connsiteX2" fmla="*/ 2260640 w 2260640"/>
              <a:gd name="connsiteY2" fmla="*/ 112783 h 2260694"/>
              <a:gd name="connsiteX3" fmla="*/ 2260640 w 2260640"/>
              <a:gd name="connsiteY3" fmla="*/ 2147911 h 2260694"/>
              <a:gd name="connsiteX4" fmla="*/ 2147857 w 2260640"/>
              <a:gd name="connsiteY4" fmla="*/ 2260694 h 2260694"/>
              <a:gd name="connsiteX5" fmla="*/ 112783 w 2260640"/>
              <a:gd name="connsiteY5" fmla="*/ 2260694 h 2260694"/>
              <a:gd name="connsiteX6" fmla="*/ 0 w 2260640"/>
              <a:gd name="connsiteY6" fmla="*/ 2147911 h 2260694"/>
              <a:gd name="connsiteX7" fmla="*/ 0 w 2260640"/>
              <a:gd name="connsiteY7" fmla="*/ 112783 h 2260694"/>
              <a:gd name="connsiteX8" fmla="*/ 112783 w 2260640"/>
              <a:gd name="connsiteY8" fmla="*/ 0 h 2260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0640" h="2260694">
                <a:moveTo>
                  <a:pt x="112783" y="0"/>
                </a:moveTo>
                <a:lnTo>
                  <a:pt x="2147857" y="0"/>
                </a:lnTo>
                <a:cubicBezTo>
                  <a:pt x="2210145" y="0"/>
                  <a:pt x="2260640" y="50495"/>
                  <a:pt x="2260640" y="112783"/>
                </a:cubicBezTo>
                <a:lnTo>
                  <a:pt x="2260640" y="2147911"/>
                </a:lnTo>
                <a:cubicBezTo>
                  <a:pt x="2260640" y="2210199"/>
                  <a:pt x="2210145" y="2260694"/>
                  <a:pt x="2147857" y="2260694"/>
                </a:cubicBezTo>
                <a:lnTo>
                  <a:pt x="112783" y="2260694"/>
                </a:lnTo>
                <a:cubicBezTo>
                  <a:pt x="50495" y="2260694"/>
                  <a:pt x="0" y="2210199"/>
                  <a:pt x="0" y="2147911"/>
                </a:cubicBezTo>
                <a:lnTo>
                  <a:pt x="0" y="112783"/>
                </a:lnTo>
                <a:cubicBezTo>
                  <a:pt x="0" y="50495"/>
                  <a:pt x="50495" y="0"/>
                  <a:pt x="112783"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
        <p:nvSpPr>
          <p:cNvPr id="5" name="Picture Placeholder 4">
            <a:extLst>
              <a:ext uri="{FF2B5EF4-FFF2-40B4-BE49-F238E27FC236}">
                <a16:creationId xmlns:a16="http://schemas.microsoft.com/office/drawing/2014/main" id="{E95D238B-F1CF-E104-0863-3EAF3AB3F7B5}"/>
              </a:ext>
            </a:extLst>
          </p:cNvPr>
          <p:cNvSpPr>
            <a:spLocks noGrp="1"/>
          </p:cNvSpPr>
          <p:nvPr>
            <p:ph type="pic" sz="quarter" idx="12"/>
          </p:nvPr>
        </p:nvSpPr>
        <p:spPr>
          <a:xfrm>
            <a:off x="3549366" y="1469577"/>
            <a:ext cx="2260640" cy="2260694"/>
          </a:xfrm>
          <a:custGeom>
            <a:avLst/>
            <a:gdLst>
              <a:gd name="connsiteX0" fmla="*/ 112783 w 2260640"/>
              <a:gd name="connsiteY0" fmla="*/ 0 h 2260694"/>
              <a:gd name="connsiteX1" fmla="*/ 2147857 w 2260640"/>
              <a:gd name="connsiteY1" fmla="*/ 0 h 2260694"/>
              <a:gd name="connsiteX2" fmla="*/ 2260640 w 2260640"/>
              <a:gd name="connsiteY2" fmla="*/ 112783 h 2260694"/>
              <a:gd name="connsiteX3" fmla="*/ 2260640 w 2260640"/>
              <a:gd name="connsiteY3" fmla="*/ 2147911 h 2260694"/>
              <a:gd name="connsiteX4" fmla="*/ 2147857 w 2260640"/>
              <a:gd name="connsiteY4" fmla="*/ 2260694 h 2260694"/>
              <a:gd name="connsiteX5" fmla="*/ 112783 w 2260640"/>
              <a:gd name="connsiteY5" fmla="*/ 2260694 h 2260694"/>
              <a:gd name="connsiteX6" fmla="*/ 0 w 2260640"/>
              <a:gd name="connsiteY6" fmla="*/ 2147911 h 2260694"/>
              <a:gd name="connsiteX7" fmla="*/ 0 w 2260640"/>
              <a:gd name="connsiteY7" fmla="*/ 112783 h 2260694"/>
              <a:gd name="connsiteX8" fmla="*/ 112783 w 2260640"/>
              <a:gd name="connsiteY8" fmla="*/ 0 h 2260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0640" h="2260694">
                <a:moveTo>
                  <a:pt x="112783" y="0"/>
                </a:moveTo>
                <a:lnTo>
                  <a:pt x="2147857" y="0"/>
                </a:lnTo>
                <a:cubicBezTo>
                  <a:pt x="2210145" y="0"/>
                  <a:pt x="2260640" y="50495"/>
                  <a:pt x="2260640" y="112783"/>
                </a:cubicBezTo>
                <a:lnTo>
                  <a:pt x="2260640" y="2147911"/>
                </a:lnTo>
                <a:cubicBezTo>
                  <a:pt x="2260640" y="2210199"/>
                  <a:pt x="2210145" y="2260694"/>
                  <a:pt x="2147857" y="2260694"/>
                </a:cubicBezTo>
                <a:lnTo>
                  <a:pt x="112783" y="2260694"/>
                </a:lnTo>
                <a:cubicBezTo>
                  <a:pt x="50495" y="2260694"/>
                  <a:pt x="0" y="2210199"/>
                  <a:pt x="0" y="2147911"/>
                </a:cubicBezTo>
                <a:lnTo>
                  <a:pt x="0" y="112783"/>
                </a:lnTo>
                <a:cubicBezTo>
                  <a:pt x="0" y="50495"/>
                  <a:pt x="50495" y="0"/>
                  <a:pt x="112783"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
        <p:nvSpPr>
          <p:cNvPr id="6" name="Picture Placeholder 5">
            <a:extLst>
              <a:ext uri="{FF2B5EF4-FFF2-40B4-BE49-F238E27FC236}">
                <a16:creationId xmlns:a16="http://schemas.microsoft.com/office/drawing/2014/main" id="{EA5F8677-2124-6F46-DA5F-96D958620A00}"/>
              </a:ext>
            </a:extLst>
          </p:cNvPr>
          <p:cNvSpPr>
            <a:spLocks noGrp="1"/>
          </p:cNvSpPr>
          <p:nvPr>
            <p:ph type="pic" sz="quarter" idx="13"/>
          </p:nvPr>
        </p:nvSpPr>
        <p:spPr>
          <a:xfrm>
            <a:off x="6381996" y="1469577"/>
            <a:ext cx="2260640" cy="2260694"/>
          </a:xfrm>
          <a:custGeom>
            <a:avLst/>
            <a:gdLst>
              <a:gd name="connsiteX0" fmla="*/ 112783 w 2260640"/>
              <a:gd name="connsiteY0" fmla="*/ 0 h 2260694"/>
              <a:gd name="connsiteX1" fmla="*/ 2147857 w 2260640"/>
              <a:gd name="connsiteY1" fmla="*/ 0 h 2260694"/>
              <a:gd name="connsiteX2" fmla="*/ 2260640 w 2260640"/>
              <a:gd name="connsiteY2" fmla="*/ 112783 h 2260694"/>
              <a:gd name="connsiteX3" fmla="*/ 2260640 w 2260640"/>
              <a:gd name="connsiteY3" fmla="*/ 2147911 h 2260694"/>
              <a:gd name="connsiteX4" fmla="*/ 2147857 w 2260640"/>
              <a:gd name="connsiteY4" fmla="*/ 2260694 h 2260694"/>
              <a:gd name="connsiteX5" fmla="*/ 112783 w 2260640"/>
              <a:gd name="connsiteY5" fmla="*/ 2260694 h 2260694"/>
              <a:gd name="connsiteX6" fmla="*/ 0 w 2260640"/>
              <a:gd name="connsiteY6" fmla="*/ 2147911 h 2260694"/>
              <a:gd name="connsiteX7" fmla="*/ 0 w 2260640"/>
              <a:gd name="connsiteY7" fmla="*/ 112783 h 2260694"/>
              <a:gd name="connsiteX8" fmla="*/ 112783 w 2260640"/>
              <a:gd name="connsiteY8" fmla="*/ 0 h 2260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0640" h="2260694">
                <a:moveTo>
                  <a:pt x="112783" y="0"/>
                </a:moveTo>
                <a:lnTo>
                  <a:pt x="2147857" y="0"/>
                </a:lnTo>
                <a:cubicBezTo>
                  <a:pt x="2210145" y="0"/>
                  <a:pt x="2260640" y="50495"/>
                  <a:pt x="2260640" y="112783"/>
                </a:cubicBezTo>
                <a:lnTo>
                  <a:pt x="2260640" y="2147911"/>
                </a:lnTo>
                <a:cubicBezTo>
                  <a:pt x="2260640" y="2210199"/>
                  <a:pt x="2210145" y="2260694"/>
                  <a:pt x="2147857" y="2260694"/>
                </a:cubicBezTo>
                <a:lnTo>
                  <a:pt x="112783" y="2260694"/>
                </a:lnTo>
                <a:cubicBezTo>
                  <a:pt x="50495" y="2260694"/>
                  <a:pt x="0" y="2210199"/>
                  <a:pt x="0" y="2147911"/>
                </a:cubicBezTo>
                <a:lnTo>
                  <a:pt x="0" y="112783"/>
                </a:lnTo>
                <a:cubicBezTo>
                  <a:pt x="0" y="50495"/>
                  <a:pt x="50495" y="0"/>
                  <a:pt x="112783"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
        <p:nvSpPr>
          <p:cNvPr id="7" name="Picture Placeholder 6">
            <a:extLst>
              <a:ext uri="{FF2B5EF4-FFF2-40B4-BE49-F238E27FC236}">
                <a16:creationId xmlns:a16="http://schemas.microsoft.com/office/drawing/2014/main" id="{E8E48410-08C4-CDA2-7BBA-EFC1A0EC7C6D}"/>
              </a:ext>
            </a:extLst>
          </p:cNvPr>
          <p:cNvSpPr>
            <a:spLocks noGrp="1"/>
          </p:cNvSpPr>
          <p:nvPr>
            <p:ph type="pic" sz="quarter" idx="14"/>
          </p:nvPr>
        </p:nvSpPr>
        <p:spPr>
          <a:xfrm>
            <a:off x="9214626" y="1469577"/>
            <a:ext cx="2260640" cy="2260694"/>
          </a:xfrm>
          <a:custGeom>
            <a:avLst/>
            <a:gdLst>
              <a:gd name="connsiteX0" fmla="*/ 112783 w 2260640"/>
              <a:gd name="connsiteY0" fmla="*/ 0 h 2260694"/>
              <a:gd name="connsiteX1" fmla="*/ 2147857 w 2260640"/>
              <a:gd name="connsiteY1" fmla="*/ 0 h 2260694"/>
              <a:gd name="connsiteX2" fmla="*/ 2260640 w 2260640"/>
              <a:gd name="connsiteY2" fmla="*/ 112783 h 2260694"/>
              <a:gd name="connsiteX3" fmla="*/ 2260640 w 2260640"/>
              <a:gd name="connsiteY3" fmla="*/ 2147911 h 2260694"/>
              <a:gd name="connsiteX4" fmla="*/ 2147857 w 2260640"/>
              <a:gd name="connsiteY4" fmla="*/ 2260694 h 2260694"/>
              <a:gd name="connsiteX5" fmla="*/ 112783 w 2260640"/>
              <a:gd name="connsiteY5" fmla="*/ 2260694 h 2260694"/>
              <a:gd name="connsiteX6" fmla="*/ 0 w 2260640"/>
              <a:gd name="connsiteY6" fmla="*/ 2147911 h 2260694"/>
              <a:gd name="connsiteX7" fmla="*/ 0 w 2260640"/>
              <a:gd name="connsiteY7" fmla="*/ 112783 h 2260694"/>
              <a:gd name="connsiteX8" fmla="*/ 112783 w 2260640"/>
              <a:gd name="connsiteY8" fmla="*/ 0 h 2260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0640" h="2260694">
                <a:moveTo>
                  <a:pt x="112783" y="0"/>
                </a:moveTo>
                <a:lnTo>
                  <a:pt x="2147857" y="0"/>
                </a:lnTo>
                <a:cubicBezTo>
                  <a:pt x="2210145" y="0"/>
                  <a:pt x="2260640" y="50495"/>
                  <a:pt x="2260640" y="112783"/>
                </a:cubicBezTo>
                <a:lnTo>
                  <a:pt x="2260640" y="2147911"/>
                </a:lnTo>
                <a:cubicBezTo>
                  <a:pt x="2260640" y="2210199"/>
                  <a:pt x="2210145" y="2260694"/>
                  <a:pt x="2147857" y="2260694"/>
                </a:cubicBezTo>
                <a:lnTo>
                  <a:pt x="112783" y="2260694"/>
                </a:lnTo>
                <a:cubicBezTo>
                  <a:pt x="50495" y="2260694"/>
                  <a:pt x="0" y="2210199"/>
                  <a:pt x="0" y="2147911"/>
                </a:cubicBezTo>
                <a:lnTo>
                  <a:pt x="0" y="112783"/>
                </a:lnTo>
                <a:cubicBezTo>
                  <a:pt x="0" y="50495"/>
                  <a:pt x="50495" y="0"/>
                  <a:pt x="112783"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Tree>
    <p:extLst>
      <p:ext uri="{BB962C8B-B14F-4D97-AF65-F5344CB8AC3E}">
        <p14:creationId xmlns:p14="http://schemas.microsoft.com/office/powerpoint/2010/main" val="4621277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ottom Image 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571500" y="522516"/>
            <a:ext cx="11049000" cy="461665"/>
          </a:xfrm>
        </p:spPr>
        <p:txBody>
          <a:bodyPr/>
          <a:lstStyle>
            <a:lvl1pPr algn="l">
              <a:defRPr/>
            </a:lvl1pPr>
          </a:lstStyle>
          <a:p>
            <a:r>
              <a:rPr lang="en-US"/>
              <a:t>Click to edit Master title style</a:t>
            </a:r>
          </a:p>
        </p:txBody>
      </p:sp>
      <p:sp>
        <p:nvSpPr>
          <p:cNvPr id="4" name="Picture Placeholder 3">
            <a:extLst>
              <a:ext uri="{FF2B5EF4-FFF2-40B4-BE49-F238E27FC236}">
                <a16:creationId xmlns:a16="http://schemas.microsoft.com/office/drawing/2014/main" id="{8B971855-D659-8377-00AC-68111439486A}"/>
              </a:ext>
            </a:extLst>
          </p:cNvPr>
          <p:cNvSpPr>
            <a:spLocks noGrp="1"/>
          </p:cNvSpPr>
          <p:nvPr>
            <p:ph type="pic" sz="quarter" idx="11"/>
          </p:nvPr>
        </p:nvSpPr>
        <p:spPr>
          <a:xfrm>
            <a:off x="571500" y="3340415"/>
            <a:ext cx="11049000" cy="2552703"/>
          </a:xfrm>
          <a:custGeom>
            <a:avLst/>
            <a:gdLst>
              <a:gd name="connsiteX0" fmla="*/ 184150 w 11049000"/>
              <a:gd name="connsiteY0" fmla="*/ 0 h 2802890"/>
              <a:gd name="connsiteX1" fmla="*/ 10864850 w 11049000"/>
              <a:gd name="connsiteY1" fmla="*/ 0 h 2802890"/>
              <a:gd name="connsiteX2" fmla="*/ 11049000 w 11049000"/>
              <a:gd name="connsiteY2" fmla="*/ 184150 h 2802890"/>
              <a:gd name="connsiteX3" fmla="*/ 11049000 w 11049000"/>
              <a:gd name="connsiteY3" fmla="*/ 1991360 h 2802890"/>
              <a:gd name="connsiteX4" fmla="*/ 10882630 w 11049000"/>
              <a:gd name="connsiteY4" fmla="*/ 2095500 h 2802890"/>
              <a:gd name="connsiteX5" fmla="*/ 10671810 w 11049000"/>
              <a:gd name="connsiteY5" fmla="*/ 2061210 h 2802890"/>
              <a:gd name="connsiteX6" fmla="*/ 10307320 w 11049000"/>
              <a:gd name="connsiteY6" fmla="*/ 2425700 h 2802890"/>
              <a:gd name="connsiteX7" fmla="*/ 10340340 w 11049000"/>
              <a:gd name="connsiteY7" fmla="*/ 2636520 h 2802890"/>
              <a:gd name="connsiteX8" fmla="*/ 10236200 w 11049000"/>
              <a:gd name="connsiteY8" fmla="*/ 2802890 h 2802890"/>
              <a:gd name="connsiteX9" fmla="*/ 184150 w 11049000"/>
              <a:gd name="connsiteY9" fmla="*/ 2802890 h 2802890"/>
              <a:gd name="connsiteX10" fmla="*/ 0 w 11049000"/>
              <a:gd name="connsiteY10" fmla="*/ 2618740 h 2802890"/>
              <a:gd name="connsiteX11" fmla="*/ 0 w 11049000"/>
              <a:gd name="connsiteY11" fmla="*/ 184150 h 2802890"/>
              <a:gd name="connsiteX12" fmla="*/ 184150 w 11049000"/>
              <a:gd name="connsiteY12" fmla="*/ 0 h 2802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49000" h="2802890">
                <a:moveTo>
                  <a:pt x="184150" y="0"/>
                </a:moveTo>
                <a:lnTo>
                  <a:pt x="10864850" y="0"/>
                </a:lnTo>
                <a:cubicBezTo>
                  <a:pt x="10966450" y="0"/>
                  <a:pt x="11049000" y="82550"/>
                  <a:pt x="11049000" y="184150"/>
                </a:cubicBezTo>
                <a:lnTo>
                  <a:pt x="11049000" y="1991360"/>
                </a:lnTo>
                <a:cubicBezTo>
                  <a:pt x="11049000" y="2076450"/>
                  <a:pt x="10960100" y="2131060"/>
                  <a:pt x="10882630" y="2095500"/>
                </a:cubicBezTo>
                <a:cubicBezTo>
                  <a:pt x="10819130" y="2066290"/>
                  <a:pt x="10746740" y="2053590"/>
                  <a:pt x="10671810" y="2061210"/>
                </a:cubicBezTo>
                <a:cubicBezTo>
                  <a:pt x="10481310" y="2080260"/>
                  <a:pt x="10326370" y="2233930"/>
                  <a:pt x="10307320" y="2425700"/>
                </a:cubicBezTo>
                <a:cubicBezTo>
                  <a:pt x="10299700" y="2501900"/>
                  <a:pt x="10312400" y="2573020"/>
                  <a:pt x="10340340" y="2636520"/>
                </a:cubicBezTo>
                <a:cubicBezTo>
                  <a:pt x="10375900" y="2715260"/>
                  <a:pt x="10321290" y="2802890"/>
                  <a:pt x="10236200" y="2802890"/>
                </a:cubicBezTo>
                <a:lnTo>
                  <a:pt x="184150" y="2802890"/>
                </a:lnTo>
                <a:cubicBezTo>
                  <a:pt x="82550" y="2802890"/>
                  <a:pt x="0" y="2720340"/>
                  <a:pt x="0" y="2618740"/>
                </a:cubicBezTo>
                <a:lnTo>
                  <a:pt x="0" y="184150"/>
                </a:lnTo>
                <a:cubicBezTo>
                  <a:pt x="0" y="82550"/>
                  <a:pt x="82550" y="0"/>
                  <a:pt x="184150"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
        <p:nvSpPr>
          <p:cNvPr id="5" name="Text Placeholder">
            <a:extLst>
              <a:ext uri="{FF2B5EF4-FFF2-40B4-BE49-F238E27FC236}">
                <a16:creationId xmlns:a16="http://schemas.microsoft.com/office/drawing/2014/main" id="{CB7D7FFD-E786-3FFB-64E0-3DA2BCF4CB64}"/>
              </a:ext>
            </a:extLst>
          </p:cNvPr>
          <p:cNvSpPr>
            <a:spLocks noGrp="1"/>
          </p:cNvSpPr>
          <p:nvPr>
            <p:ph idx="1"/>
          </p:nvPr>
        </p:nvSpPr>
        <p:spPr>
          <a:xfrm>
            <a:off x="571500" y="1435503"/>
            <a:ext cx="11043920" cy="148963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77065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ttom Image Titl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571500" y="522516"/>
            <a:ext cx="11049000" cy="461665"/>
          </a:xfrm>
        </p:spPr>
        <p:txBody>
          <a:bodyPr/>
          <a:lstStyle>
            <a:lvl1pPr algn="l">
              <a:defRPr/>
            </a:lvl1pPr>
          </a:lstStyle>
          <a:p>
            <a:r>
              <a:rPr lang="en-US"/>
              <a:t>Click to edit Master title style</a:t>
            </a:r>
          </a:p>
        </p:txBody>
      </p:sp>
      <p:sp>
        <p:nvSpPr>
          <p:cNvPr id="4" name="Picture Placeholder 3">
            <a:extLst>
              <a:ext uri="{FF2B5EF4-FFF2-40B4-BE49-F238E27FC236}">
                <a16:creationId xmlns:a16="http://schemas.microsoft.com/office/drawing/2014/main" id="{8B971855-D659-8377-00AC-68111439486A}"/>
              </a:ext>
            </a:extLst>
          </p:cNvPr>
          <p:cNvSpPr>
            <a:spLocks noGrp="1"/>
          </p:cNvSpPr>
          <p:nvPr>
            <p:ph type="pic" sz="quarter" idx="11"/>
          </p:nvPr>
        </p:nvSpPr>
        <p:spPr>
          <a:xfrm>
            <a:off x="571500" y="3340415"/>
            <a:ext cx="11049000" cy="2552703"/>
          </a:xfrm>
          <a:custGeom>
            <a:avLst/>
            <a:gdLst>
              <a:gd name="connsiteX0" fmla="*/ 184150 w 11049000"/>
              <a:gd name="connsiteY0" fmla="*/ 0 h 2802890"/>
              <a:gd name="connsiteX1" fmla="*/ 10864850 w 11049000"/>
              <a:gd name="connsiteY1" fmla="*/ 0 h 2802890"/>
              <a:gd name="connsiteX2" fmla="*/ 11049000 w 11049000"/>
              <a:gd name="connsiteY2" fmla="*/ 184150 h 2802890"/>
              <a:gd name="connsiteX3" fmla="*/ 11049000 w 11049000"/>
              <a:gd name="connsiteY3" fmla="*/ 1991360 h 2802890"/>
              <a:gd name="connsiteX4" fmla="*/ 10882630 w 11049000"/>
              <a:gd name="connsiteY4" fmla="*/ 2095500 h 2802890"/>
              <a:gd name="connsiteX5" fmla="*/ 10671810 w 11049000"/>
              <a:gd name="connsiteY5" fmla="*/ 2061210 h 2802890"/>
              <a:gd name="connsiteX6" fmla="*/ 10307320 w 11049000"/>
              <a:gd name="connsiteY6" fmla="*/ 2425700 h 2802890"/>
              <a:gd name="connsiteX7" fmla="*/ 10340340 w 11049000"/>
              <a:gd name="connsiteY7" fmla="*/ 2636520 h 2802890"/>
              <a:gd name="connsiteX8" fmla="*/ 10236200 w 11049000"/>
              <a:gd name="connsiteY8" fmla="*/ 2802890 h 2802890"/>
              <a:gd name="connsiteX9" fmla="*/ 184150 w 11049000"/>
              <a:gd name="connsiteY9" fmla="*/ 2802890 h 2802890"/>
              <a:gd name="connsiteX10" fmla="*/ 0 w 11049000"/>
              <a:gd name="connsiteY10" fmla="*/ 2618740 h 2802890"/>
              <a:gd name="connsiteX11" fmla="*/ 0 w 11049000"/>
              <a:gd name="connsiteY11" fmla="*/ 184150 h 2802890"/>
              <a:gd name="connsiteX12" fmla="*/ 184150 w 11049000"/>
              <a:gd name="connsiteY12" fmla="*/ 0 h 2802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49000" h="2802890">
                <a:moveTo>
                  <a:pt x="184150" y="0"/>
                </a:moveTo>
                <a:lnTo>
                  <a:pt x="10864850" y="0"/>
                </a:lnTo>
                <a:cubicBezTo>
                  <a:pt x="10966450" y="0"/>
                  <a:pt x="11049000" y="82550"/>
                  <a:pt x="11049000" y="184150"/>
                </a:cubicBezTo>
                <a:lnTo>
                  <a:pt x="11049000" y="1991360"/>
                </a:lnTo>
                <a:cubicBezTo>
                  <a:pt x="11049000" y="2076450"/>
                  <a:pt x="10960100" y="2131060"/>
                  <a:pt x="10882630" y="2095500"/>
                </a:cubicBezTo>
                <a:cubicBezTo>
                  <a:pt x="10819130" y="2066290"/>
                  <a:pt x="10746740" y="2053590"/>
                  <a:pt x="10671810" y="2061210"/>
                </a:cubicBezTo>
                <a:cubicBezTo>
                  <a:pt x="10481310" y="2080260"/>
                  <a:pt x="10326370" y="2233930"/>
                  <a:pt x="10307320" y="2425700"/>
                </a:cubicBezTo>
                <a:cubicBezTo>
                  <a:pt x="10299700" y="2501900"/>
                  <a:pt x="10312400" y="2573020"/>
                  <a:pt x="10340340" y="2636520"/>
                </a:cubicBezTo>
                <a:cubicBezTo>
                  <a:pt x="10375900" y="2715260"/>
                  <a:pt x="10321290" y="2802890"/>
                  <a:pt x="10236200" y="2802890"/>
                </a:cubicBezTo>
                <a:lnTo>
                  <a:pt x="184150" y="2802890"/>
                </a:lnTo>
                <a:cubicBezTo>
                  <a:pt x="82550" y="2802890"/>
                  <a:pt x="0" y="2720340"/>
                  <a:pt x="0" y="2618740"/>
                </a:cubicBezTo>
                <a:lnTo>
                  <a:pt x="0" y="184150"/>
                </a:lnTo>
                <a:cubicBezTo>
                  <a:pt x="0" y="82550"/>
                  <a:pt x="82550" y="0"/>
                  <a:pt x="184150"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Tree>
    <p:extLst>
      <p:ext uri="{BB962C8B-B14F-4D97-AF65-F5344CB8AC3E}">
        <p14:creationId xmlns:p14="http://schemas.microsoft.com/office/powerpoint/2010/main" val="33047192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shot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571500" y="522516"/>
            <a:ext cx="11049000" cy="461665"/>
          </a:xfrm>
        </p:spPr>
        <p:txBody>
          <a:bodyPr/>
          <a:lstStyle>
            <a:lvl1pPr algn="l">
              <a:defRPr/>
            </a:lvl1pPr>
          </a:lstStyle>
          <a:p>
            <a:r>
              <a:rPr lang="en-US"/>
              <a:t>Click to edit Master title style</a:t>
            </a:r>
          </a:p>
        </p:txBody>
      </p:sp>
      <p:sp>
        <p:nvSpPr>
          <p:cNvPr id="3" name="Picture Placeholder 3">
            <a:extLst>
              <a:ext uri="{FF2B5EF4-FFF2-40B4-BE49-F238E27FC236}">
                <a16:creationId xmlns:a16="http://schemas.microsoft.com/office/drawing/2014/main" id="{10ACDB1A-6EAD-7AEA-6EEA-F045D4745DBA}"/>
              </a:ext>
            </a:extLst>
          </p:cNvPr>
          <p:cNvSpPr>
            <a:spLocks noGrp="1"/>
          </p:cNvSpPr>
          <p:nvPr>
            <p:ph type="pic" sz="quarter" idx="11"/>
          </p:nvPr>
        </p:nvSpPr>
        <p:spPr>
          <a:xfrm>
            <a:off x="716736" y="1469577"/>
            <a:ext cx="2260640" cy="2260694"/>
          </a:xfrm>
          <a:custGeom>
            <a:avLst/>
            <a:gdLst>
              <a:gd name="connsiteX0" fmla="*/ 112783 w 2260640"/>
              <a:gd name="connsiteY0" fmla="*/ 0 h 2260694"/>
              <a:gd name="connsiteX1" fmla="*/ 2147857 w 2260640"/>
              <a:gd name="connsiteY1" fmla="*/ 0 h 2260694"/>
              <a:gd name="connsiteX2" fmla="*/ 2260640 w 2260640"/>
              <a:gd name="connsiteY2" fmla="*/ 112783 h 2260694"/>
              <a:gd name="connsiteX3" fmla="*/ 2260640 w 2260640"/>
              <a:gd name="connsiteY3" fmla="*/ 2147911 h 2260694"/>
              <a:gd name="connsiteX4" fmla="*/ 2147857 w 2260640"/>
              <a:gd name="connsiteY4" fmla="*/ 2260694 h 2260694"/>
              <a:gd name="connsiteX5" fmla="*/ 112783 w 2260640"/>
              <a:gd name="connsiteY5" fmla="*/ 2260694 h 2260694"/>
              <a:gd name="connsiteX6" fmla="*/ 0 w 2260640"/>
              <a:gd name="connsiteY6" fmla="*/ 2147911 h 2260694"/>
              <a:gd name="connsiteX7" fmla="*/ 0 w 2260640"/>
              <a:gd name="connsiteY7" fmla="*/ 112783 h 2260694"/>
              <a:gd name="connsiteX8" fmla="*/ 112783 w 2260640"/>
              <a:gd name="connsiteY8" fmla="*/ 0 h 2260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0640" h="2260694">
                <a:moveTo>
                  <a:pt x="112783" y="0"/>
                </a:moveTo>
                <a:lnTo>
                  <a:pt x="2147857" y="0"/>
                </a:lnTo>
                <a:cubicBezTo>
                  <a:pt x="2210145" y="0"/>
                  <a:pt x="2260640" y="50495"/>
                  <a:pt x="2260640" y="112783"/>
                </a:cubicBezTo>
                <a:lnTo>
                  <a:pt x="2260640" y="2147911"/>
                </a:lnTo>
                <a:cubicBezTo>
                  <a:pt x="2260640" y="2210199"/>
                  <a:pt x="2210145" y="2260694"/>
                  <a:pt x="2147857" y="2260694"/>
                </a:cubicBezTo>
                <a:lnTo>
                  <a:pt x="112783" y="2260694"/>
                </a:lnTo>
                <a:cubicBezTo>
                  <a:pt x="50495" y="2260694"/>
                  <a:pt x="0" y="2210199"/>
                  <a:pt x="0" y="2147911"/>
                </a:cubicBezTo>
                <a:lnTo>
                  <a:pt x="0" y="112783"/>
                </a:lnTo>
                <a:cubicBezTo>
                  <a:pt x="0" y="50495"/>
                  <a:pt x="50495" y="0"/>
                  <a:pt x="112783"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
        <p:nvSpPr>
          <p:cNvPr id="5" name="Picture Placeholder 4">
            <a:extLst>
              <a:ext uri="{FF2B5EF4-FFF2-40B4-BE49-F238E27FC236}">
                <a16:creationId xmlns:a16="http://schemas.microsoft.com/office/drawing/2014/main" id="{5CB83C80-C48B-9AC3-B419-7320D738A8B7}"/>
              </a:ext>
            </a:extLst>
          </p:cNvPr>
          <p:cNvSpPr>
            <a:spLocks noGrp="1"/>
          </p:cNvSpPr>
          <p:nvPr>
            <p:ph type="pic" sz="quarter" idx="12"/>
          </p:nvPr>
        </p:nvSpPr>
        <p:spPr>
          <a:xfrm>
            <a:off x="3549366" y="1469577"/>
            <a:ext cx="2260640" cy="2260694"/>
          </a:xfrm>
          <a:custGeom>
            <a:avLst/>
            <a:gdLst>
              <a:gd name="connsiteX0" fmla="*/ 112783 w 2260640"/>
              <a:gd name="connsiteY0" fmla="*/ 0 h 2260694"/>
              <a:gd name="connsiteX1" fmla="*/ 2147857 w 2260640"/>
              <a:gd name="connsiteY1" fmla="*/ 0 h 2260694"/>
              <a:gd name="connsiteX2" fmla="*/ 2260640 w 2260640"/>
              <a:gd name="connsiteY2" fmla="*/ 112783 h 2260694"/>
              <a:gd name="connsiteX3" fmla="*/ 2260640 w 2260640"/>
              <a:gd name="connsiteY3" fmla="*/ 2147911 h 2260694"/>
              <a:gd name="connsiteX4" fmla="*/ 2147857 w 2260640"/>
              <a:gd name="connsiteY4" fmla="*/ 2260694 h 2260694"/>
              <a:gd name="connsiteX5" fmla="*/ 112783 w 2260640"/>
              <a:gd name="connsiteY5" fmla="*/ 2260694 h 2260694"/>
              <a:gd name="connsiteX6" fmla="*/ 0 w 2260640"/>
              <a:gd name="connsiteY6" fmla="*/ 2147911 h 2260694"/>
              <a:gd name="connsiteX7" fmla="*/ 0 w 2260640"/>
              <a:gd name="connsiteY7" fmla="*/ 112783 h 2260694"/>
              <a:gd name="connsiteX8" fmla="*/ 112783 w 2260640"/>
              <a:gd name="connsiteY8" fmla="*/ 0 h 2260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0640" h="2260694">
                <a:moveTo>
                  <a:pt x="112783" y="0"/>
                </a:moveTo>
                <a:lnTo>
                  <a:pt x="2147857" y="0"/>
                </a:lnTo>
                <a:cubicBezTo>
                  <a:pt x="2210145" y="0"/>
                  <a:pt x="2260640" y="50495"/>
                  <a:pt x="2260640" y="112783"/>
                </a:cubicBezTo>
                <a:lnTo>
                  <a:pt x="2260640" y="2147911"/>
                </a:lnTo>
                <a:cubicBezTo>
                  <a:pt x="2260640" y="2210199"/>
                  <a:pt x="2210145" y="2260694"/>
                  <a:pt x="2147857" y="2260694"/>
                </a:cubicBezTo>
                <a:lnTo>
                  <a:pt x="112783" y="2260694"/>
                </a:lnTo>
                <a:cubicBezTo>
                  <a:pt x="50495" y="2260694"/>
                  <a:pt x="0" y="2210199"/>
                  <a:pt x="0" y="2147911"/>
                </a:cubicBezTo>
                <a:lnTo>
                  <a:pt x="0" y="112783"/>
                </a:lnTo>
                <a:cubicBezTo>
                  <a:pt x="0" y="50495"/>
                  <a:pt x="50495" y="0"/>
                  <a:pt x="112783"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
        <p:nvSpPr>
          <p:cNvPr id="7" name="Picture Placeholder 5">
            <a:extLst>
              <a:ext uri="{FF2B5EF4-FFF2-40B4-BE49-F238E27FC236}">
                <a16:creationId xmlns:a16="http://schemas.microsoft.com/office/drawing/2014/main" id="{D2A3FC0E-D83D-D53F-8627-4DC335949702}"/>
              </a:ext>
            </a:extLst>
          </p:cNvPr>
          <p:cNvSpPr>
            <a:spLocks noGrp="1"/>
          </p:cNvSpPr>
          <p:nvPr>
            <p:ph type="pic" sz="quarter" idx="13"/>
          </p:nvPr>
        </p:nvSpPr>
        <p:spPr>
          <a:xfrm>
            <a:off x="6381996" y="1469577"/>
            <a:ext cx="2260640" cy="2260694"/>
          </a:xfrm>
          <a:custGeom>
            <a:avLst/>
            <a:gdLst>
              <a:gd name="connsiteX0" fmla="*/ 112783 w 2260640"/>
              <a:gd name="connsiteY0" fmla="*/ 0 h 2260694"/>
              <a:gd name="connsiteX1" fmla="*/ 2147857 w 2260640"/>
              <a:gd name="connsiteY1" fmla="*/ 0 h 2260694"/>
              <a:gd name="connsiteX2" fmla="*/ 2260640 w 2260640"/>
              <a:gd name="connsiteY2" fmla="*/ 112783 h 2260694"/>
              <a:gd name="connsiteX3" fmla="*/ 2260640 w 2260640"/>
              <a:gd name="connsiteY3" fmla="*/ 2147911 h 2260694"/>
              <a:gd name="connsiteX4" fmla="*/ 2147857 w 2260640"/>
              <a:gd name="connsiteY4" fmla="*/ 2260694 h 2260694"/>
              <a:gd name="connsiteX5" fmla="*/ 112783 w 2260640"/>
              <a:gd name="connsiteY5" fmla="*/ 2260694 h 2260694"/>
              <a:gd name="connsiteX6" fmla="*/ 0 w 2260640"/>
              <a:gd name="connsiteY6" fmla="*/ 2147911 h 2260694"/>
              <a:gd name="connsiteX7" fmla="*/ 0 w 2260640"/>
              <a:gd name="connsiteY7" fmla="*/ 112783 h 2260694"/>
              <a:gd name="connsiteX8" fmla="*/ 112783 w 2260640"/>
              <a:gd name="connsiteY8" fmla="*/ 0 h 2260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0640" h="2260694">
                <a:moveTo>
                  <a:pt x="112783" y="0"/>
                </a:moveTo>
                <a:lnTo>
                  <a:pt x="2147857" y="0"/>
                </a:lnTo>
                <a:cubicBezTo>
                  <a:pt x="2210145" y="0"/>
                  <a:pt x="2260640" y="50495"/>
                  <a:pt x="2260640" y="112783"/>
                </a:cubicBezTo>
                <a:lnTo>
                  <a:pt x="2260640" y="2147911"/>
                </a:lnTo>
                <a:cubicBezTo>
                  <a:pt x="2260640" y="2210199"/>
                  <a:pt x="2210145" y="2260694"/>
                  <a:pt x="2147857" y="2260694"/>
                </a:cubicBezTo>
                <a:lnTo>
                  <a:pt x="112783" y="2260694"/>
                </a:lnTo>
                <a:cubicBezTo>
                  <a:pt x="50495" y="2260694"/>
                  <a:pt x="0" y="2210199"/>
                  <a:pt x="0" y="2147911"/>
                </a:cubicBezTo>
                <a:lnTo>
                  <a:pt x="0" y="112783"/>
                </a:lnTo>
                <a:cubicBezTo>
                  <a:pt x="0" y="50495"/>
                  <a:pt x="50495" y="0"/>
                  <a:pt x="112783"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
        <p:nvSpPr>
          <p:cNvPr id="9" name="Picture Placeholder 6">
            <a:extLst>
              <a:ext uri="{FF2B5EF4-FFF2-40B4-BE49-F238E27FC236}">
                <a16:creationId xmlns:a16="http://schemas.microsoft.com/office/drawing/2014/main" id="{6358A716-4B6B-4444-3EDF-FE2FF7D857BF}"/>
              </a:ext>
            </a:extLst>
          </p:cNvPr>
          <p:cNvSpPr>
            <a:spLocks noGrp="1"/>
          </p:cNvSpPr>
          <p:nvPr>
            <p:ph type="pic" sz="quarter" idx="14"/>
          </p:nvPr>
        </p:nvSpPr>
        <p:spPr>
          <a:xfrm>
            <a:off x="9214626" y="1469577"/>
            <a:ext cx="2260640" cy="2260694"/>
          </a:xfrm>
          <a:custGeom>
            <a:avLst/>
            <a:gdLst>
              <a:gd name="connsiteX0" fmla="*/ 112783 w 2260640"/>
              <a:gd name="connsiteY0" fmla="*/ 0 h 2260694"/>
              <a:gd name="connsiteX1" fmla="*/ 2147857 w 2260640"/>
              <a:gd name="connsiteY1" fmla="*/ 0 h 2260694"/>
              <a:gd name="connsiteX2" fmla="*/ 2260640 w 2260640"/>
              <a:gd name="connsiteY2" fmla="*/ 112783 h 2260694"/>
              <a:gd name="connsiteX3" fmla="*/ 2260640 w 2260640"/>
              <a:gd name="connsiteY3" fmla="*/ 2147911 h 2260694"/>
              <a:gd name="connsiteX4" fmla="*/ 2147857 w 2260640"/>
              <a:gd name="connsiteY4" fmla="*/ 2260694 h 2260694"/>
              <a:gd name="connsiteX5" fmla="*/ 112783 w 2260640"/>
              <a:gd name="connsiteY5" fmla="*/ 2260694 h 2260694"/>
              <a:gd name="connsiteX6" fmla="*/ 0 w 2260640"/>
              <a:gd name="connsiteY6" fmla="*/ 2147911 h 2260694"/>
              <a:gd name="connsiteX7" fmla="*/ 0 w 2260640"/>
              <a:gd name="connsiteY7" fmla="*/ 112783 h 2260694"/>
              <a:gd name="connsiteX8" fmla="*/ 112783 w 2260640"/>
              <a:gd name="connsiteY8" fmla="*/ 0 h 2260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0640" h="2260694">
                <a:moveTo>
                  <a:pt x="112783" y="0"/>
                </a:moveTo>
                <a:lnTo>
                  <a:pt x="2147857" y="0"/>
                </a:lnTo>
                <a:cubicBezTo>
                  <a:pt x="2210145" y="0"/>
                  <a:pt x="2260640" y="50495"/>
                  <a:pt x="2260640" y="112783"/>
                </a:cubicBezTo>
                <a:lnTo>
                  <a:pt x="2260640" y="2147911"/>
                </a:lnTo>
                <a:cubicBezTo>
                  <a:pt x="2260640" y="2210199"/>
                  <a:pt x="2210145" y="2260694"/>
                  <a:pt x="2147857" y="2260694"/>
                </a:cubicBezTo>
                <a:lnTo>
                  <a:pt x="112783" y="2260694"/>
                </a:lnTo>
                <a:cubicBezTo>
                  <a:pt x="50495" y="2260694"/>
                  <a:pt x="0" y="2210199"/>
                  <a:pt x="0" y="2147911"/>
                </a:cubicBezTo>
                <a:lnTo>
                  <a:pt x="0" y="112783"/>
                </a:lnTo>
                <a:cubicBezTo>
                  <a:pt x="0" y="50495"/>
                  <a:pt x="50495" y="0"/>
                  <a:pt x="112783" y="0"/>
                </a:cubicBezTo>
                <a:close/>
              </a:path>
            </a:pathLst>
          </a:custGeom>
          <a:noFill/>
        </p:spPr>
        <p:txBody>
          <a:bodyPr wrap="square" anchor="ctr">
            <a:noAutofit/>
          </a:bodyPr>
          <a:lstStyle>
            <a:lvl1pPr marL="0" indent="0" algn="ctr">
              <a:buNone/>
              <a:defRPr sz="1200">
                <a:solidFill>
                  <a:schemeClr val="tx2"/>
                </a:solidFill>
              </a:defRPr>
            </a:lvl1pPr>
          </a:lstStyle>
          <a:p>
            <a:r>
              <a:rPr lang="en-US"/>
              <a:t>Click icon to add picture</a:t>
            </a:r>
          </a:p>
        </p:txBody>
      </p:sp>
    </p:spTree>
    <p:extLst>
      <p:ext uri="{BB962C8B-B14F-4D97-AF65-F5344CB8AC3E}">
        <p14:creationId xmlns:p14="http://schemas.microsoft.com/office/powerpoint/2010/main" val="79196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 Fullscreen">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AD552FC-0962-83FB-89A8-4EF0285E309F}"/>
              </a:ext>
            </a:extLst>
          </p:cNvPr>
          <p:cNvSpPr>
            <a:spLocks noGrp="1"/>
          </p:cNvSpPr>
          <p:nvPr>
            <p:ph type="pic" sz="quarter" idx="10"/>
          </p:nvPr>
        </p:nvSpPr>
        <p:spPr>
          <a:xfrm>
            <a:off x="0" y="0"/>
            <a:ext cx="12192000" cy="6858000"/>
          </a:xfrm>
        </p:spPr>
        <p:txBody>
          <a:bodyPr/>
          <a:lstStyle/>
          <a:p>
            <a:r>
              <a:rPr lang="en-US"/>
              <a:t>Click icon to add picture</a:t>
            </a:r>
          </a:p>
        </p:txBody>
      </p:sp>
      <p:sp>
        <p:nvSpPr>
          <p:cNvPr id="2" name="Title">
            <a:extLst>
              <a:ext uri="{FF2B5EF4-FFF2-40B4-BE49-F238E27FC236}">
                <a16:creationId xmlns:a16="http://schemas.microsoft.com/office/drawing/2014/main" id="{D0AAD849-7CFE-4AF7-A7C5-6BBD50C88C1A}"/>
              </a:ext>
            </a:extLst>
          </p:cNvPr>
          <p:cNvSpPr>
            <a:spLocks noGrp="1"/>
          </p:cNvSpPr>
          <p:nvPr>
            <p:ph type="title"/>
          </p:nvPr>
        </p:nvSpPr>
        <p:spPr>
          <a:xfrm>
            <a:off x="857250" y="2936557"/>
            <a:ext cx="5410200" cy="984885"/>
          </a:xfrm>
        </p:spPr>
        <p:txBody>
          <a:bodyPr anchor="ctr"/>
          <a:lstStyle>
            <a:lvl1pPr algn="l">
              <a:defRPr sz="3200">
                <a:solidFill>
                  <a:schemeClr val="bg1"/>
                </a:solidFill>
              </a:defRPr>
            </a:lvl1pPr>
          </a:lstStyle>
          <a:p>
            <a:r>
              <a:rPr lang="en-US"/>
              <a:t>Click to edit Master title style</a:t>
            </a:r>
          </a:p>
        </p:txBody>
      </p:sp>
    </p:spTree>
    <p:extLst>
      <p:ext uri="{BB962C8B-B14F-4D97-AF65-F5344CB8AC3E}">
        <p14:creationId xmlns:p14="http://schemas.microsoft.com/office/powerpoint/2010/main" val="12887449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Demo 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accent2"/>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937223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91204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6156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DC85E-DB52-1562-7049-D24EDCDBA66D}"/>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CB6E6E71-07B7-5628-0889-CB91098BACE1}"/>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524E54-A149-FB7A-3F5F-AD8535553296}"/>
              </a:ext>
            </a:extLst>
          </p:cNvPr>
          <p:cNvSpPr>
            <a:spLocks noGrp="1"/>
          </p:cNvSpPr>
          <p:nvPr>
            <p:ph type="dt" sz="half" idx="10"/>
          </p:nvPr>
        </p:nvSpPr>
        <p:spPr/>
        <p:txBody>
          <a:bodyPr/>
          <a:lstStyle/>
          <a:p>
            <a:fld id="{4DC5779D-7192-46FA-8290-3F422100F29C}" type="datetimeFigureOut">
              <a:rPr lang="en-US" smtClean="0"/>
              <a:t>10/8/2026</a:t>
            </a:fld>
            <a:endParaRPr lang="en-US"/>
          </a:p>
        </p:txBody>
      </p:sp>
      <p:sp>
        <p:nvSpPr>
          <p:cNvPr id="5" name="Footer Placeholder 4">
            <a:extLst>
              <a:ext uri="{FF2B5EF4-FFF2-40B4-BE49-F238E27FC236}">
                <a16:creationId xmlns:a16="http://schemas.microsoft.com/office/drawing/2014/main" id="{E0176E62-6193-F9F6-C362-95703B9F1A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172492-9890-3C40-3418-3813681305A0}"/>
              </a:ext>
            </a:extLst>
          </p:cNvPr>
          <p:cNvSpPr>
            <a:spLocks noGrp="1"/>
          </p:cNvSpPr>
          <p:nvPr>
            <p:ph type="sldNum" sz="quarter" idx="12"/>
          </p:nvPr>
        </p:nvSpPr>
        <p:spPr/>
        <p:txBody>
          <a:bodyPr/>
          <a:lstStyle/>
          <a:p>
            <a:fld id="{026D855E-B03A-4D02-9E9A-D580398B4F6A}" type="slidenum">
              <a:rPr lang="en-US" smtClean="0"/>
              <a:t>‹#›</a:t>
            </a:fld>
            <a:endParaRPr lang="en-US"/>
          </a:p>
        </p:txBody>
      </p:sp>
    </p:spTree>
    <p:extLst>
      <p:ext uri="{BB962C8B-B14F-4D97-AF65-F5344CB8AC3E}">
        <p14:creationId xmlns:p14="http://schemas.microsoft.com/office/powerpoint/2010/main" val="2886518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Header 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924783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image" Target="../media/image1.png"/><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White">
      <p:bgPr>
        <a:solidFill>
          <a:schemeClr val="accent6"/>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F2F8B93-595A-467D-FC84-E9D0E6E50389}"/>
              </a:ext>
            </a:extLst>
          </p:cNvPr>
          <p:cNvSpPr/>
          <p:nvPr userDrawn="1"/>
        </p:nvSpPr>
        <p:spPr bwMode="auto">
          <a:xfrm>
            <a:off x="0" y="6144768"/>
            <a:ext cx="12192000" cy="713232"/>
          </a:xfrm>
          <a:prstGeom prst="rect">
            <a:avLst/>
          </a:prstGeom>
          <a:solidFill>
            <a:srgbClr val="0B0A28"/>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Placeholder"/>
          <p:cNvSpPr>
            <a:spLocks noGrp="1"/>
          </p:cNvSpPr>
          <p:nvPr>
            <p:ph type="title"/>
          </p:nvPr>
        </p:nvSpPr>
        <p:spPr>
          <a:xfrm>
            <a:off x="571500" y="522516"/>
            <a:ext cx="11035283" cy="369332"/>
          </a:xfrm>
          <a:prstGeom prst="rect">
            <a:avLst/>
          </a:prstGeom>
        </p:spPr>
        <p:txBody>
          <a:bodyPr vert="horz" wrap="square" lIns="0" tIns="0" rIns="0" bIns="0" rtlCol="0" anchor="t">
            <a:spAutoFit/>
          </a:bodyPr>
          <a:lstStyle/>
          <a:p>
            <a:r>
              <a:rPr lang="en-US"/>
              <a:t>Click to edit Master title style</a:t>
            </a:r>
          </a:p>
        </p:txBody>
      </p:sp>
      <p:sp>
        <p:nvSpPr>
          <p:cNvPr id="4" name="Text Placeholder"/>
          <p:cNvSpPr>
            <a:spLocks noGrp="1"/>
          </p:cNvSpPr>
          <p:nvPr>
            <p:ph type="body" idx="1"/>
          </p:nvPr>
        </p:nvSpPr>
        <p:spPr>
          <a:xfrm>
            <a:off x="571500" y="1435503"/>
            <a:ext cx="11043920" cy="148963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0" name="Logo" hidden="1">
            <a:extLst>
              <a:ext uri="{FF2B5EF4-FFF2-40B4-BE49-F238E27FC236}">
                <a16:creationId xmlns:a16="http://schemas.microsoft.com/office/drawing/2014/main" id="{E2E47591-2B6C-08C9-B652-83940596C65F}"/>
              </a:ext>
            </a:extLst>
          </p:cNvPr>
          <p:cNvGrpSpPr/>
          <p:nvPr userDrawn="1"/>
        </p:nvGrpSpPr>
        <p:grpSpPr>
          <a:xfrm>
            <a:off x="571500" y="6144768"/>
            <a:ext cx="526473" cy="526473"/>
            <a:chOff x="2347933" y="6144768"/>
            <a:chExt cx="526473" cy="526473"/>
          </a:xfrm>
        </p:grpSpPr>
        <p:sp>
          <p:nvSpPr>
            <p:cNvPr id="48" name="Oval">
              <a:extLst>
                <a:ext uri="{FF2B5EF4-FFF2-40B4-BE49-F238E27FC236}">
                  <a16:creationId xmlns:a16="http://schemas.microsoft.com/office/drawing/2014/main" id="{3A319E00-DD84-4757-3F01-E398E4882DCA}"/>
                </a:ext>
              </a:extLst>
            </p:cNvPr>
            <p:cNvSpPr/>
            <p:nvPr userDrawn="1"/>
          </p:nvSpPr>
          <p:spPr bwMode="auto">
            <a:xfrm>
              <a:off x="2347933" y="6144768"/>
              <a:ext cx="526473" cy="526473"/>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VN" sz="2000" b="0" i="0" err="1">
                <a:solidFill>
                  <a:srgbClr val="FFFFFF"/>
                </a:solidFill>
                <a:latin typeface="Arial" panose="020B0604020202020204" pitchFamily="34" charset="0"/>
                <a:ea typeface="Segoe UI" pitchFamily="34" charset="0"/>
                <a:cs typeface="Segoe UI" pitchFamily="34" charset="0"/>
              </a:endParaRPr>
            </a:p>
          </p:txBody>
        </p:sp>
        <p:pic>
          <p:nvPicPr>
            <p:cNvPr id="49" name="Logo" descr="A white logo with black background  Description automatically generated">
              <a:extLst>
                <a:ext uri="{FF2B5EF4-FFF2-40B4-BE49-F238E27FC236}">
                  <a16:creationId xmlns:a16="http://schemas.microsoft.com/office/drawing/2014/main" id="{4F80159E-A8EC-2007-D26D-00F16BA74463}"/>
                </a:ext>
              </a:extLst>
            </p:cNvPr>
            <p:cNvPicPr>
              <a:picLocks noChangeAspect="1"/>
            </p:cNvPicPr>
            <p:nvPr userDrawn="1"/>
          </p:nvPicPr>
          <p:blipFill>
            <a:blip r:embed="rId21" cstate="screen">
              <a:extLst>
                <a:ext uri="{28A0092B-C50C-407E-A947-70E740481C1C}">
                  <a14:useLocalDpi xmlns:a14="http://schemas.microsoft.com/office/drawing/2010/main"/>
                </a:ext>
              </a:extLst>
            </a:blip>
            <a:stretch>
              <a:fillRect/>
            </a:stretch>
          </p:blipFill>
          <p:spPr>
            <a:xfrm>
              <a:off x="2408408" y="6202610"/>
              <a:ext cx="405523" cy="410789"/>
            </a:xfrm>
            <a:prstGeom prst="rect">
              <a:avLst/>
            </a:prstGeom>
          </p:spPr>
        </p:pic>
      </p:grpSp>
      <p:sp>
        <p:nvSpPr>
          <p:cNvPr id="3" name="TextBox 2">
            <a:extLst>
              <a:ext uri="{FF2B5EF4-FFF2-40B4-BE49-F238E27FC236}">
                <a16:creationId xmlns:a16="http://schemas.microsoft.com/office/drawing/2014/main" id="{69223E6D-F499-AE36-640F-0CBDC657AD56}"/>
              </a:ext>
            </a:extLst>
          </p:cNvPr>
          <p:cNvSpPr txBox="1"/>
          <p:nvPr userDrawn="1"/>
        </p:nvSpPr>
        <p:spPr>
          <a:xfrm>
            <a:off x="9459686" y="6393663"/>
            <a:ext cx="2160815" cy="215444"/>
          </a:xfrm>
          <a:prstGeom prst="rect">
            <a:avLst/>
          </a:prstGeom>
          <a:noFill/>
        </p:spPr>
        <p:txBody>
          <a:bodyPr wrap="square" lIns="0" tIns="0" rIns="0" bIns="0" rtlCol="0" anchor="ctr">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mn-lt"/>
              </a:rPr>
              <a:t>#</a:t>
            </a:r>
            <a:r>
              <a:rPr lang="en-US" sz="1400" b="0" i="0" err="1">
                <a:solidFill>
                  <a:schemeClr val="bg1"/>
                </a:solidFill>
                <a:latin typeface="+mn-lt"/>
              </a:rPr>
              <a:t>InfoSecWorld</a:t>
            </a:r>
            <a:r>
              <a:rPr lang="en-US" sz="1400" b="0" i="0">
                <a:solidFill>
                  <a:schemeClr val="bg1"/>
                </a:solidFill>
                <a:latin typeface="+mn-lt"/>
              </a:rPr>
              <a:t>    |   </a:t>
            </a:r>
            <a:fld id="{59E8C269-FA72-7E4E-9714-C27CD671F9B2}" type="slidenum">
              <a:rPr lang="en-VN" sz="1400" b="0" i="0" smtClean="0">
                <a:solidFill>
                  <a:schemeClr val="bg1"/>
                </a:solidFill>
                <a:latin typeface="+mn-lt"/>
                <a:ea typeface="Calibri" pitchFamily="34" charset="0"/>
              </a:rPr>
              <a:pPr marL="0" marR="0" lvl="0" indent="0" algn="r" defTabSz="914367" rtl="0" eaLnBrk="1" fontAlgn="auto" latinLnBrk="0" hangingPunct="1">
                <a:lnSpc>
                  <a:spcPct val="100000"/>
                </a:lnSpc>
                <a:spcBef>
                  <a:spcPts val="0"/>
                </a:spcBef>
                <a:spcAft>
                  <a:spcPts val="0"/>
                </a:spcAft>
                <a:buClrTx/>
                <a:buSzTx/>
                <a:buFontTx/>
                <a:buNone/>
                <a:tabLst/>
                <a:defRPr/>
              </a:pPr>
              <a:t>‹#›</a:t>
            </a:fld>
            <a:endParaRPr lang="en-VN" sz="1400" b="0" i="0" err="1">
              <a:solidFill>
                <a:schemeClr val="bg1"/>
              </a:solidFill>
              <a:latin typeface="+mn-lt"/>
              <a:ea typeface="Calibri" pitchFamily="34" charset="0"/>
            </a:endParaRPr>
          </a:p>
        </p:txBody>
      </p:sp>
      <p:pic>
        <p:nvPicPr>
          <p:cNvPr id="8" name="Graphic 7">
            <a:extLst>
              <a:ext uri="{FF2B5EF4-FFF2-40B4-BE49-F238E27FC236}">
                <a16:creationId xmlns:a16="http://schemas.microsoft.com/office/drawing/2014/main" id="{3FC29685-091E-7829-0A40-8CB2A7DE06D4}"/>
              </a:ext>
            </a:extLst>
          </p:cNvPr>
          <p:cNvPicPr>
            <a:picLocks noChangeAspect="1"/>
          </p:cNvPicPr>
          <p:nvPr userDrawn="1"/>
        </p:nvPicPr>
        <p:blipFill>
          <a:blip>
            <a:extLst>
              <a:ext uri="{96DAC541-7B7A-43D3-8B79-37D633B846F1}">
                <asvg:svgBlip xmlns:asvg="http://schemas.microsoft.com/office/drawing/2016/SVG/main" r:embed="rId22"/>
              </a:ext>
            </a:extLst>
          </a:blip>
          <a:srcRect t="17501" b="17501"/>
          <a:stretch/>
        </p:blipFill>
        <p:spPr>
          <a:xfrm>
            <a:off x="460287" y="6345009"/>
            <a:ext cx="1875138" cy="330089"/>
          </a:xfrm>
          <a:prstGeom prst="rect">
            <a:avLst/>
          </a:prstGeom>
        </p:spPr>
      </p:pic>
      <p:cxnSp>
        <p:nvCxnSpPr>
          <p:cNvPr id="6" name="Straight Connector 5">
            <a:extLst>
              <a:ext uri="{FF2B5EF4-FFF2-40B4-BE49-F238E27FC236}">
                <a16:creationId xmlns:a16="http://schemas.microsoft.com/office/drawing/2014/main" id="{FB6657CA-ED68-5C90-8884-B476859CE5CB}"/>
              </a:ext>
            </a:extLst>
          </p:cNvPr>
          <p:cNvCxnSpPr/>
          <p:nvPr userDrawn="1"/>
        </p:nvCxnSpPr>
        <p:spPr>
          <a:xfrm>
            <a:off x="0" y="6141308"/>
            <a:ext cx="12192000" cy="0"/>
          </a:xfrm>
          <a:prstGeom prst="line">
            <a:avLst/>
          </a:prstGeom>
          <a:ln>
            <a:solidFill>
              <a:schemeClr val="bg1">
                <a:alpha val="20209"/>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858929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Lst>
  <p:txStyles>
    <p:titleStyle>
      <a:lvl1pPr algn="l" defTabSz="932742" rtl="0" eaLnBrk="1" latinLnBrk="0" hangingPunct="1">
        <a:lnSpc>
          <a:spcPct val="100000"/>
        </a:lnSpc>
        <a:spcBef>
          <a:spcPct val="0"/>
        </a:spcBef>
        <a:buNone/>
        <a:defRPr lang="en-US" sz="2400" b="0" i="0" kern="1200" cap="none" spc="0" baseline="0" dirty="0" smtClean="0">
          <a:ln w="3175">
            <a:noFill/>
          </a:ln>
          <a:solidFill>
            <a:schemeClr val="accent4"/>
          </a:solidFill>
          <a:effectLst/>
          <a:latin typeface="+mj-lt"/>
          <a:ea typeface="+mn-ea"/>
          <a:cs typeface="Arial" panose="020B0604020202020204" pitchFamily="34" charset="0"/>
        </a:defRPr>
      </a:lvl1pPr>
    </p:titleStyle>
    <p:bodyStyle>
      <a:lvl1pPr marL="0" marR="0" indent="0" algn="l" defTabSz="932742" rtl="0" eaLnBrk="1" fontAlgn="auto" latinLnBrk="0" hangingPunct="1">
        <a:lnSpc>
          <a:spcPct val="100000"/>
        </a:lnSpc>
        <a:spcBef>
          <a:spcPct val="20000"/>
        </a:spcBef>
        <a:spcAft>
          <a:spcPts val="0"/>
        </a:spcAft>
        <a:buClr>
          <a:schemeClr val="accent1"/>
        </a:buClr>
        <a:buSzPct val="90000"/>
        <a:buFont typeface="Arial" panose="020B0604020202020204" pitchFamily="34" charset="0"/>
        <a:buNone/>
        <a:tabLst/>
        <a:defRPr sz="2000" b="0" i="0" kern="1200" spc="0" baseline="0">
          <a:solidFill>
            <a:schemeClr val="bg1"/>
          </a:solidFill>
          <a:latin typeface="+mn-lt"/>
          <a:ea typeface="+mn-ea"/>
          <a:cs typeface="Poppins Medium" pitchFamily="2" charset="77"/>
        </a:defRPr>
      </a:lvl1pPr>
      <a:lvl2pPr marL="457200" marR="0" indent="-228600" algn="l" defTabSz="932742" rtl="0" eaLnBrk="1" fontAlgn="auto" latinLnBrk="0" hangingPunct="1">
        <a:lnSpc>
          <a:spcPct val="100000"/>
        </a:lnSpc>
        <a:spcBef>
          <a:spcPct val="20000"/>
        </a:spcBef>
        <a:spcAft>
          <a:spcPts val="0"/>
        </a:spcAft>
        <a:buClr>
          <a:schemeClr val="accent1"/>
        </a:buClr>
        <a:buSzPct val="90000"/>
        <a:buFont typeface="Arial" panose="020B0604020202020204" pitchFamily="34" charset="0"/>
        <a:buChar char="•"/>
        <a:tabLst/>
        <a:defRPr sz="1800" b="0" i="0" kern="1200" spc="0" baseline="0">
          <a:solidFill>
            <a:schemeClr val="bg1"/>
          </a:solidFill>
          <a:latin typeface="+mn-lt"/>
          <a:ea typeface="+mn-ea"/>
          <a:cs typeface="Poppins Medium" pitchFamily="2" charset="77"/>
        </a:defRPr>
      </a:lvl2pPr>
      <a:lvl3pPr marL="657225" marR="0" indent="-200025" algn="l" defTabSz="932742" rtl="0" eaLnBrk="1" fontAlgn="auto" latinLnBrk="0" hangingPunct="1">
        <a:lnSpc>
          <a:spcPct val="100000"/>
        </a:lnSpc>
        <a:spcBef>
          <a:spcPct val="20000"/>
        </a:spcBef>
        <a:spcAft>
          <a:spcPts val="0"/>
        </a:spcAft>
        <a:buClr>
          <a:schemeClr val="accent1"/>
        </a:buClr>
        <a:buSzPct val="90000"/>
        <a:buFont typeface="Courier New" panose="02070309020205020404" pitchFamily="49" charset="0"/>
        <a:buChar char="o"/>
        <a:tabLst/>
        <a:defRPr sz="1600" b="0" i="0" kern="1200" spc="0" baseline="0">
          <a:solidFill>
            <a:schemeClr val="bg1"/>
          </a:solidFill>
          <a:latin typeface="+mn-lt"/>
          <a:ea typeface="+mn-ea"/>
          <a:cs typeface="Poppins Medium" pitchFamily="2" charset="77"/>
        </a:defRPr>
      </a:lvl3pPr>
      <a:lvl4pPr marL="842963" marR="0" indent="-180975" algn="l" defTabSz="932742" rtl="0" eaLnBrk="1" fontAlgn="auto" latinLnBrk="0" hangingPunct="1">
        <a:lnSpc>
          <a:spcPct val="100000"/>
        </a:lnSpc>
        <a:spcBef>
          <a:spcPct val="20000"/>
        </a:spcBef>
        <a:spcAft>
          <a:spcPts val="0"/>
        </a:spcAft>
        <a:buClr>
          <a:schemeClr val="accent1"/>
        </a:buClr>
        <a:buSzPct val="90000"/>
        <a:buFont typeface="Wingdings" panose="05000000000000000000" pitchFamily="2" charset="2"/>
        <a:buChar char=""/>
        <a:tabLst/>
        <a:defRPr sz="1400" b="0" i="0" kern="1200" spc="0" baseline="0">
          <a:solidFill>
            <a:schemeClr val="bg1"/>
          </a:solidFill>
          <a:latin typeface="+mn-lt"/>
          <a:ea typeface="+mn-ea"/>
          <a:cs typeface="Poppins Medium" pitchFamily="2" charset="77"/>
        </a:defRPr>
      </a:lvl4pPr>
      <a:lvl5pPr marL="1023938" marR="0" indent="-168275" algn="l" defTabSz="932742" rtl="0" eaLnBrk="1" fontAlgn="auto" latinLnBrk="0" hangingPunct="1">
        <a:lnSpc>
          <a:spcPct val="100000"/>
        </a:lnSpc>
        <a:spcBef>
          <a:spcPct val="20000"/>
        </a:spcBef>
        <a:spcAft>
          <a:spcPts val="0"/>
        </a:spcAft>
        <a:buClr>
          <a:schemeClr val="accent1"/>
        </a:buClr>
        <a:buSzPct val="90000"/>
        <a:buFont typeface="Wingdings" panose="05000000000000000000" pitchFamily="2" charset="2"/>
        <a:buChar char=""/>
        <a:tabLst/>
        <a:defRPr sz="1400" b="0" i="0" kern="1200" spc="0" baseline="0">
          <a:solidFill>
            <a:schemeClr val="bg1"/>
          </a:solidFill>
          <a:latin typeface="+mn-lt"/>
          <a:ea typeface="+mn-ea"/>
          <a:cs typeface="Poppins Medium" pitchFamily="2" charset="77"/>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hyperlink" Target="https://www.youtube.com/watch?v=qYNs80FKIVc" TargetMode="External"/><Relationship Id="rId3" Type="http://schemas.openxmlformats.org/officeDocument/2006/relationships/hyperlink" Target="https://www.microsoft.com/en-us/research/publication/agent-skills-can-be-harmful-an-empirical-study-of-skill-induced-failures-in-llm-agents/" TargetMode="External"/><Relationship Id="rId7" Type="http://schemas.openxmlformats.org/officeDocument/2006/relationships/hyperlink" Target="https://learn.microsoft.com/en-us/agent-framework/agents/skills" TargetMode="External"/><Relationship Id="rId2" Type="http://schemas.openxmlformats.org/officeDocument/2006/relationships/notesSlide" Target="../notesSlides/notesSlide26.xml"/><Relationship Id="rId1" Type="http://schemas.openxmlformats.org/officeDocument/2006/relationships/slideLayout" Target="../slideLayouts/slideLayout23.xml"/><Relationship Id="rId6" Type="http://schemas.openxmlformats.org/officeDocument/2006/relationships/hyperlink" Target="https://learn.microsoft.com/en-us/microsoft-365/copilot/extensibility/declarative-agent-skills" TargetMode="External"/><Relationship Id="rId5" Type="http://schemas.openxmlformats.org/officeDocument/2006/relationships/hyperlink" Target="https://learn.microsoft.com/en-us/entra/agent-id/" TargetMode="External"/><Relationship Id="rId4" Type="http://schemas.openxmlformats.org/officeDocument/2006/relationships/hyperlink" Target="https://learn.microsoft.com/en-us/security/security-for-ai/prepare"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anthropics/skills/blob/41bbe19d/README.md?plain=1#L6-L11" TargetMode="External"/><Relationship Id="rId2" Type="http://schemas.openxmlformats.org/officeDocument/2006/relationships/notesSlide" Target="../notesSlides/notesSlide27.xml"/><Relationship Id="rId1" Type="http://schemas.openxmlformats.org/officeDocument/2006/relationships/slideLayout" Target="../slideLayouts/slideLayout27.xml"/><Relationship Id="rId4" Type="http://schemas.openxmlformats.org/officeDocument/2006/relationships/hyperlink" Target="https://github.com/anthropics/skills/blob/41bbe19d/README.md?plain=1#L6-L6"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e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4" name="TextBox 3"/>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B2BCD3"/>
                </a:solidFill>
                <a:latin typeface="Aptos"/>
              </a:rPr>
              <a:t>01</a:t>
            </a:r>
          </a:p>
        </p:txBody>
      </p:sp>
      <p:sp>
        <p:nvSpPr>
          <p:cNvPr id="5" name="TextBox 4"/>
          <p:cNvSpPr txBox="1"/>
          <p:nvPr/>
        </p:nvSpPr>
        <p:spPr>
          <a:xfrm>
            <a:off x="658368" y="1389888"/>
            <a:ext cx="6126480" cy="1417320"/>
          </a:xfrm>
          <a:prstGeom prst="rect">
            <a:avLst/>
          </a:prstGeom>
          <a:noFill/>
        </p:spPr>
        <p:txBody>
          <a:bodyPr wrap="square" lIns="0" tIns="0" rIns="0" bIns="0" anchor="t">
            <a:spAutoFit/>
          </a:bodyPr>
          <a:lstStyle/>
          <a:p>
            <a:pPr algn="l"/>
            <a:r>
              <a:rPr sz="3200" b="1">
                <a:solidFill>
                  <a:srgbClr val="FFFFFF"/>
                </a:solidFill>
                <a:latin typeface="Aptos"/>
              </a:rPr>
              <a:t>Useful by Design,
Secure by Default</a:t>
            </a:r>
          </a:p>
        </p:txBody>
      </p:sp>
      <p:sp>
        <p:nvSpPr>
          <p:cNvPr id="6" name="TextBox 5"/>
          <p:cNvSpPr txBox="1"/>
          <p:nvPr/>
        </p:nvSpPr>
        <p:spPr>
          <a:xfrm>
            <a:off x="685800" y="2944368"/>
            <a:ext cx="6263640" cy="323165"/>
          </a:xfrm>
          <a:prstGeom prst="rect">
            <a:avLst/>
          </a:prstGeom>
          <a:noFill/>
        </p:spPr>
        <p:txBody>
          <a:bodyPr wrap="square" lIns="0" tIns="0" rIns="0" bIns="0" anchor="t">
            <a:spAutoFit/>
          </a:bodyPr>
          <a:lstStyle/>
          <a:p>
            <a:pPr algn="l"/>
            <a:r>
              <a:rPr lang="en-US" sz="2100" b="1" dirty="0">
                <a:solidFill>
                  <a:srgbClr val="00B1D9"/>
                </a:solidFill>
                <a:latin typeface="Aptos"/>
              </a:rPr>
              <a:t>Engineering Precise AI Skills</a:t>
            </a:r>
            <a:endParaRPr sz="2100" b="1" dirty="0">
              <a:solidFill>
                <a:srgbClr val="00B1D9"/>
              </a:solidFill>
              <a:latin typeface="Aptos"/>
            </a:endParaRPr>
          </a:p>
        </p:txBody>
      </p:sp>
      <p:sp>
        <p:nvSpPr>
          <p:cNvPr id="7" name="TextBox 6"/>
          <p:cNvSpPr txBox="1"/>
          <p:nvPr/>
        </p:nvSpPr>
        <p:spPr>
          <a:xfrm>
            <a:off x="685800" y="3694176"/>
            <a:ext cx="6217920" cy="658368"/>
          </a:xfrm>
          <a:prstGeom prst="rect">
            <a:avLst/>
          </a:prstGeom>
          <a:noFill/>
        </p:spPr>
        <p:txBody>
          <a:bodyPr wrap="square" lIns="0" tIns="0" rIns="0" bIns="0" anchor="t">
            <a:spAutoFit/>
          </a:bodyPr>
          <a:lstStyle/>
          <a:p>
            <a:pPr algn="l"/>
            <a:r>
              <a:rPr sz="1400" b="0" dirty="0">
                <a:solidFill>
                  <a:srgbClr val="CDD5E7"/>
                </a:solidFill>
                <a:latin typeface="Aptos"/>
              </a:rPr>
              <a:t>Securing AI against prompt injection, local skill abuse,
and agent-to-system exploitation</a:t>
            </a:r>
          </a:p>
        </p:txBody>
      </p:sp>
      <p:sp>
        <p:nvSpPr>
          <p:cNvPr id="8" name="TextBox 7"/>
          <p:cNvSpPr txBox="1"/>
          <p:nvPr/>
        </p:nvSpPr>
        <p:spPr>
          <a:xfrm>
            <a:off x="685800" y="4727448"/>
            <a:ext cx="6035040" cy="292608"/>
          </a:xfrm>
          <a:prstGeom prst="rect">
            <a:avLst/>
          </a:prstGeom>
          <a:noFill/>
        </p:spPr>
        <p:txBody>
          <a:bodyPr wrap="square" lIns="0" tIns="0" rIns="0" bIns="0" anchor="t">
            <a:spAutoFit/>
          </a:bodyPr>
          <a:lstStyle/>
          <a:p>
            <a:pPr algn="l"/>
            <a:r>
              <a:rPr sz="1300" b="1">
                <a:solidFill>
                  <a:srgbClr val="FFFFFF"/>
                </a:solidFill>
                <a:latin typeface="Aptos"/>
              </a:rPr>
              <a:t>Marilee Turscak  +  Janice Ricketts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A55DA-FE26-94E2-7385-5B89D9876CA4}"/>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75E0241-EFCD-047C-D0EA-9E1F12307594}"/>
              </a:ext>
            </a:extLst>
          </p:cNvPr>
          <p:cNvSpPr/>
          <p:nvPr/>
        </p:nvSpPr>
        <p:spPr bwMode="auto">
          <a:xfrm>
            <a:off x="571500" y="1292252"/>
            <a:ext cx="2551113" cy="4488062"/>
          </a:xfrm>
          <a:prstGeom prst="roundRect">
            <a:avLst>
              <a:gd name="adj" fmla="val 4989"/>
            </a:avLst>
          </a:prstGeom>
          <a:solidFill>
            <a:srgbClr val="21205B"/>
          </a:solidFill>
          <a:ln>
            <a:noFill/>
            <a:headEnd type="none" w="med" len="med"/>
            <a:tailEnd type="none" w="med" len="med"/>
          </a:ln>
          <a:effectLst>
            <a:outerShdw blurRad="127000" dist="63500" dir="5400000" algn="t" rotWithShape="0">
              <a:schemeClr val="tx2">
                <a:alpha val="2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mn-ea"/>
              <a:cs typeface="Segoe UI" pitchFamily="34" charset="0"/>
            </a:endParaRPr>
          </a:p>
        </p:txBody>
      </p:sp>
      <p:sp>
        <p:nvSpPr>
          <p:cNvPr id="11" name="Rectangle: Rounded Corners 10">
            <a:extLst>
              <a:ext uri="{FF2B5EF4-FFF2-40B4-BE49-F238E27FC236}">
                <a16:creationId xmlns:a16="http://schemas.microsoft.com/office/drawing/2014/main" id="{B0FC0A03-51BD-5C7B-1708-CC1E73FCA9E4}"/>
              </a:ext>
            </a:extLst>
          </p:cNvPr>
          <p:cNvSpPr/>
          <p:nvPr/>
        </p:nvSpPr>
        <p:spPr bwMode="auto">
          <a:xfrm>
            <a:off x="3404658" y="1292252"/>
            <a:ext cx="2551113" cy="4488062"/>
          </a:xfrm>
          <a:prstGeom prst="roundRect">
            <a:avLst>
              <a:gd name="adj" fmla="val 4989"/>
            </a:avLst>
          </a:prstGeom>
          <a:solidFill>
            <a:srgbClr val="21205B"/>
          </a:solidFill>
          <a:ln>
            <a:noFill/>
            <a:headEnd type="none" w="med" len="med"/>
            <a:tailEnd type="none" w="med" len="med"/>
          </a:ln>
          <a:effectLst>
            <a:outerShdw blurRad="127000" dist="63500" dir="5400000" algn="t" rotWithShape="0">
              <a:schemeClr val="tx2">
                <a:alpha val="2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mn-ea"/>
              <a:cs typeface="Segoe UI" pitchFamily="34" charset="0"/>
            </a:endParaRPr>
          </a:p>
        </p:txBody>
      </p:sp>
      <p:sp>
        <p:nvSpPr>
          <p:cNvPr id="2" name="Title 1">
            <a:extLst>
              <a:ext uri="{FF2B5EF4-FFF2-40B4-BE49-F238E27FC236}">
                <a16:creationId xmlns:a16="http://schemas.microsoft.com/office/drawing/2014/main" id="{B207C21D-3249-4CE8-AAE9-69B280782C9D}"/>
              </a:ext>
            </a:extLst>
          </p:cNvPr>
          <p:cNvSpPr>
            <a:spLocks noGrp="1"/>
          </p:cNvSpPr>
          <p:nvPr>
            <p:ph type="title"/>
          </p:nvPr>
        </p:nvSpPr>
        <p:spPr/>
        <p:txBody>
          <a:bodyPr/>
          <a:lstStyle/>
          <a:p>
            <a:r>
              <a:rPr lang="en-US"/>
              <a:t>Speakers</a:t>
            </a:r>
            <a:endParaRPr lang="en-US">
              <a:gradFill flip="none" rotWithShape="1">
                <a:gsLst>
                  <a:gs pos="0">
                    <a:schemeClr val="accent1"/>
                  </a:gs>
                  <a:gs pos="100000">
                    <a:schemeClr val="accent2"/>
                  </a:gs>
                </a:gsLst>
                <a:lin ang="0" scaled="1"/>
                <a:tileRect/>
              </a:gradFill>
            </a:endParaRPr>
          </a:p>
        </p:txBody>
      </p:sp>
      <p:pic>
        <p:nvPicPr>
          <p:cNvPr id="8" name="Picture Placeholder 7" descr="The image shows a person with long, dark hair, dressed in a black t-shirt, standing against a wooden backdrop with a potted plant and a pink glow.&#10;&#10;AI-generated content may be incorrect.">
            <a:extLst>
              <a:ext uri="{FF2B5EF4-FFF2-40B4-BE49-F238E27FC236}">
                <a16:creationId xmlns:a16="http://schemas.microsoft.com/office/drawing/2014/main" id="{72DA1BCE-5370-71FE-290F-DB1C541EBC65}"/>
              </a:ext>
            </a:extLst>
          </p:cNvPr>
          <p:cNvPicPr>
            <a:picLocks noGrp="1" noChangeAspect="1"/>
          </p:cNvPicPr>
          <p:nvPr>
            <p:ph type="pic" sz="quarter" idx="11"/>
          </p:nvPr>
        </p:nvPicPr>
        <p:blipFill>
          <a:blip r:embed="rId2"/>
          <a:srcRect t="608" b="608"/>
          <a:stretch>
            <a:fillRect/>
          </a:stretch>
        </p:blipFill>
        <p:spPr>
          <a:custGeom>
            <a:avLst/>
            <a:gdLst>
              <a:gd name="connsiteX0" fmla="*/ 112783 w 2260640"/>
              <a:gd name="connsiteY0" fmla="*/ 0 h 2260694"/>
              <a:gd name="connsiteX1" fmla="*/ 2147857 w 2260640"/>
              <a:gd name="connsiteY1" fmla="*/ 0 h 2260694"/>
              <a:gd name="connsiteX2" fmla="*/ 2260640 w 2260640"/>
              <a:gd name="connsiteY2" fmla="*/ 112783 h 2260694"/>
              <a:gd name="connsiteX3" fmla="*/ 2260640 w 2260640"/>
              <a:gd name="connsiteY3" fmla="*/ 2147911 h 2260694"/>
              <a:gd name="connsiteX4" fmla="*/ 2147857 w 2260640"/>
              <a:gd name="connsiteY4" fmla="*/ 2260694 h 2260694"/>
              <a:gd name="connsiteX5" fmla="*/ 112783 w 2260640"/>
              <a:gd name="connsiteY5" fmla="*/ 2260694 h 2260694"/>
              <a:gd name="connsiteX6" fmla="*/ 0 w 2260640"/>
              <a:gd name="connsiteY6" fmla="*/ 2147911 h 2260694"/>
              <a:gd name="connsiteX7" fmla="*/ 0 w 2260640"/>
              <a:gd name="connsiteY7" fmla="*/ 112783 h 2260694"/>
              <a:gd name="connsiteX8" fmla="*/ 112783 w 2260640"/>
              <a:gd name="connsiteY8" fmla="*/ 0 h 2260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0640" h="2260694">
                <a:moveTo>
                  <a:pt x="112783" y="0"/>
                </a:moveTo>
                <a:lnTo>
                  <a:pt x="2147857" y="0"/>
                </a:lnTo>
                <a:cubicBezTo>
                  <a:pt x="2210145" y="0"/>
                  <a:pt x="2260640" y="50495"/>
                  <a:pt x="2260640" y="112783"/>
                </a:cubicBezTo>
                <a:lnTo>
                  <a:pt x="2260640" y="2147911"/>
                </a:lnTo>
                <a:cubicBezTo>
                  <a:pt x="2260640" y="2210199"/>
                  <a:pt x="2210145" y="2260694"/>
                  <a:pt x="2147857" y="2260694"/>
                </a:cubicBezTo>
                <a:lnTo>
                  <a:pt x="112783" y="2260694"/>
                </a:lnTo>
                <a:cubicBezTo>
                  <a:pt x="50495" y="2260694"/>
                  <a:pt x="0" y="2210199"/>
                  <a:pt x="0" y="2147911"/>
                </a:cubicBezTo>
                <a:lnTo>
                  <a:pt x="0" y="112783"/>
                </a:lnTo>
                <a:cubicBezTo>
                  <a:pt x="0" y="50495"/>
                  <a:pt x="50495" y="0"/>
                  <a:pt x="112783" y="0"/>
                </a:cubicBezTo>
                <a:close/>
              </a:path>
            </a:pathLst>
          </a:custGeom>
          <a:noFill/>
        </p:spPr>
      </p:pic>
      <p:sp>
        <p:nvSpPr>
          <p:cNvPr id="6" name="Google Shape;436;p14">
            <a:extLst>
              <a:ext uri="{FF2B5EF4-FFF2-40B4-BE49-F238E27FC236}">
                <a16:creationId xmlns:a16="http://schemas.microsoft.com/office/drawing/2014/main" id="{85AFBAE3-B0F9-04E8-DE8F-396E0F3D2D7A}"/>
              </a:ext>
            </a:extLst>
          </p:cNvPr>
          <p:cNvSpPr txBox="1"/>
          <p:nvPr/>
        </p:nvSpPr>
        <p:spPr>
          <a:xfrm>
            <a:off x="815149" y="4799085"/>
            <a:ext cx="2060638" cy="206851"/>
          </a:xfrm>
          <a:prstGeom prst="rect">
            <a:avLst/>
          </a:prstGeom>
          <a:noFill/>
        </p:spPr>
        <p:txBody>
          <a:bodyPr wrap="square" lIns="0" tIns="0" rIns="0" bIns="0" rtlCol="0">
            <a:spAutoFit/>
          </a:bodyPr>
          <a:lstStyle>
            <a:defPPr>
              <a:defRPr lang="en-US"/>
            </a:defPPr>
            <a:lvl1pPr marL="285750" indent="-285750">
              <a:lnSpc>
                <a:spcPct val="120000"/>
              </a:lnSpc>
              <a:buFont typeface="Arial" panose="020B0604020202020204" pitchFamily="34" charset="0"/>
              <a:buChar char="•"/>
              <a:defRPr sz="1400">
                <a:solidFill>
                  <a:schemeClr val="tx2"/>
                </a:solidFil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marL="0" marR="0" lvl="0" indent="0" algn="l" defTabSz="914367" rtl="0" eaLnBrk="1" fontAlgn="auto" latinLnBrk="0" hangingPunct="1">
              <a:lnSpc>
                <a:spcPct val="120000"/>
              </a:lnSpc>
              <a:spcBef>
                <a:spcPts val="600"/>
              </a:spcBef>
              <a:spcAft>
                <a:spcPts val="0"/>
              </a:spcAft>
              <a:buClr>
                <a:srgbClr val="7B1EFF"/>
              </a:buClr>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Calibri"/>
                <a:ea typeface="+mn-ea"/>
                <a:cs typeface="+mn-cs"/>
              </a:rPr>
              <a:t>Microsoft Security Team</a:t>
            </a:r>
          </a:p>
        </p:txBody>
      </p:sp>
      <p:sp>
        <p:nvSpPr>
          <p:cNvPr id="4" name="Google Shape;436;p14">
            <a:extLst>
              <a:ext uri="{FF2B5EF4-FFF2-40B4-BE49-F238E27FC236}">
                <a16:creationId xmlns:a16="http://schemas.microsoft.com/office/drawing/2014/main" id="{53E30DBE-5F45-96EF-F507-A764793DC7A1}"/>
              </a:ext>
            </a:extLst>
          </p:cNvPr>
          <p:cNvSpPr txBox="1"/>
          <p:nvPr/>
        </p:nvSpPr>
        <p:spPr>
          <a:xfrm>
            <a:off x="816737" y="4370634"/>
            <a:ext cx="2060638" cy="428451"/>
          </a:xfrm>
          <a:prstGeom prst="rect">
            <a:avLst/>
          </a:prstGeom>
          <a:noFill/>
        </p:spPr>
        <p:txBody>
          <a:bodyPr wrap="square" lIns="0" tIns="0" rIns="0" bIns="0" rtlCol="0">
            <a:spAutoFit/>
          </a:bodyPr>
          <a:lstStyle>
            <a:defPPr>
              <a:defRPr lang="en-US"/>
            </a:defPPr>
            <a:lvl1pPr marL="285750" indent="-285750">
              <a:lnSpc>
                <a:spcPct val="120000"/>
              </a:lnSpc>
              <a:buFont typeface="Arial" panose="020B0604020202020204" pitchFamily="34" charset="0"/>
              <a:buChar char="•"/>
              <a:defRPr sz="1400">
                <a:solidFill>
                  <a:schemeClr val="tx2"/>
                </a:solidFil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marL="0" marR="0" lvl="0" indent="0" algn="l" defTabSz="914367" rtl="0" eaLnBrk="1" fontAlgn="auto" latinLnBrk="0" hangingPunct="1">
              <a:lnSpc>
                <a:spcPct val="120000"/>
              </a:lnSpc>
              <a:spcBef>
                <a:spcPts val="300"/>
              </a:spcBef>
              <a:spcAft>
                <a:spcPts val="0"/>
              </a:spcAft>
              <a:buClr>
                <a:srgbClr val="7B1EFF"/>
              </a:buClr>
              <a:buSzTx/>
              <a:buFont typeface="Arial" panose="020B0604020202020204" pitchFamily="34" charset="0"/>
              <a:buNone/>
              <a:tabLst/>
              <a:defRPr/>
            </a:pPr>
            <a:r>
              <a:rPr kumimoji="0" lang="en-US" sz="1200" b="0" i="0" u="none" strike="noStrike" kern="1200" cap="none" spc="0" normalizeH="0" baseline="0" noProof="0">
                <a:ln>
                  <a:noFill/>
                </a:ln>
                <a:solidFill>
                  <a:srgbClr val="7B1EFF">
                    <a:lumMod val="20000"/>
                    <a:lumOff val="80000"/>
                  </a:srgbClr>
                </a:solidFill>
                <a:effectLst/>
                <a:uLnTx/>
                <a:uFillTx/>
                <a:latin typeface="Calibri"/>
                <a:ea typeface="+mn-ea"/>
                <a:cs typeface="+mn-cs"/>
              </a:rPr>
              <a:t>Senior Product Manager, Microsoft</a:t>
            </a:r>
          </a:p>
        </p:txBody>
      </p:sp>
      <p:sp>
        <p:nvSpPr>
          <p:cNvPr id="5" name="Google Shape;437;p14">
            <a:extLst>
              <a:ext uri="{FF2B5EF4-FFF2-40B4-BE49-F238E27FC236}">
                <a16:creationId xmlns:a16="http://schemas.microsoft.com/office/drawing/2014/main" id="{7E1CE2EF-B014-F336-D679-0F9B5A2D17A0}"/>
              </a:ext>
            </a:extLst>
          </p:cNvPr>
          <p:cNvSpPr txBox="1"/>
          <p:nvPr/>
        </p:nvSpPr>
        <p:spPr>
          <a:xfrm>
            <a:off x="816736" y="4119001"/>
            <a:ext cx="2059051" cy="2462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marL="0" marR="0" lvl="0" indent="7701" algn="l" defTabSz="914367" rtl="0" eaLnBrk="1" fontAlgn="auto" latinLnBrk="0" hangingPunct="1">
              <a:lnSpc>
                <a:spcPct val="100000"/>
              </a:lnSpc>
              <a:spcBef>
                <a:spcPts val="0"/>
              </a:spcBef>
              <a:spcAft>
                <a:spcPts val="0"/>
              </a:spcAft>
              <a:buClr>
                <a:srgbClr val="001325"/>
              </a:buClr>
              <a:buSzPts val="1400"/>
              <a:buFont typeface="Montserrat"/>
              <a:buNone/>
              <a:tabLst/>
              <a:defRPr/>
            </a:pPr>
            <a:r>
              <a:rPr kumimoji="0" lang="en-GB" sz="1600" b="0" i="0" u="none" strike="noStrike" kern="1200" cap="none" spc="0" normalizeH="0" baseline="0" noProof="0">
                <a:ln>
                  <a:noFill/>
                </a:ln>
                <a:solidFill>
                  <a:srgbClr val="FFFFFF"/>
                </a:solidFill>
                <a:effectLst/>
                <a:uLnTx/>
                <a:uFillTx/>
                <a:latin typeface="Arial Black"/>
                <a:ea typeface="Montserrat"/>
                <a:cs typeface="Arial" panose="020B0604020202020204" pitchFamily="34" charset="0"/>
                <a:sym typeface="Montserrat"/>
              </a:rPr>
              <a:t>Marilee Turscak</a:t>
            </a:r>
            <a:endParaRPr kumimoji="0" lang="en-GB" sz="1600" b="0" i="0" u="none" strike="noStrike" kern="1200" cap="none" spc="0" normalizeH="0" baseline="0" noProof="0">
              <a:ln>
                <a:noFill/>
              </a:ln>
              <a:solidFill>
                <a:srgbClr val="FFFFFF"/>
              </a:solidFill>
              <a:effectLst/>
              <a:uLnTx/>
              <a:uFillTx/>
              <a:latin typeface="Arial Black"/>
              <a:ea typeface="Arial"/>
              <a:cs typeface="Arial"/>
              <a:sym typeface="Arial"/>
            </a:endParaRPr>
          </a:p>
        </p:txBody>
      </p:sp>
      <p:sp>
        <p:nvSpPr>
          <p:cNvPr id="13" name="Google Shape;436;p14">
            <a:extLst>
              <a:ext uri="{FF2B5EF4-FFF2-40B4-BE49-F238E27FC236}">
                <a16:creationId xmlns:a16="http://schemas.microsoft.com/office/drawing/2014/main" id="{D8024BFA-F0EA-5784-9AE3-650F924F04B8}"/>
              </a:ext>
            </a:extLst>
          </p:cNvPr>
          <p:cNvSpPr txBox="1"/>
          <p:nvPr/>
        </p:nvSpPr>
        <p:spPr>
          <a:xfrm>
            <a:off x="3648307" y="4795916"/>
            <a:ext cx="2060638" cy="206851"/>
          </a:xfrm>
          <a:prstGeom prst="rect">
            <a:avLst/>
          </a:prstGeom>
          <a:noFill/>
        </p:spPr>
        <p:txBody>
          <a:bodyPr wrap="square" lIns="0" tIns="0" rIns="0" bIns="0" rtlCol="0">
            <a:spAutoFit/>
          </a:bodyPr>
          <a:lstStyle>
            <a:defPPr>
              <a:defRPr lang="en-US"/>
            </a:defPPr>
            <a:lvl1pPr marL="285750" indent="-285750">
              <a:lnSpc>
                <a:spcPct val="120000"/>
              </a:lnSpc>
              <a:buFont typeface="Arial" panose="020B0604020202020204" pitchFamily="34" charset="0"/>
              <a:buChar char="•"/>
              <a:defRPr sz="1400">
                <a:solidFill>
                  <a:schemeClr val="tx2"/>
                </a:solidFil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marL="0" marR="0" lvl="0" indent="0" algn="l" defTabSz="914367" rtl="0" eaLnBrk="1" fontAlgn="auto" latinLnBrk="0" hangingPunct="1">
              <a:lnSpc>
                <a:spcPct val="120000"/>
              </a:lnSpc>
              <a:spcBef>
                <a:spcPts val="600"/>
              </a:spcBef>
              <a:spcAft>
                <a:spcPts val="0"/>
              </a:spcAft>
              <a:buClr>
                <a:srgbClr val="7B1EFF"/>
              </a:buClr>
              <a:buSzTx/>
              <a:buFont typeface="Arial" panose="020B0604020202020204" pitchFamily="34" charset="0"/>
              <a:buNone/>
              <a:tabLst/>
              <a:defRPr/>
            </a:pPr>
            <a:r>
              <a:rPr kumimoji="0" lang="en-US" sz="1200" b="0" i="0" u="none" strike="noStrike" kern="1200" cap="none" spc="0" normalizeH="0" baseline="0" noProof="0">
                <a:ln>
                  <a:noFill/>
                </a:ln>
                <a:solidFill>
                  <a:srgbClr val="FFFFFF"/>
                </a:solidFill>
                <a:effectLst/>
                <a:uLnTx/>
                <a:uFillTx/>
                <a:latin typeface="Calibri"/>
                <a:ea typeface="+mn-ea"/>
                <a:cs typeface="+mn-cs"/>
              </a:rPr>
              <a:t>Microsoft Security Team</a:t>
            </a:r>
          </a:p>
        </p:txBody>
      </p:sp>
      <p:sp>
        <p:nvSpPr>
          <p:cNvPr id="14" name="Google Shape;436;p14">
            <a:extLst>
              <a:ext uri="{FF2B5EF4-FFF2-40B4-BE49-F238E27FC236}">
                <a16:creationId xmlns:a16="http://schemas.microsoft.com/office/drawing/2014/main" id="{5755EB55-3C04-E084-324F-EFB9E31F967E}"/>
              </a:ext>
            </a:extLst>
          </p:cNvPr>
          <p:cNvSpPr txBox="1"/>
          <p:nvPr/>
        </p:nvSpPr>
        <p:spPr>
          <a:xfrm>
            <a:off x="3649895" y="4370634"/>
            <a:ext cx="2060638" cy="428451"/>
          </a:xfrm>
          <a:prstGeom prst="rect">
            <a:avLst/>
          </a:prstGeom>
          <a:noFill/>
        </p:spPr>
        <p:txBody>
          <a:bodyPr wrap="square" lIns="0" tIns="0" rIns="0" bIns="0" rtlCol="0">
            <a:spAutoFit/>
          </a:bodyPr>
          <a:lstStyle>
            <a:defPPr>
              <a:defRPr lang="en-US"/>
            </a:defPPr>
            <a:lvl1pPr marL="285750" indent="-285750">
              <a:lnSpc>
                <a:spcPct val="120000"/>
              </a:lnSpc>
              <a:buFont typeface="Arial" panose="020B0604020202020204" pitchFamily="34" charset="0"/>
              <a:buChar char="•"/>
              <a:defRPr sz="1400">
                <a:solidFill>
                  <a:schemeClr val="tx2"/>
                </a:solidFil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marL="0" marR="0" lvl="0" indent="0" algn="l" defTabSz="914367" rtl="0" eaLnBrk="1" fontAlgn="auto" latinLnBrk="0" hangingPunct="1">
              <a:lnSpc>
                <a:spcPct val="120000"/>
              </a:lnSpc>
              <a:spcBef>
                <a:spcPts val="300"/>
              </a:spcBef>
              <a:spcAft>
                <a:spcPts val="0"/>
              </a:spcAft>
              <a:buClr>
                <a:srgbClr val="7B1EFF"/>
              </a:buClr>
              <a:buSzTx/>
              <a:buFont typeface="Arial" panose="020B0604020202020204" pitchFamily="34" charset="0"/>
              <a:buNone/>
              <a:tabLst/>
              <a:defRPr/>
            </a:pPr>
            <a:r>
              <a:rPr kumimoji="0" lang="en-US" sz="1200" b="0" i="0" u="none" strike="noStrike" kern="1200" cap="none" spc="0" normalizeH="0" baseline="0" noProof="0">
                <a:ln>
                  <a:noFill/>
                </a:ln>
                <a:solidFill>
                  <a:srgbClr val="7B1EFF">
                    <a:lumMod val="20000"/>
                    <a:lumOff val="80000"/>
                  </a:srgbClr>
                </a:solidFill>
                <a:effectLst/>
                <a:uLnTx/>
                <a:uFillTx/>
                <a:latin typeface="Calibri"/>
                <a:ea typeface="+mn-ea"/>
                <a:cs typeface="+mn-cs"/>
              </a:rPr>
              <a:t>Senior Product Manager, Microsoft</a:t>
            </a:r>
          </a:p>
        </p:txBody>
      </p:sp>
      <p:sp>
        <p:nvSpPr>
          <p:cNvPr id="15" name="Google Shape;437;p14">
            <a:extLst>
              <a:ext uri="{FF2B5EF4-FFF2-40B4-BE49-F238E27FC236}">
                <a16:creationId xmlns:a16="http://schemas.microsoft.com/office/drawing/2014/main" id="{6DEAAB9C-D4FD-8F10-D6E4-463B04590BF2}"/>
              </a:ext>
            </a:extLst>
          </p:cNvPr>
          <p:cNvSpPr txBox="1"/>
          <p:nvPr/>
        </p:nvSpPr>
        <p:spPr>
          <a:xfrm>
            <a:off x="3649894" y="4119001"/>
            <a:ext cx="2059051" cy="24622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marL="0" marR="0" lvl="0" indent="7701" algn="l" defTabSz="914367" rtl="0" eaLnBrk="1" fontAlgn="auto" latinLnBrk="0" hangingPunct="1">
              <a:lnSpc>
                <a:spcPct val="100000"/>
              </a:lnSpc>
              <a:spcBef>
                <a:spcPts val="0"/>
              </a:spcBef>
              <a:spcAft>
                <a:spcPts val="0"/>
              </a:spcAft>
              <a:buClr>
                <a:srgbClr val="001325"/>
              </a:buClr>
              <a:buSzPts val="1400"/>
              <a:buFont typeface="Montserrat"/>
              <a:buNone/>
              <a:tabLst/>
              <a:defRPr/>
            </a:pPr>
            <a:r>
              <a:rPr kumimoji="0" lang="en-GB" sz="1600" b="0" i="0" u="none" strike="noStrike" kern="1200" cap="none" spc="0" normalizeH="0" baseline="0" noProof="0">
                <a:ln>
                  <a:noFill/>
                </a:ln>
                <a:solidFill>
                  <a:srgbClr val="FFFFFF"/>
                </a:solidFill>
                <a:effectLst/>
                <a:uLnTx/>
                <a:uFillTx/>
                <a:latin typeface="Arial Black"/>
                <a:ea typeface="Montserrat"/>
                <a:cs typeface="Arial" panose="020B0604020202020204" pitchFamily="34" charset="0"/>
                <a:sym typeface="Montserrat"/>
              </a:rPr>
              <a:t>Janice Ricketts</a:t>
            </a:r>
            <a:endParaRPr kumimoji="0" lang="en-GB" sz="1600" b="0" i="0" u="none" strike="noStrike" kern="1200" cap="none" spc="0" normalizeH="0" baseline="0" noProof="0">
              <a:ln>
                <a:noFill/>
              </a:ln>
              <a:solidFill>
                <a:srgbClr val="FFFFFF"/>
              </a:solidFill>
              <a:effectLst/>
              <a:uLnTx/>
              <a:uFillTx/>
              <a:latin typeface="Arial Black"/>
              <a:ea typeface="Arial"/>
              <a:cs typeface="Arial"/>
              <a:sym typeface="Arial"/>
            </a:endParaRPr>
          </a:p>
        </p:txBody>
      </p:sp>
      <p:pic>
        <p:nvPicPr>
          <p:cNvPr id="18" name="Picture Placeholder 17">
            <a:extLst>
              <a:ext uri="{FF2B5EF4-FFF2-40B4-BE49-F238E27FC236}">
                <a16:creationId xmlns:a16="http://schemas.microsoft.com/office/drawing/2014/main" id="{B795F865-0BA0-4D8B-9351-FD0D80EA6859}"/>
              </a:ext>
            </a:extLst>
          </p:cNvPr>
          <p:cNvPicPr>
            <a:picLocks noGrp="1" noChangeAspect="1"/>
          </p:cNvPicPr>
          <p:nvPr>
            <p:ph type="pic" sz="quarter" idx="12"/>
          </p:nvPr>
        </p:nvPicPr>
        <p:blipFill>
          <a:blip r:embed="rId3"/>
          <a:srcRect t="8824" b="8824"/>
          <a:stretch>
            <a:fillRect/>
          </a:stretch>
        </p:blipFill>
        <p:spPr>
          <a:custGeom>
            <a:avLst/>
            <a:gdLst>
              <a:gd name="connsiteX0" fmla="*/ 112783 w 2260640"/>
              <a:gd name="connsiteY0" fmla="*/ 0 h 2260694"/>
              <a:gd name="connsiteX1" fmla="*/ 2147857 w 2260640"/>
              <a:gd name="connsiteY1" fmla="*/ 0 h 2260694"/>
              <a:gd name="connsiteX2" fmla="*/ 2260640 w 2260640"/>
              <a:gd name="connsiteY2" fmla="*/ 112783 h 2260694"/>
              <a:gd name="connsiteX3" fmla="*/ 2260640 w 2260640"/>
              <a:gd name="connsiteY3" fmla="*/ 2147911 h 2260694"/>
              <a:gd name="connsiteX4" fmla="*/ 2147857 w 2260640"/>
              <a:gd name="connsiteY4" fmla="*/ 2260694 h 2260694"/>
              <a:gd name="connsiteX5" fmla="*/ 112783 w 2260640"/>
              <a:gd name="connsiteY5" fmla="*/ 2260694 h 2260694"/>
              <a:gd name="connsiteX6" fmla="*/ 0 w 2260640"/>
              <a:gd name="connsiteY6" fmla="*/ 2147911 h 2260694"/>
              <a:gd name="connsiteX7" fmla="*/ 0 w 2260640"/>
              <a:gd name="connsiteY7" fmla="*/ 112783 h 2260694"/>
              <a:gd name="connsiteX8" fmla="*/ 112783 w 2260640"/>
              <a:gd name="connsiteY8" fmla="*/ 0 h 2260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0640" h="2260694">
                <a:moveTo>
                  <a:pt x="112783" y="0"/>
                </a:moveTo>
                <a:lnTo>
                  <a:pt x="2147857" y="0"/>
                </a:lnTo>
                <a:cubicBezTo>
                  <a:pt x="2210145" y="0"/>
                  <a:pt x="2260640" y="50495"/>
                  <a:pt x="2260640" y="112783"/>
                </a:cubicBezTo>
                <a:lnTo>
                  <a:pt x="2260640" y="2147911"/>
                </a:lnTo>
                <a:cubicBezTo>
                  <a:pt x="2260640" y="2210199"/>
                  <a:pt x="2210145" y="2260694"/>
                  <a:pt x="2147857" y="2260694"/>
                </a:cubicBezTo>
                <a:lnTo>
                  <a:pt x="112783" y="2260694"/>
                </a:lnTo>
                <a:cubicBezTo>
                  <a:pt x="50495" y="2260694"/>
                  <a:pt x="0" y="2210199"/>
                  <a:pt x="0" y="2147911"/>
                </a:cubicBezTo>
                <a:lnTo>
                  <a:pt x="0" y="112783"/>
                </a:lnTo>
                <a:cubicBezTo>
                  <a:pt x="0" y="50495"/>
                  <a:pt x="50495" y="0"/>
                  <a:pt x="112783" y="0"/>
                </a:cubicBezTo>
                <a:close/>
              </a:path>
            </a:pathLst>
          </a:custGeom>
          <a:noFill/>
        </p:spPr>
      </p:pic>
    </p:spTree>
    <p:extLst>
      <p:ext uri="{BB962C8B-B14F-4D97-AF65-F5344CB8AC3E}">
        <p14:creationId xmlns:p14="http://schemas.microsoft.com/office/powerpoint/2010/main" val="1713392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EAD10-EDC5-0ADC-0E7E-3C7A6BB0B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94861A-1202-3E51-C8DC-55449633A556}"/>
              </a:ext>
            </a:extLst>
          </p:cNvPr>
          <p:cNvSpPr>
            <a:spLocks noGrp="1"/>
          </p:cNvSpPr>
          <p:nvPr>
            <p:ph type="title"/>
          </p:nvPr>
        </p:nvSpPr>
        <p:spPr>
          <a:xfrm>
            <a:off x="571500" y="522516"/>
            <a:ext cx="11049000" cy="369332"/>
          </a:xfrm>
        </p:spPr>
        <p:txBody>
          <a:bodyPr/>
          <a:lstStyle/>
          <a:p>
            <a:r>
              <a:rPr lang="en-US" dirty="0">
                <a:gradFill>
                  <a:gsLst>
                    <a:gs pos="0">
                      <a:schemeClr val="accent1"/>
                    </a:gs>
                    <a:gs pos="100000">
                      <a:schemeClr val="accent2"/>
                    </a:gs>
                  </a:gsLst>
                  <a:lin ang="0" scaled="1"/>
                </a:gradFill>
              </a:rPr>
              <a:t>Agenda</a:t>
            </a:r>
          </a:p>
        </p:txBody>
      </p:sp>
      <p:pic>
        <p:nvPicPr>
          <p:cNvPr id="13" name="Picture Placeholder 12">
            <a:extLst>
              <a:ext uri="{FF2B5EF4-FFF2-40B4-BE49-F238E27FC236}">
                <a16:creationId xmlns:a16="http://schemas.microsoft.com/office/drawing/2014/main" id="{AA06D3BA-B7BE-93C3-8827-58B0415C03C8}"/>
              </a:ext>
            </a:extLst>
          </p:cNvPr>
          <p:cNvPicPr>
            <a:picLocks noGrp="1" noChangeAspect="1"/>
          </p:cNvPicPr>
          <p:nvPr>
            <p:ph type="pic" sz="quarter" idx="11"/>
          </p:nvPr>
        </p:nvPicPr>
        <p:blipFill>
          <a:blip r:embed="rId3"/>
          <a:srcRect l="276" r="276"/>
          <a:stretch/>
        </p:blipFill>
        <p:spPr>
          <a:xfrm>
            <a:off x="5937504" y="1530351"/>
            <a:ext cx="5682996" cy="4041394"/>
          </a:xfrm>
          <a:custGeom>
            <a:avLst/>
            <a:gdLst>
              <a:gd name="connsiteX0" fmla="*/ 216144 w 6323011"/>
              <a:gd name="connsiteY0" fmla="*/ 0 h 4821237"/>
              <a:gd name="connsiteX1" fmla="*/ 6106868 w 6323011"/>
              <a:gd name="connsiteY1" fmla="*/ 0 h 4821237"/>
              <a:gd name="connsiteX2" fmla="*/ 6323011 w 6323011"/>
              <a:gd name="connsiteY2" fmla="*/ 226020 h 4821237"/>
              <a:gd name="connsiteX3" fmla="*/ 6323011 w 6323011"/>
              <a:gd name="connsiteY3" fmla="*/ 4595217 h 4821237"/>
              <a:gd name="connsiteX4" fmla="*/ 6106868 w 6323011"/>
              <a:gd name="connsiteY4" fmla="*/ 4821237 h 4821237"/>
              <a:gd name="connsiteX5" fmla="*/ 216144 w 6323011"/>
              <a:gd name="connsiteY5" fmla="*/ 4821237 h 4821237"/>
              <a:gd name="connsiteX6" fmla="*/ 0 w 6323011"/>
              <a:gd name="connsiteY6" fmla="*/ 4595217 h 4821237"/>
              <a:gd name="connsiteX7" fmla="*/ 0 w 6323011"/>
              <a:gd name="connsiteY7" fmla="*/ 226020 h 4821237"/>
              <a:gd name="connsiteX8" fmla="*/ 216144 w 6323011"/>
              <a:gd name="connsiteY8" fmla="*/ 0 h 4821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23011" h="4821237">
                <a:moveTo>
                  <a:pt x="216144" y="0"/>
                </a:moveTo>
                <a:lnTo>
                  <a:pt x="6106868" y="0"/>
                </a:lnTo>
                <a:cubicBezTo>
                  <a:pt x="6226240" y="0"/>
                  <a:pt x="6323011" y="101193"/>
                  <a:pt x="6323011" y="226020"/>
                </a:cubicBezTo>
                <a:lnTo>
                  <a:pt x="6323011" y="4595217"/>
                </a:lnTo>
                <a:cubicBezTo>
                  <a:pt x="6323011" y="4720044"/>
                  <a:pt x="6226240" y="4821237"/>
                  <a:pt x="6106868" y="4821237"/>
                </a:cubicBezTo>
                <a:lnTo>
                  <a:pt x="216144" y="4821237"/>
                </a:lnTo>
                <a:cubicBezTo>
                  <a:pt x="96771" y="4821237"/>
                  <a:pt x="0" y="4720044"/>
                  <a:pt x="0" y="4595217"/>
                </a:cubicBezTo>
                <a:lnTo>
                  <a:pt x="0" y="226020"/>
                </a:lnTo>
                <a:cubicBezTo>
                  <a:pt x="0" y="101193"/>
                  <a:pt x="96771" y="0"/>
                  <a:pt x="216144" y="0"/>
                </a:cubicBezTo>
                <a:close/>
              </a:path>
            </a:pathLst>
          </a:custGeom>
          <a:noFill/>
        </p:spPr>
      </p:pic>
      <p:sp>
        <p:nvSpPr>
          <p:cNvPr id="9" name="Content Placeholder 8">
            <a:extLst>
              <a:ext uri="{FF2B5EF4-FFF2-40B4-BE49-F238E27FC236}">
                <a16:creationId xmlns:a16="http://schemas.microsoft.com/office/drawing/2014/main" id="{DE88EA31-194E-3492-2129-005313EEFAF7}"/>
              </a:ext>
            </a:extLst>
          </p:cNvPr>
          <p:cNvSpPr>
            <a:spLocks noGrp="1"/>
          </p:cNvSpPr>
          <p:nvPr>
            <p:ph sz="quarter" idx="13"/>
          </p:nvPr>
        </p:nvSpPr>
        <p:spPr>
          <a:xfrm>
            <a:off x="571500" y="1965912"/>
            <a:ext cx="4943180" cy="3299365"/>
          </a:xfrm>
        </p:spPr>
        <p:txBody>
          <a:bodyPr/>
          <a:lstStyle/>
          <a:p>
            <a:r>
              <a:rPr lang="en-US" sz="2000" dirty="0"/>
              <a:t>Today’s scope: </a:t>
            </a:r>
          </a:p>
          <a:p>
            <a:pPr marL="285750" indent="-285750">
              <a:buFont typeface="Arial" panose="020B0604020202020204" pitchFamily="34" charset="0"/>
              <a:buChar char="•"/>
            </a:pPr>
            <a:r>
              <a:rPr lang="en-US" sz="2000" dirty="0"/>
              <a:t>Building secure skills</a:t>
            </a:r>
          </a:p>
          <a:p>
            <a:pPr marL="285750" indent="-285750">
              <a:buFont typeface="Arial" panose="020B0604020202020204" pitchFamily="34" charset="0"/>
              <a:buChar char="•"/>
            </a:pPr>
            <a:r>
              <a:rPr lang="en-US" sz="2000" dirty="0"/>
              <a:t>Security Review skill demo</a:t>
            </a:r>
          </a:p>
          <a:p>
            <a:pPr marL="285750" indent="-285750">
              <a:buFont typeface="Arial" panose="020B0604020202020204" pitchFamily="34" charset="0"/>
              <a:buChar char="•"/>
            </a:pPr>
            <a:r>
              <a:rPr lang="en-US" sz="2000" dirty="0"/>
              <a:t>North star – where are we trying to get to and Microsoft’s for enterprise admins</a:t>
            </a:r>
          </a:p>
          <a:p>
            <a:pPr marL="285750" indent="-285750">
              <a:buFont typeface="Arial" panose="020B0604020202020204" pitchFamily="34" charset="0"/>
              <a:buChar char="•"/>
            </a:pPr>
            <a:r>
              <a:rPr lang="en-US" sz="2000" dirty="0"/>
              <a:t>Go-do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sz="1400" dirty="0">
              <a:solidFill>
                <a:schemeClr val="tx1"/>
              </a:solidFill>
            </a:endParaRPr>
          </a:p>
        </p:txBody>
      </p:sp>
    </p:spTree>
    <p:extLst>
      <p:ext uri="{BB962C8B-B14F-4D97-AF65-F5344CB8AC3E}">
        <p14:creationId xmlns:p14="http://schemas.microsoft.com/office/powerpoint/2010/main" val="1656582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667512"/>
            <a:ext cx="10744200" cy="658368"/>
          </a:xfrm>
          <a:prstGeom prst="rect">
            <a:avLst/>
          </a:prstGeom>
          <a:noFill/>
        </p:spPr>
        <p:txBody>
          <a:bodyPr wrap="square" lIns="0" tIns="0" rIns="0" bIns="0" anchor="t">
            <a:spAutoFit/>
          </a:bodyPr>
          <a:lstStyle/>
          <a:p>
            <a:pPr algn="l"/>
            <a:r>
              <a:rPr sz="2800" b="1">
                <a:solidFill>
                  <a:srgbClr val="FFFFFF"/>
                </a:solidFill>
                <a:latin typeface="Aptos"/>
              </a:rPr>
              <a:t>Quick poll before we start</a:t>
            </a:r>
          </a:p>
        </p:txBody>
      </p:sp>
      <p:sp>
        <p:nvSpPr>
          <p:cNvPr id="5" name="TextBox 4"/>
          <p:cNvSpPr txBox="1"/>
          <p:nvPr/>
        </p:nvSpPr>
        <p:spPr>
          <a:xfrm>
            <a:off x="658368" y="1307592"/>
            <a:ext cx="5760720" cy="310896"/>
          </a:xfrm>
          <a:prstGeom prst="rect">
            <a:avLst/>
          </a:prstGeom>
          <a:noFill/>
        </p:spPr>
        <p:txBody>
          <a:bodyPr wrap="square" lIns="0" tIns="0" rIns="0" bIns="0" anchor="t">
            <a:spAutoFit/>
          </a:bodyPr>
          <a:lstStyle/>
          <a:p>
            <a:pPr algn="l"/>
            <a:r>
              <a:rPr sz="1400" b="0">
                <a:solidFill>
                  <a:srgbClr val="C3CDE2"/>
                </a:solidFill>
                <a:latin typeface="Aptos"/>
              </a:rPr>
              <a:t>Keep your hand up for every one that applies.</a:t>
            </a:r>
          </a:p>
        </p:txBody>
      </p:sp>
      <p:sp>
        <p:nvSpPr>
          <p:cNvPr id="6" name="TextBox 5"/>
          <p:cNvSpPr txBox="1"/>
          <p:nvPr/>
        </p:nvSpPr>
        <p:spPr>
          <a:xfrm>
            <a:off x="685800" y="1920240"/>
            <a:ext cx="548640" cy="292608"/>
          </a:xfrm>
          <a:prstGeom prst="rect">
            <a:avLst/>
          </a:prstGeom>
          <a:noFill/>
        </p:spPr>
        <p:txBody>
          <a:bodyPr wrap="square" lIns="0" tIns="0" rIns="0" bIns="0" anchor="t">
            <a:spAutoFit/>
          </a:bodyPr>
          <a:lstStyle/>
          <a:p>
            <a:pPr algn="l"/>
            <a:r>
              <a:rPr sz="1100" b="1">
                <a:solidFill>
                  <a:srgbClr val="00B1D9"/>
                </a:solidFill>
                <a:latin typeface="Aptos"/>
              </a:rPr>
              <a:t>01</a:t>
            </a:r>
          </a:p>
        </p:txBody>
      </p:sp>
      <p:sp>
        <p:nvSpPr>
          <p:cNvPr id="7" name="Rectangle 6"/>
          <p:cNvSpPr/>
          <p:nvPr/>
        </p:nvSpPr>
        <p:spPr>
          <a:xfrm>
            <a:off x="685800" y="2331720"/>
            <a:ext cx="100584" cy="2606040"/>
          </a:xfrm>
          <a:prstGeom prst="rect">
            <a:avLst/>
          </a:prstGeom>
          <a:solidFill>
            <a:srgbClr val="00B1D9"/>
          </a:solidFill>
          <a:ln>
            <a:solidFill>
              <a:srgbClr val="00B1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331720"/>
            <a:ext cx="3090672" cy="804672"/>
          </a:xfrm>
          <a:prstGeom prst="rect">
            <a:avLst/>
          </a:prstGeom>
          <a:noFill/>
        </p:spPr>
        <p:txBody>
          <a:bodyPr wrap="square" lIns="0" tIns="0" rIns="0" bIns="0" anchor="t">
            <a:spAutoFit/>
          </a:bodyPr>
          <a:lstStyle/>
          <a:p>
            <a:pPr algn="l"/>
            <a:r>
              <a:rPr sz="1700" b="1">
                <a:solidFill>
                  <a:srgbClr val="FFFFFF"/>
                </a:solidFill>
                <a:latin typeface="Aptos"/>
              </a:rPr>
              <a:t>You asked an AI agent
to do ONE thing…</a:t>
            </a:r>
          </a:p>
        </p:txBody>
      </p:sp>
      <p:sp>
        <p:nvSpPr>
          <p:cNvPr id="9" name="TextBox 8"/>
          <p:cNvSpPr txBox="1"/>
          <p:nvPr/>
        </p:nvSpPr>
        <p:spPr>
          <a:xfrm>
            <a:off x="1005840" y="3337560"/>
            <a:ext cx="3063240" cy="553998"/>
          </a:xfrm>
          <a:prstGeom prst="rect">
            <a:avLst/>
          </a:prstGeom>
          <a:noFill/>
        </p:spPr>
        <p:txBody>
          <a:bodyPr wrap="square" lIns="0" tIns="0" rIns="0" bIns="0" anchor="t">
            <a:spAutoFit/>
          </a:bodyPr>
          <a:lstStyle/>
          <a:p>
            <a:pPr algn="l"/>
            <a:r>
              <a:rPr sz="1200" b="0" dirty="0">
                <a:solidFill>
                  <a:srgbClr val="C2CCE1"/>
                </a:solidFill>
                <a:latin typeface="Aptos"/>
              </a:rPr>
              <a:t>It called 14 tools, burned through the token budget, </a:t>
            </a:r>
            <a:r>
              <a:rPr lang="en-US" sz="1200" b="0" dirty="0">
                <a:solidFill>
                  <a:srgbClr val="C2CCE1"/>
                </a:solidFill>
                <a:latin typeface="Aptos"/>
              </a:rPr>
              <a:t>downloaded python scripts, </a:t>
            </a:r>
            <a:r>
              <a:rPr sz="1200" b="0" dirty="0">
                <a:solidFill>
                  <a:srgbClr val="C2CCE1"/>
                </a:solidFill>
                <a:latin typeface="Aptos"/>
              </a:rPr>
              <a:t>and </a:t>
            </a:r>
            <a:r>
              <a:rPr lang="en-US" sz="1200" b="0" dirty="0">
                <a:solidFill>
                  <a:srgbClr val="C2CCE1"/>
                </a:solidFill>
                <a:latin typeface="Aptos"/>
              </a:rPr>
              <a:t>provided an irrelevant output/answer</a:t>
            </a:r>
            <a:endParaRPr sz="1200" b="0" dirty="0">
              <a:solidFill>
                <a:srgbClr val="C2CCE1"/>
              </a:solidFill>
              <a:latin typeface="Aptos"/>
            </a:endParaRPr>
          </a:p>
        </p:txBody>
      </p:sp>
      <p:sp>
        <p:nvSpPr>
          <p:cNvPr id="10" name="TextBox 9"/>
          <p:cNvSpPr txBox="1"/>
          <p:nvPr/>
        </p:nvSpPr>
        <p:spPr>
          <a:xfrm>
            <a:off x="4471416" y="1920240"/>
            <a:ext cx="548640" cy="292608"/>
          </a:xfrm>
          <a:prstGeom prst="rect">
            <a:avLst/>
          </a:prstGeom>
          <a:noFill/>
        </p:spPr>
        <p:txBody>
          <a:bodyPr wrap="square" lIns="0" tIns="0" rIns="0" bIns="0" anchor="t">
            <a:spAutoFit/>
          </a:bodyPr>
          <a:lstStyle/>
          <a:p>
            <a:pPr algn="l"/>
            <a:r>
              <a:rPr sz="1100" b="1">
                <a:solidFill>
                  <a:srgbClr val="00AA80"/>
                </a:solidFill>
                <a:latin typeface="Aptos"/>
              </a:rPr>
              <a:t>02</a:t>
            </a:r>
          </a:p>
        </p:txBody>
      </p:sp>
      <p:sp>
        <p:nvSpPr>
          <p:cNvPr id="11" name="Rectangle 10"/>
          <p:cNvSpPr/>
          <p:nvPr/>
        </p:nvSpPr>
        <p:spPr>
          <a:xfrm>
            <a:off x="4471416" y="2331720"/>
            <a:ext cx="100584" cy="2606040"/>
          </a:xfrm>
          <a:prstGeom prst="rect">
            <a:avLst/>
          </a:prstGeom>
          <a:solidFill>
            <a:srgbClr val="00AA80"/>
          </a:solidFill>
          <a:ln>
            <a:solidFill>
              <a:srgbClr val="00AA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91455" y="2331720"/>
            <a:ext cx="3090672" cy="804672"/>
          </a:xfrm>
          <a:prstGeom prst="rect">
            <a:avLst/>
          </a:prstGeom>
          <a:noFill/>
        </p:spPr>
        <p:txBody>
          <a:bodyPr wrap="square" lIns="0" tIns="0" rIns="0" bIns="0" anchor="t">
            <a:spAutoFit/>
          </a:bodyPr>
          <a:lstStyle/>
          <a:p>
            <a:pPr algn="l"/>
            <a:r>
              <a:rPr sz="1700" b="1">
                <a:solidFill>
                  <a:srgbClr val="FFFFFF"/>
                </a:solidFill>
                <a:latin typeface="Aptos"/>
              </a:rPr>
              <a:t>You opened a document
that looked useful…</a:t>
            </a:r>
          </a:p>
        </p:txBody>
      </p:sp>
      <p:sp>
        <p:nvSpPr>
          <p:cNvPr id="13" name="TextBox 12"/>
          <p:cNvSpPr txBox="1"/>
          <p:nvPr/>
        </p:nvSpPr>
        <p:spPr>
          <a:xfrm>
            <a:off x="4791455" y="3337560"/>
            <a:ext cx="3063240" cy="553998"/>
          </a:xfrm>
          <a:prstGeom prst="rect">
            <a:avLst/>
          </a:prstGeom>
          <a:noFill/>
        </p:spPr>
        <p:txBody>
          <a:bodyPr wrap="square" lIns="0" tIns="0" rIns="0" bIns="0" anchor="t">
            <a:spAutoFit/>
          </a:bodyPr>
          <a:lstStyle/>
          <a:p>
            <a:pPr algn="l"/>
            <a:r>
              <a:rPr sz="1200" b="0" dirty="0">
                <a:solidFill>
                  <a:srgbClr val="C2CCE1"/>
                </a:solidFill>
                <a:latin typeface="Aptos"/>
              </a:rPr>
              <a:t>Three paragraphs later, </a:t>
            </a:r>
            <a:r>
              <a:rPr lang="en-US" sz="1200" b="0" dirty="0">
                <a:solidFill>
                  <a:srgbClr val="C2CCE1"/>
                </a:solidFill>
                <a:latin typeface="Aptos"/>
              </a:rPr>
              <a:t>realized </a:t>
            </a:r>
            <a:r>
              <a:rPr sz="1200" b="0" dirty="0">
                <a:solidFill>
                  <a:srgbClr val="C2CCE1"/>
                </a:solidFill>
                <a:latin typeface="Aptos"/>
              </a:rPr>
              <a:t>it was unedited AI content sourced from a Reddit shitpost.</a:t>
            </a:r>
          </a:p>
        </p:txBody>
      </p:sp>
      <p:sp>
        <p:nvSpPr>
          <p:cNvPr id="14" name="TextBox 13"/>
          <p:cNvSpPr txBox="1"/>
          <p:nvPr/>
        </p:nvSpPr>
        <p:spPr>
          <a:xfrm>
            <a:off x="8257031" y="1920240"/>
            <a:ext cx="548640" cy="292608"/>
          </a:xfrm>
          <a:prstGeom prst="rect">
            <a:avLst/>
          </a:prstGeom>
          <a:noFill/>
        </p:spPr>
        <p:txBody>
          <a:bodyPr wrap="square" lIns="0" tIns="0" rIns="0" bIns="0" anchor="t">
            <a:spAutoFit/>
          </a:bodyPr>
          <a:lstStyle/>
          <a:p>
            <a:pPr algn="l"/>
            <a:r>
              <a:rPr sz="1100" b="1">
                <a:solidFill>
                  <a:srgbClr val="E69326"/>
                </a:solidFill>
                <a:latin typeface="Aptos"/>
              </a:rPr>
              <a:t>03</a:t>
            </a:r>
          </a:p>
        </p:txBody>
      </p:sp>
      <p:sp>
        <p:nvSpPr>
          <p:cNvPr id="15" name="Rectangle 14"/>
          <p:cNvSpPr/>
          <p:nvPr/>
        </p:nvSpPr>
        <p:spPr>
          <a:xfrm>
            <a:off x="8257031" y="2331720"/>
            <a:ext cx="100584" cy="2606040"/>
          </a:xfrm>
          <a:prstGeom prst="rect">
            <a:avLst/>
          </a:prstGeom>
          <a:solidFill>
            <a:srgbClr val="E69326"/>
          </a:solidFill>
          <a:ln>
            <a:solidFill>
              <a:srgbClr val="E693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77072" y="2331720"/>
            <a:ext cx="3090672" cy="804672"/>
          </a:xfrm>
          <a:prstGeom prst="rect">
            <a:avLst/>
          </a:prstGeom>
          <a:noFill/>
        </p:spPr>
        <p:txBody>
          <a:bodyPr wrap="square" lIns="0" tIns="0" rIns="0" bIns="0" anchor="t">
            <a:spAutoFit/>
          </a:bodyPr>
          <a:lstStyle/>
          <a:p>
            <a:pPr algn="l"/>
            <a:r>
              <a:rPr sz="1700" b="1">
                <a:solidFill>
                  <a:srgbClr val="FFFFFF"/>
                </a:solidFill>
                <a:latin typeface="Aptos"/>
              </a:rPr>
              <a:t>You installed a cool
new tool or agent…</a:t>
            </a:r>
          </a:p>
        </p:txBody>
      </p:sp>
      <p:sp>
        <p:nvSpPr>
          <p:cNvPr id="17" name="TextBox 16"/>
          <p:cNvSpPr txBox="1"/>
          <p:nvPr/>
        </p:nvSpPr>
        <p:spPr>
          <a:xfrm>
            <a:off x="8577072" y="3337560"/>
            <a:ext cx="3063240" cy="1234440"/>
          </a:xfrm>
          <a:prstGeom prst="rect">
            <a:avLst/>
          </a:prstGeom>
          <a:noFill/>
        </p:spPr>
        <p:txBody>
          <a:bodyPr wrap="square" lIns="0" tIns="0" rIns="0" bIns="0" anchor="t">
            <a:spAutoFit/>
          </a:bodyPr>
          <a:lstStyle/>
          <a:p>
            <a:pPr algn="l"/>
            <a:r>
              <a:rPr sz="1200" b="0">
                <a:solidFill>
                  <a:srgbClr val="C2CCE1"/>
                </a:solidFill>
                <a:latin typeface="Aptos"/>
              </a:rPr>
              <a:t>Then lay awake at 2 AM wondering what else it could access.</a:t>
            </a:r>
          </a:p>
        </p:txBody>
      </p:sp>
      <p:sp>
        <p:nvSpPr>
          <p:cNvPr id="18" name="TextBox 17"/>
          <p:cNvSpPr txBox="1"/>
          <p:nvPr/>
        </p:nvSpPr>
        <p:spPr>
          <a:xfrm>
            <a:off x="694944" y="5742432"/>
            <a:ext cx="10744200" cy="365760"/>
          </a:xfrm>
          <a:prstGeom prst="rect">
            <a:avLst/>
          </a:prstGeom>
          <a:noFill/>
        </p:spPr>
        <p:txBody>
          <a:bodyPr wrap="square" lIns="0" tIns="0" rIns="0" bIns="0" anchor="t">
            <a:spAutoFit/>
          </a:bodyPr>
          <a:lstStyle/>
          <a:p>
            <a:pPr algn="ctr"/>
            <a:r>
              <a:rPr sz="1400" b="1">
                <a:solidFill>
                  <a:srgbClr val="EF3281"/>
                </a:solidFill>
                <a:latin typeface="Aptos"/>
              </a:rPr>
              <a:t>Different symptoms. The same underlying problem: too much left open to interpretation.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01752"/>
            <a:ext cx="10515600" cy="182880"/>
          </a:xfrm>
          <a:prstGeom prst="rect">
            <a:avLst/>
          </a:prstGeom>
          <a:noFill/>
        </p:spPr>
        <p:txBody>
          <a:bodyPr wrap="square" lIns="9144" tIns="9144" rIns="9144" bIns="9144" anchor="t">
            <a:spAutoFit/>
          </a:bodyPr>
          <a:lstStyle/>
          <a:p>
            <a:pPr algn="l"/>
            <a:r>
              <a:rPr sz="780" b="1">
                <a:solidFill>
                  <a:srgbClr val="1AD2E7"/>
                </a:solidFill>
                <a:latin typeface="Aptos"/>
              </a:rPr>
              <a:t>PRECISION CONTROLS BOTH PROVENANCE AND REACH</a:t>
            </a:r>
          </a:p>
        </p:txBody>
      </p:sp>
      <p:sp>
        <p:nvSpPr>
          <p:cNvPr id="3" name="TextBox 2"/>
          <p:cNvSpPr txBox="1"/>
          <p:nvPr/>
        </p:nvSpPr>
        <p:spPr>
          <a:xfrm>
            <a:off x="658368" y="658368"/>
            <a:ext cx="10789920" cy="387798"/>
          </a:xfrm>
          <a:prstGeom prst="rect">
            <a:avLst/>
          </a:prstGeom>
          <a:noFill/>
        </p:spPr>
        <p:txBody>
          <a:bodyPr wrap="square" lIns="9144" tIns="9144" rIns="9144" bIns="9144" anchor="t">
            <a:spAutoFit/>
          </a:bodyPr>
          <a:lstStyle/>
          <a:p>
            <a:pPr algn="l"/>
            <a:r>
              <a:rPr sz="2400" b="1" dirty="0">
                <a:solidFill>
                  <a:srgbClr val="F8F9FF"/>
                </a:solidFill>
                <a:latin typeface="Aptos"/>
              </a:rPr>
              <a:t>Why </a:t>
            </a:r>
            <a:r>
              <a:rPr lang="en-US" sz="2400" b="1" dirty="0">
                <a:solidFill>
                  <a:srgbClr val="F8F9FF"/>
                </a:solidFill>
                <a:latin typeface="Aptos"/>
              </a:rPr>
              <a:t>skills</a:t>
            </a:r>
            <a:r>
              <a:rPr sz="2400" b="1" dirty="0">
                <a:solidFill>
                  <a:srgbClr val="F8F9FF"/>
                </a:solidFill>
                <a:latin typeface="Aptos"/>
              </a:rPr>
              <a:t> </a:t>
            </a:r>
            <a:r>
              <a:rPr lang="en-US" sz="2400" b="1" dirty="0">
                <a:solidFill>
                  <a:srgbClr val="F8F9FF"/>
                </a:solidFill>
                <a:latin typeface="Aptos"/>
              </a:rPr>
              <a:t>you control</a:t>
            </a:r>
            <a:r>
              <a:rPr sz="2400" b="1" dirty="0">
                <a:solidFill>
                  <a:srgbClr val="F8F9FF"/>
                </a:solidFill>
                <a:latin typeface="Aptos"/>
              </a:rPr>
              <a:t> are </a:t>
            </a:r>
            <a:r>
              <a:rPr lang="en-US" sz="2400" b="1" dirty="0">
                <a:solidFill>
                  <a:srgbClr val="F8F9FF"/>
                </a:solidFill>
                <a:latin typeface="Aptos"/>
              </a:rPr>
              <a:t>both </a:t>
            </a:r>
            <a:r>
              <a:rPr sz="2400" b="1" dirty="0">
                <a:solidFill>
                  <a:srgbClr val="F8F9FF"/>
                </a:solidFill>
                <a:latin typeface="Aptos"/>
              </a:rPr>
              <a:t>safer</a:t>
            </a:r>
            <a:r>
              <a:rPr lang="en-US" sz="2400" b="1" dirty="0">
                <a:solidFill>
                  <a:srgbClr val="F8F9FF"/>
                </a:solidFill>
                <a:latin typeface="Aptos"/>
              </a:rPr>
              <a:t> and better</a:t>
            </a:r>
            <a:endParaRPr sz="2400" b="1" dirty="0">
              <a:solidFill>
                <a:srgbClr val="F8F9FF"/>
              </a:solidFill>
              <a:latin typeface="Aptos"/>
            </a:endParaRPr>
          </a:p>
        </p:txBody>
      </p:sp>
      <p:sp>
        <p:nvSpPr>
          <p:cNvPr id="4" name="Rectangle 3"/>
          <p:cNvSpPr/>
          <p:nvPr/>
        </p:nvSpPr>
        <p:spPr>
          <a:xfrm>
            <a:off x="0" y="6318504"/>
            <a:ext cx="12191695" cy="18288"/>
          </a:xfrm>
          <a:prstGeom prst="rect">
            <a:avLst/>
          </a:prstGeom>
          <a:solidFill>
            <a:srgbClr val="2F3070"/>
          </a:solidFill>
          <a:ln>
            <a:solidFill>
              <a:srgbClr val="2F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6476238"/>
            <a:ext cx="41148" cy="269748"/>
          </a:xfrm>
          <a:prstGeom prst="rect">
            <a:avLst/>
          </a:prstGeom>
          <a:solidFill>
            <a:srgbClr val="1AD2E7"/>
          </a:solidFill>
          <a:ln>
            <a:solidFill>
              <a:srgbClr val="1AD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71500" y="6499098"/>
            <a:ext cx="41148" cy="224028"/>
          </a:xfrm>
          <a:prstGeom prst="rect">
            <a:avLst/>
          </a:prstGeom>
          <a:solidFill>
            <a:srgbClr val="3D67F6"/>
          </a:solidFill>
          <a:ln>
            <a:solidFill>
              <a:srgbClr val="3D6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6499098"/>
            <a:ext cx="41148" cy="224028"/>
          </a:xfrm>
          <a:prstGeom prst="rect">
            <a:avLst/>
          </a:prstGeom>
          <a:solidFill>
            <a:srgbClr val="9950F2"/>
          </a:solidFill>
          <a:ln>
            <a:solidFill>
              <a:srgbClr val="995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08660" y="6476238"/>
            <a:ext cx="41148" cy="269748"/>
          </a:xfrm>
          <a:prstGeom prst="rect">
            <a:avLst/>
          </a:prstGeom>
          <a:solidFill>
            <a:srgbClr val="EF2B7E"/>
          </a:solidFill>
          <a:ln>
            <a:solidFill>
              <a:srgbClr val="EF2B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6455664"/>
            <a:ext cx="1325880" cy="182880"/>
          </a:xfrm>
          <a:prstGeom prst="rect">
            <a:avLst/>
          </a:prstGeom>
          <a:noFill/>
        </p:spPr>
        <p:txBody>
          <a:bodyPr wrap="square" lIns="9144" tIns="9144" rIns="9144" bIns="9144" anchor="t">
            <a:spAutoFit/>
          </a:bodyPr>
          <a:lstStyle/>
          <a:p>
            <a:pPr algn="l"/>
            <a:r>
              <a:rPr sz="1050" b="1">
                <a:solidFill>
                  <a:srgbClr val="F8F9FF"/>
                </a:solidFill>
                <a:latin typeface="Aptos"/>
              </a:rPr>
              <a:t>InfoSecWorld</a:t>
            </a:r>
          </a:p>
        </p:txBody>
      </p:sp>
      <p:sp>
        <p:nvSpPr>
          <p:cNvPr id="10" name="TextBox 9"/>
          <p:cNvSpPr txBox="1"/>
          <p:nvPr/>
        </p:nvSpPr>
        <p:spPr>
          <a:xfrm>
            <a:off x="9802368" y="6473952"/>
            <a:ext cx="960120" cy="146304"/>
          </a:xfrm>
          <a:prstGeom prst="rect">
            <a:avLst/>
          </a:prstGeom>
          <a:noFill/>
        </p:spPr>
        <p:txBody>
          <a:bodyPr wrap="square" lIns="9144" tIns="9144" rIns="9144" bIns="9144" anchor="t">
            <a:spAutoFit/>
          </a:bodyPr>
          <a:lstStyle/>
          <a:p>
            <a:pPr algn="l"/>
            <a:r>
              <a:rPr sz="750" b="0">
                <a:solidFill>
                  <a:srgbClr val="B2B8D6"/>
                </a:solidFill>
                <a:latin typeface="Aptos"/>
              </a:rPr>
              <a:t>#InfoSecWorld</a:t>
            </a:r>
          </a:p>
        </p:txBody>
      </p:sp>
      <p:sp>
        <p:nvSpPr>
          <p:cNvPr id="11" name="TextBox 10"/>
          <p:cNvSpPr txBox="1"/>
          <p:nvPr/>
        </p:nvSpPr>
        <p:spPr>
          <a:xfrm>
            <a:off x="10917936" y="6455664"/>
            <a:ext cx="566928" cy="164592"/>
          </a:xfrm>
          <a:prstGeom prst="rect">
            <a:avLst/>
          </a:prstGeom>
          <a:noFill/>
        </p:spPr>
        <p:txBody>
          <a:bodyPr wrap="square" lIns="9144" tIns="9144" rIns="9144" bIns="9144" anchor="t">
            <a:spAutoFit/>
          </a:bodyPr>
          <a:lstStyle/>
          <a:p>
            <a:pPr algn="l"/>
            <a:r>
              <a:rPr sz="800" b="0">
                <a:solidFill>
                  <a:srgbClr val="B2B8D6"/>
                </a:solidFill>
                <a:latin typeface="Aptos"/>
              </a:rPr>
              <a:t>|  05</a:t>
            </a:r>
          </a:p>
        </p:txBody>
      </p:sp>
      <p:sp>
        <p:nvSpPr>
          <p:cNvPr id="13" name="TextBox 12"/>
          <p:cNvSpPr txBox="1"/>
          <p:nvPr/>
        </p:nvSpPr>
        <p:spPr>
          <a:xfrm>
            <a:off x="729234" y="1371600"/>
            <a:ext cx="4480560" cy="233910"/>
          </a:xfrm>
          <a:prstGeom prst="rect">
            <a:avLst/>
          </a:prstGeom>
          <a:noFill/>
        </p:spPr>
        <p:txBody>
          <a:bodyPr wrap="square" lIns="9144" tIns="9144" rIns="9144" bIns="9144" anchor="t">
            <a:spAutoFit/>
          </a:bodyPr>
          <a:lstStyle/>
          <a:p>
            <a:pPr algn="l"/>
            <a:r>
              <a:rPr lang="en-US" sz="1400" b="1" dirty="0">
                <a:solidFill>
                  <a:srgbClr val="1AD2E7"/>
                </a:solidFill>
                <a:latin typeface="Aptos"/>
              </a:rPr>
              <a:t>1. </a:t>
            </a:r>
            <a:r>
              <a:rPr sz="1400" b="1" dirty="0">
                <a:solidFill>
                  <a:srgbClr val="1AD2E7"/>
                </a:solidFill>
                <a:latin typeface="Aptos"/>
              </a:rPr>
              <a:t>CONTROL THE INSTRUCTIONS</a:t>
            </a:r>
          </a:p>
        </p:txBody>
      </p:sp>
      <p:sp>
        <p:nvSpPr>
          <p:cNvPr id="14" name="TextBox 13"/>
          <p:cNvSpPr txBox="1"/>
          <p:nvPr/>
        </p:nvSpPr>
        <p:spPr>
          <a:xfrm>
            <a:off x="1170432" y="1801368"/>
            <a:ext cx="4370832" cy="566928"/>
          </a:xfrm>
          <a:prstGeom prst="rect">
            <a:avLst/>
          </a:prstGeom>
          <a:noFill/>
        </p:spPr>
        <p:txBody>
          <a:bodyPr wrap="square" lIns="9144" tIns="9144" rIns="9144" bIns="9144" anchor="t">
            <a:spAutoFit/>
          </a:bodyPr>
          <a:lstStyle/>
          <a:p>
            <a:pPr algn="l"/>
            <a:r>
              <a:rPr sz="1600" b="1">
                <a:solidFill>
                  <a:srgbClr val="F8F9FF"/>
                </a:solidFill>
                <a:latin typeface="Aptos"/>
              </a:rPr>
              <a:t>Author, inspect, and maintain the skill from a trusted source.</a:t>
            </a:r>
          </a:p>
        </p:txBody>
      </p:sp>
      <p:sp>
        <p:nvSpPr>
          <p:cNvPr id="15" name="Rectangle 14"/>
          <p:cNvSpPr/>
          <p:nvPr/>
        </p:nvSpPr>
        <p:spPr>
          <a:xfrm>
            <a:off x="868680" y="2633472"/>
            <a:ext cx="50292" cy="429768"/>
          </a:xfrm>
          <a:prstGeom prst="rect">
            <a:avLst/>
          </a:prstGeom>
          <a:solidFill>
            <a:srgbClr val="1AD2E7"/>
          </a:solidFill>
          <a:ln>
            <a:solidFill>
              <a:srgbClr val="1AD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88136" y="2615184"/>
            <a:ext cx="987552" cy="228600"/>
          </a:xfrm>
          <a:prstGeom prst="rect">
            <a:avLst/>
          </a:prstGeom>
          <a:noFill/>
        </p:spPr>
        <p:txBody>
          <a:bodyPr wrap="square" lIns="9144" tIns="9144" rIns="9144" bIns="9144" anchor="t">
            <a:spAutoFit/>
          </a:bodyPr>
          <a:lstStyle/>
          <a:p>
            <a:pPr algn="l"/>
            <a:r>
              <a:rPr sz="950" b="1">
                <a:solidFill>
                  <a:srgbClr val="1AD2E7"/>
                </a:solidFill>
                <a:latin typeface="Aptos"/>
              </a:rPr>
              <a:t>REVIEW</a:t>
            </a:r>
          </a:p>
        </p:txBody>
      </p:sp>
      <p:sp>
        <p:nvSpPr>
          <p:cNvPr id="17" name="TextBox 16"/>
          <p:cNvSpPr txBox="1"/>
          <p:nvPr/>
        </p:nvSpPr>
        <p:spPr>
          <a:xfrm>
            <a:off x="2121408" y="2596896"/>
            <a:ext cx="3401568" cy="438912"/>
          </a:xfrm>
          <a:prstGeom prst="rect">
            <a:avLst/>
          </a:prstGeom>
          <a:noFill/>
        </p:spPr>
        <p:txBody>
          <a:bodyPr wrap="square" lIns="9144" tIns="9144" rIns="9144" bIns="9144" anchor="t">
            <a:spAutoFit/>
          </a:bodyPr>
          <a:lstStyle/>
          <a:p>
            <a:pPr algn="l"/>
            <a:r>
              <a:rPr sz="1200" b="1">
                <a:solidFill>
                  <a:srgbClr val="F8F9FF"/>
                </a:solidFill>
                <a:latin typeface="Aptos"/>
              </a:rPr>
              <a:t>Instructions, scripts, references, and dependencies</a:t>
            </a:r>
          </a:p>
        </p:txBody>
      </p:sp>
      <p:sp>
        <p:nvSpPr>
          <p:cNvPr id="18" name="Rectangle 17"/>
          <p:cNvSpPr/>
          <p:nvPr/>
        </p:nvSpPr>
        <p:spPr>
          <a:xfrm>
            <a:off x="868680" y="3218688"/>
            <a:ext cx="50292" cy="429768"/>
          </a:xfrm>
          <a:prstGeom prst="rect">
            <a:avLst/>
          </a:prstGeom>
          <a:solidFill>
            <a:srgbClr val="1AD2E7"/>
          </a:solidFill>
          <a:ln>
            <a:solidFill>
              <a:srgbClr val="1AD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8136" y="3200400"/>
            <a:ext cx="987552" cy="228600"/>
          </a:xfrm>
          <a:prstGeom prst="rect">
            <a:avLst/>
          </a:prstGeom>
          <a:noFill/>
        </p:spPr>
        <p:txBody>
          <a:bodyPr wrap="square" lIns="9144" tIns="9144" rIns="9144" bIns="9144" anchor="t">
            <a:spAutoFit/>
          </a:bodyPr>
          <a:lstStyle/>
          <a:p>
            <a:pPr algn="l"/>
            <a:r>
              <a:rPr sz="950" b="1">
                <a:solidFill>
                  <a:srgbClr val="1AD2E7"/>
                </a:solidFill>
                <a:latin typeface="Aptos"/>
              </a:rPr>
              <a:t>ENCODE</a:t>
            </a:r>
          </a:p>
        </p:txBody>
      </p:sp>
      <p:sp>
        <p:nvSpPr>
          <p:cNvPr id="20" name="TextBox 19"/>
          <p:cNvSpPr txBox="1"/>
          <p:nvPr/>
        </p:nvSpPr>
        <p:spPr>
          <a:xfrm>
            <a:off x="2121408" y="3182112"/>
            <a:ext cx="3401568" cy="438912"/>
          </a:xfrm>
          <a:prstGeom prst="rect">
            <a:avLst/>
          </a:prstGeom>
          <a:noFill/>
        </p:spPr>
        <p:txBody>
          <a:bodyPr wrap="square" lIns="9144" tIns="9144" rIns="9144" bIns="9144" anchor="t">
            <a:spAutoFit/>
          </a:bodyPr>
          <a:lstStyle/>
          <a:p>
            <a:pPr algn="l"/>
            <a:r>
              <a:rPr sz="1200" b="1">
                <a:solidFill>
                  <a:srgbClr val="F8F9FF"/>
                </a:solidFill>
                <a:latin typeface="Aptos"/>
              </a:rPr>
              <a:t>Your approved method and quality expectations</a:t>
            </a:r>
          </a:p>
        </p:txBody>
      </p:sp>
      <p:sp>
        <p:nvSpPr>
          <p:cNvPr id="21" name="Rectangle 20"/>
          <p:cNvSpPr/>
          <p:nvPr/>
        </p:nvSpPr>
        <p:spPr>
          <a:xfrm>
            <a:off x="868680" y="3803903"/>
            <a:ext cx="50292" cy="429768"/>
          </a:xfrm>
          <a:prstGeom prst="rect">
            <a:avLst/>
          </a:prstGeom>
          <a:solidFill>
            <a:srgbClr val="1AD2E7"/>
          </a:solidFill>
          <a:ln>
            <a:solidFill>
              <a:srgbClr val="1AD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88136" y="3785615"/>
            <a:ext cx="987552" cy="228600"/>
          </a:xfrm>
          <a:prstGeom prst="rect">
            <a:avLst/>
          </a:prstGeom>
          <a:noFill/>
        </p:spPr>
        <p:txBody>
          <a:bodyPr wrap="square" lIns="9144" tIns="9144" rIns="9144" bIns="9144" anchor="t">
            <a:spAutoFit/>
          </a:bodyPr>
          <a:lstStyle/>
          <a:p>
            <a:pPr algn="l"/>
            <a:r>
              <a:rPr sz="950" b="1">
                <a:solidFill>
                  <a:srgbClr val="1AD2E7"/>
                </a:solidFill>
                <a:latin typeface="Aptos"/>
              </a:rPr>
              <a:t>PROTECT</a:t>
            </a:r>
          </a:p>
        </p:txBody>
      </p:sp>
      <p:sp>
        <p:nvSpPr>
          <p:cNvPr id="23" name="TextBox 22"/>
          <p:cNvSpPr txBox="1"/>
          <p:nvPr/>
        </p:nvSpPr>
        <p:spPr>
          <a:xfrm>
            <a:off x="2121408" y="3767328"/>
            <a:ext cx="3401568" cy="438912"/>
          </a:xfrm>
          <a:prstGeom prst="rect">
            <a:avLst/>
          </a:prstGeom>
          <a:noFill/>
        </p:spPr>
        <p:txBody>
          <a:bodyPr wrap="square" lIns="9144" tIns="9144" rIns="9144" bIns="9144" anchor="t">
            <a:spAutoFit/>
          </a:bodyPr>
          <a:lstStyle/>
          <a:p>
            <a:pPr algn="l"/>
            <a:r>
              <a:rPr sz="1200" b="1">
                <a:solidFill>
                  <a:srgbClr val="F8F9FF"/>
                </a:solidFill>
                <a:latin typeface="Aptos"/>
              </a:rPr>
              <a:t>Keep untrusted content from redefining the job</a:t>
            </a:r>
          </a:p>
        </p:txBody>
      </p:sp>
      <p:sp>
        <p:nvSpPr>
          <p:cNvPr id="24" name="Rectangle 23"/>
          <p:cNvSpPr/>
          <p:nvPr/>
        </p:nvSpPr>
        <p:spPr>
          <a:xfrm>
            <a:off x="868680" y="4389119"/>
            <a:ext cx="50292" cy="429768"/>
          </a:xfrm>
          <a:prstGeom prst="rect">
            <a:avLst/>
          </a:prstGeom>
          <a:solidFill>
            <a:srgbClr val="1AD2E7"/>
          </a:solidFill>
          <a:ln>
            <a:solidFill>
              <a:srgbClr val="1AD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8136" y="4370831"/>
            <a:ext cx="987552" cy="228600"/>
          </a:xfrm>
          <a:prstGeom prst="rect">
            <a:avLst/>
          </a:prstGeom>
          <a:noFill/>
        </p:spPr>
        <p:txBody>
          <a:bodyPr wrap="square" lIns="9144" tIns="9144" rIns="9144" bIns="9144" anchor="t">
            <a:spAutoFit/>
          </a:bodyPr>
          <a:lstStyle/>
          <a:p>
            <a:pPr algn="l"/>
            <a:r>
              <a:rPr sz="950" b="1">
                <a:solidFill>
                  <a:srgbClr val="1AD2E7"/>
                </a:solidFill>
                <a:latin typeface="Aptos"/>
              </a:rPr>
              <a:t>VERSION</a:t>
            </a:r>
          </a:p>
        </p:txBody>
      </p:sp>
      <p:sp>
        <p:nvSpPr>
          <p:cNvPr id="26" name="TextBox 25"/>
          <p:cNvSpPr txBox="1"/>
          <p:nvPr/>
        </p:nvSpPr>
        <p:spPr>
          <a:xfrm>
            <a:off x="2121408" y="4352544"/>
            <a:ext cx="3401568" cy="438912"/>
          </a:xfrm>
          <a:prstGeom prst="rect">
            <a:avLst/>
          </a:prstGeom>
          <a:noFill/>
        </p:spPr>
        <p:txBody>
          <a:bodyPr wrap="square" lIns="9144" tIns="9144" rIns="9144" bIns="9144" anchor="t">
            <a:spAutoFit/>
          </a:bodyPr>
          <a:lstStyle/>
          <a:p>
            <a:pPr algn="l"/>
            <a:r>
              <a:rPr sz="1200" b="1">
                <a:solidFill>
                  <a:srgbClr val="F8F9FF"/>
                </a:solidFill>
                <a:latin typeface="Aptos"/>
              </a:rPr>
              <a:t>Test and review changes before distribution</a:t>
            </a:r>
          </a:p>
        </p:txBody>
      </p:sp>
      <p:sp>
        <p:nvSpPr>
          <p:cNvPr id="27" name="Rectangle 26"/>
          <p:cNvSpPr/>
          <p:nvPr/>
        </p:nvSpPr>
        <p:spPr>
          <a:xfrm>
            <a:off x="5916168" y="1371600"/>
            <a:ext cx="32004" cy="4160520"/>
          </a:xfrm>
          <a:prstGeom prst="rect">
            <a:avLst/>
          </a:prstGeom>
          <a:solidFill>
            <a:srgbClr val="9950F2"/>
          </a:solidFill>
          <a:ln>
            <a:solidFill>
              <a:srgbClr val="995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41364" y="1389150"/>
            <a:ext cx="4389120" cy="233910"/>
          </a:xfrm>
          <a:prstGeom prst="rect">
            <a:avLst/>
          </a:prstGeom>
          <a:noFill/>
        </p:spPr>
        <p:txBody>
          <a:bodyPr wrap="square" lIns="9144" tIns="9144" rIns="9144" bIns="9144" anchor="t">
            <a:spAutoFit/>
          </a:bodyPr>
          <a:lstStyle/>
          <a:p>
            <a:pPr algn="l"/>
            <a:r>
              <a:rPr lang="en-US" sz="1400" b="1" dirty="0">
                <a:solidFill>
                  <a:srgbClr val="9950F2"/>
                </a:solidFill>
                <a:latin typeface="Aptos"/>
              </a:rPr>
              <a:t>2. </a:t>
            </a:r>
            <a:r>
              <a:rPr sz="1400" b="1" dirty="0">
                <a:solidFill>
                  <a:srgbClr val="9950F2"/>
                </a:solidFill>
                <a:latin typeface="Aptos"/>
              </a:rPr>
              <a:t>CONTROL THE REACH</a:t>
            </a:r>
          </a:p>
        </p:txBody>
      </p:sp>
      <p:sp>
        <p:nvSpPr>
          <p:cNvPr id="30" name="TextBox 29"/>
          <p:cNvSpPr txBox="1"/>
          <p:nvPr/>
        </p:nvSpPr>
        <p:spPr>
          <a:xfrm>
            <a:off x="6803136" y="1801368"/>
            <a:ext cx="4315968" cy="566928"/>
          </a:xfrm>
          <a:prstGeom prst="rect">
            <a:avLst/>
          </a:prstGeom>
          <a:noFill/>
        </p:spPr>
        <p:txBody>
          <a:bodyPr wrap="square" lIns="9144" tIns="9144" rIns="9144" bIns="9144" anchor="t">
            <a:spAutoFit/>
          </a:bodyPr>
          <a:lstStyle/>
          <a:p>
            <a:pPr algn="l"/>
            <a:r>
              <a:rPr sz="1600" b="1">
                <a:solidFill>
                  <a:srgbClr val="F8F9FF"/>
                </a:solidFill>
                <a:latin typeface="Aptos"/>
              </a:rPr>
              <a:t>Give the agent only what the task actually requires.</a:t>
            </a:r>
          </a:p>
        </p:txBody>
      </p:sp>
      <p:sp>
        <p:nvSpPr>
          <p:cNvPr id="31" name="Rectangle 30"/>
          <p:cNvSpPr/>
          <p:nvPr/>
        </p:nvSpPr>
        <p:spPr>
          <a:xfrm>
            <a:off x="6492240" y="2633472"/>
            <a:ext cx="50292" cy="429768"/>
          </a:xfrm>
          <a:prstGeom prst="rect">
            <a:avLst/>
          </a:prstGeom>
          <a:solidFill>
            <a:srgbClr val="9950F2"/>
          </a:solidFill>
          <a:ln>
            <a:solidFill>
              <a:srgbClr val="995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11696" y="2615184"/>
            <a:ext cx="987552" cy="228600"/>
          </a:xfrm>
          <a:prstGeom prst="rect">
            <a:avLst/>
          </a:prstGeom>
          <a:noFill/>
        </p:spPr>
        <p:txBody>
          <a:bodyPr wrap="square" lIns="9144" tIns="9144" rIns="9144" bIns="9144" anchor="t">
            <a:spAutoFit/>
          </a:bodyPr>
          <a:lstStyle/>
          <a:p>
            <a:pPr algn="l"/>
            <a:r>
              <a:rPr sz="950" b="1">
                <a:solidFill>
                  <a:srgbClr val="9950F2"/>
                </a:solidFill>
                <a:latin typeface="Aptos"/>
              </a:rPr>
              <a:t>CONTEXT</a:t>
            </a:r>
          </a:p>
        </p:txBody>
      </p:sp>
      <p:sp>
        <p:nvSpPr>
          <p:cNvPr id="33" name="TextBox 32"/>
          <p:cNvSpPr txBox="1"/>
          <p:nvPr/>
        </p:nvSpPr>
        <p:spPr>
          <a:xfrm>
            <a:off x="7845552" y="2596896"/>
            <a:ext cx="3337560" cy="438912"/>
          </a:xfrm>
          <a:prstGeom prst="rect">
            <a:avLst/>
          </a:prstGeom>
          <a:noFill/>
        </p:spPr>
        <p:txBody>
          <a:bodyPr wrap="square" lIns="9144" tIns="9144" rIns="9144" bIns="9144" anchor="t">
            <a:spAutoFit/>
          </a:bodyPr>
          <a:lstStyle/>
          <a:p>
            <a:pPr algn="l"/>
            <a:r>
              <a:rPr sz="1200" b="1">
                <a:solidFill>
                  <a:srgbClr val="F8F9FF"/>
                </a:solidFill>
                <a:latin typeface="Aptos"/>
              </a:rPr>
              <a:t>Relevant files, inputs, and supporting information</a:t>
            </a:r>
          </a:p>
        </p:txBody>
      </p:sp>
      <p:sp>
        <p:nvSpPr>
          <p:cNvPr id="34" name="Rectangle 33"/>
          <p:cNvSpPr/>
          <p:nvPr/>
        </p:nvSpPr>
        <p:spPr>
          <a:xfrm>
            <a:off x="6492240" y="3218688"/>
            <a:ext cx="50292" cy="429768"/>
          </a:xfrm>
          <a:prstGeom prst="rect">
            <a:avLst/>
          </a:prstGeom>
          <a:solidFill>
            <a:srgbClr val="9950F2"/>
          </a:solidFill>
          <a:ln>
            <a:solidFill>
              <a:srgbClr val="995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11696" y="3200400"/>
            <a:ext cx="987552" cy="228600"/>
          </a:xfrm>
          <a:prstGeom prst="rect">
            <a:avLst/>
          </a:prstGeom>
          <a:noFill/>
        </p:spPr>
        <p:txBody>
          <a:bodyPr wrap="square" lIns="9144" tIns="9144" rIns="9144" bIns="9144" anchor="t">
            <a:spAutoFit/>
          </a:bodyPr>
          <a:lstStyle/>
          <a:p>
            <a:pPr algn="l"/>
            <a:r>
              <a:rPr sz="950" b="1">
                <a:solidFill>
                  <a:srgbClr val="9950F2"/>
                </a:solidFill>
                <a:latin typeface="Aptos"/>
              </a:rPr>
              <a:t>TOOLS</a:t>
            </a:r>
          </a:p>
        </p:txBody>
      </p:sp>
      <p:sp>
        <p:nvSpPr>
          <p:cNvPr id="36" name="TextBox 35"/>
          <p:cNvSpPr txBox="1"/>
          <p:nvPr/>
        </p:nvSpPr>
        <p:spPr>
          <a:xfrm>
            <a:off x="7845552" y="3182112"/>
            <a:ext cx="3337560" cy="438912"/>
          </a:xfrm>
          <a:prstGeom prst="rect">
            <a:avLst/>
          </a:prstGeom>
          <a:noFill/>
        </p:spPr>
        <p:txBody>
          <a:bodyPr wrap="square" lIns="9144" tIns="9144" rIns="9144" bIns="9144" anchor="t">
            <a:spAutoFit/>
          </a:bodyPr>
          <a:lstStyle/>
          <a:p>
            <a:pPr algn="l"/>
            <a:r>
              <a:rPr sz="1200" b="1">
                <a:solidFill>
                  <a:srgbClr val="F8F9FF"/>
                </a:solidFill>
                <a:latin typeface="Aptos"/>
              </a:rPr>
              <a:t>Approved commands, scripts, and actions</a:t>
            </a:r>
          </a:p>
        </p:txBody>
      </p:sp>
      <p:sp>
        <p:nvSpPr>
          <p:cNvPr id="37" name="Rectangle 36"/>
          <p:cNvSpPr/>
          <p:nvPr/>
        </p:nvSpPr>
        <p:spPr>
          <a:xfrm>
            <a:off x="6492240" y="3803903"/>
            <a:ext cx="50292" cy="429768"/>
          </a:xfrm>
          <a:prstGeom prst="rect">
            <a:avLst/>
          </a:prstGeom>
          <a:solidFill>
            <a:srgbClr val="9950F2"/>
          </a:solidFill>
          <a:ln>
            <a:solidFill>
              <a:srgbClr val="995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11696" y="3785615"/>
            <a:ext cx="987552" cy="228600"/>
          </a:xfrm>
          <a:prstGeom prst="rect">
            <a:avLst/>
          </a:prstGeom>
          <a:noFill/>
        </p:spPr>
        <p:txBody>
          <a:bodyPr wrap="square" lIns="9144" tIns="9144" rIns="9144" bIns="9144" anchor="t">
            <a:spAutoFit/>
          </a:bodyPr>
          <a:lstStyle/>
          <a:p>
            <a:pPr algn="l"/>
            <a:r>
              <a:rPr sz="950" b="1">
                <a:solidFill>
                  <a:srgbClr val="9950F2"/>
                </a:solidFill>
                <a:latin typeface="Aptos"/>
              </a:rPr>
              <a:t>IDENTITY</a:t>
            </a:r>
          </a:p>
        </p:txBody>
      </p:sp>
      <p:sp>
        <p:nvSpPr>
          <p:cNvPr id="39" name="TextBox 38"/>
          <p:cNvSpPr txBox="1"/>
          <p:nvPr/>
        </p:nvSpPr>
        <p:spPr>
          <a:xfrm>
            <a:off x="7845552" y="3767328"/>
            <a:ext cx="3337560" cy="438912"/>
          </a:xfrm>
          <a:prstGeom prst="rect">
            <a:avLst/>
          </a:prstGeom>
          <a:noFill/>
        </p:spPr>
        <p:txBody>
          <a:bodyPr wrap="square" lIns="9144" tIns="9144" rIns="9144" bIns="9144" anchor="t">
            <a:spAutoFit/>
          </a:bodyPr>
          <a:lstStyle/>
          <a:p>
            <a:pPr algn="l"/>
            <a:r>
              <a:rPr sz="1200" b="1">
                <a:solidFill>
                  <a:srgbClr val="F8F9FF"/>
                </a:solidFill>
                <a:latin typeface="Aptos"/>
              </a:rPr>
              <a:t>Only the credentials required for this task</a:t>
            </a:r>
          </a:p>
        </p:txBody>
      </p:sp>
      <p:sp>
        <p:nvSpPr>
          <p:cNvPr id="40" name="Rectangle 39"/>
          <p:cNvSpPr/>
          <p:nvPr/>
        </p:nvSpPr>
        <p:spPr>
          <a:xfrm>
            <a:off x="6492240" y="4389119"/>
            <a:ext cx="50292" cy="429768"/>
          </a:xfrm>
          <a:prstGeom prst="rect">
            <a:avLst/>
          </a:prstGeom>
          <a:solidFill>
            <a:srgbClr val="9950F2"/>
          </a:solidFill>
          <a:ln>
            <a:solidFill>
              <a:srgbClr val="9950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711696" y="4370831"/>
            <a:ext cx="987552" cy="228600"/>
          </a:xfrm>
          <a:prstGeom prst="rect">
            <a:avLst/>
          </a:prstGeom>
          <a:noFill/>
        </p:spPr>
        <p:txBody>
          <a:bodyPr wrap="square" lIns="9144" tIns="9144" rIns="9144" bIns="9144" anchor="t">
            <a:spAutoFit/>
          </a:bodyPr>
          <a:lstStyle/>
          <a:p>
            <a:pPr algn="l"/>
            <a:r>
              <a:rPr sz="950" b="1">
                <a:solidFill>
                  <a:srgbClr val="9950F2"/>
                </a:solidFill>
                <a:latin typeface="Aptos"/>
              </a:rPr>
              <a:t>DESTINATION</a:t>
            </a:r>
          </a:p>
        </p:txBody>
      </p:sp>
      <p:sp>
        <p:nvSpPr>
          <p:cNvPr id="42" name="TextBox 41"/>
          <p:cNvSpPr txBox="1"/>
          <p:nvPr/>
        </p:nvSpPr>
        <p:spPr>
          <a:xfrm>
            <a:off x="7845552" y="4352544"/>
            <a:ext cx="3337560" cy="438912"/>
          </a:xfrm>
          <a:prstGeom prst="rect">
            <a:avLst/>
          </a:prstGeom>
          <a:noFill/>
        </p:spPr>
        <p:txBody>
          <a:bodyPr wrap="square" lIns="9144" tIns="9144" rIns="9144" bIns="9144" anchor="t">
            <a:spAutoFit/>
          </a:bodyPr>
          <a:lstStyle/>
          <a:p>
            <a:pPr algn="l"/>
            <a:r>
              <a:rPr sz="1200" b="1">
                <a:solidFill>
                  <a:srgbClr val="F8F9FF"/>
                </a:solidFill>
                <a:latin typeface="Aptos"/>
              </a:rPr>
              <a:t>Named outputs, systems, and communication channels</a:t>
            </a:r>
          </a:p>
        </p:txBody>
      </p:sp>
      <p:sp>
        <p:nvSpPr>
          <p:cNvPr id="43" name="Rectangle 42"/>
          <p:cNvSpPr/>
          <p:nvPr/>
        </p:nvSpPr>
        <p:spPr>
          <a:xfrm>
            <a:off x="1024128" y="5650992"/>
            <a:ext cx="10104120" cy="438912"/>
          </a:xfrm>
          <a:prstGeom prst="rect">
            <a:avLst/>
          </a:prstGeom>
          <a:solidFill>
            <a:srgbClr val="3D67F6"/>
          </a:solidFill>
          <a:ln>
            <a:solidFill>
              <a:srgbClr val="3D6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261872" y="5769864"/>
            <a:ext cx="9628632" cy="192024"/>
          </a:xfrm>
          <a:prstGeom prst="rect">
            <a:avLst/>
          </a:prstGeom>
          <a:noFill/>
        </p:spPr>
        <p:txBody>
          <a:bodyPr wrap="square" lIns="9144" tIns="9144" rIns="9144" bIns="9144" anchor="t">
            <a:spAutoFit/>
          </a:bodyPr>
          <a:lstStyle/>
          <a:p>
            <a:pPr algn="ctr"/>
            <a:r>
              <a:rPr sz="1250" b="1">
                <a:solidFill>
                  <a:srgbClr val="F8F9FF"/>
                </a:solidFill>
                <a:latin typeface="Aptos"/>
              </a:rPr>
              <a:t>Control what tells the agent what to do. Limit what it can reach when it does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C3686-F81F-C222-95EF-FA1297DDBF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E5B69-FD64-FDA7-13F6-838FFDD9854D}"/>
              </a:ext>
            </a:extLst>
          </p:cNvPr>
          <p:cNvSpPr>
            <a:spLocks noGrp="1"/>
          </p:cNvSpPr>
          <p:nvPr>
            <p:ph type="title"/>
          </p:nvPr>
        </p:nvSpPr>
        <p:spPr>
          <a:xfrm>
            <a:off x="571500" y="522516"/>
            <a:ext cx="11049000" cy="738664"/>
          </a:xfrm>
        </p:spPr>
        <p:txBody>
          <a:bodyPr/>
          <a:lstStyle/>
          <a:p>
            <a:r>
              <a:rPr lang="en-US" dirty="0"/>
              <a:t>Public skills already show the risk (2026 </a:t>
            </a:r>
            <a:r>
              <a:rPr lang="en-US" dirty="0" err="1"/>
              <a:t>Github</a:t>
            </a:r>
            <a:r>
              <a:rPr lang="en-US" dirty="0"/>
              <a:t> study)</a:t>
            </a:r>
            <a:br>
              <a:rPr lang="en-US" dirty="0"/>
            </a:br>
            <a:endParaRPr lang="en-US" dirty="0">
              <a:gradFill>
                <a:gsLst>
                  <a:gs pos="0">
                    <a:schemeClr val="accent1"/>
                  </a:gs>
                  <a:gs pos="100000">
                    <a:schemeClr val="accent2"/>
                  </a:gs>
                </a:gsLst>
                <a:lin ang="0" scaled="1"/>
              </a:gradFill>
            </a:endParaRPr>
          </a:p>
        </p:txBody>
      </p:sp>
      <p:sp>
        <p:nvSpPr>
          <p:cNvPr id="5" name="Oval 4">
            <a:extLst>
              <a:ext uri="{FF2B5EF4-FFF2-40B4-BE49-F238E27FC236}">
                <a16:creationId xmlns:a16="http://schemas.microsoft.com/office/drawing/2014/main" id="{7C34244B-921C-BC26-D8BD-1EAE80A53844}"/>
              </a:ext>
            </a:extLst>
          </p:cNvPr>
          <p:cNvSpPr/>
          <p:nvPr/>
        </p:nvSpPr>
        <p:spPr bwMode="auto">
          <a:xfrm>
            <a:off x="930857" y="1865455"/>
            <a:ext cx="1832402" cy="1832400"/>
          </a:xfrm>
          <a:prstGeom prst="ellipse">
            <a:avLst/>
          </a:prstGeom>
          <a:gradFill>
            <a:gsLst>
              <a:gs pos="0">
                <a:schemeClr val="accent1"/>
              </a:gs>
              <a:gs pos="100000">
                <a:schemeClr val="accent2"/>
              </a:gs>
            </a:gsLst>
            <a:lin ang="2700000" scaled="1"/>
          </a:gradFill>
          <a:ln>
            <a:noFill/>
            <a:headEnd type="none" w="med" len="med"/>
            <a:tailEnd type="none" w="med" len="med"/>
          </a:ln>
          <a:effectLst>
            <a:outerShdw blurRad="127000" dist="63500" dir="5400000" algn="t" rotWithShape="0">
              <a:schemeClr val="tx2">
                <a:alpha val="2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Arial Black"/>
              <a:ea typeface="+mn-ea"/>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Arial Black"/>
                <a:ea typeface="+mn-ea"/>
                <a:cs typeface="Segoe UI" pitchFamily="34" charset="0"/>
              </a:rPr>
              <a:t>3,984</a:t>
            </a: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Arial Black"/>
              <a:ea typeface="+mn-ea"/>
              <a:cs typeface="Segoe UI" pitchFamily="34" charset="0"/>
            </a:endParaRPr>
          </a:p>
        </p:txBody>
      </p:sp>
      <p:pic>
        <p:nvPicPr>
          <p:cNvPr id="14" name="Graphic 13">
            <a:extLst>
              <a:ext uri="{FF2B5EF4-FFF2-40B4-BE49-F238E27FC236}">
                <a16:creationId xmlns:a16="http://schemas.microsoft.com/office/drawing/2014/main" id="{1ED09EEE-2C64-FF19-E3A9-439FE8DF59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3754" y="1747902"/>
            <a:ext cx="2067505" cy="2067505"/>
          </a:xfrm>
          <a:prstGeom prst="rect">
            <a:avLst/>
          </a:prstGeom>
        </p:spPr>
      </p:pic>
      <p:pic>
        <p:nvPicPr>
          <p:cNvPr id="15" name="Graphic 14">
            <a:extLst>
              <a:ext uri="{FF2B5EF4-FFF2-40B4-BE49-F238E27FC236}">
                <a16:creationId xmlns:a16="http://schemas.microsoft.com/office/drawing/2014/main" id="{B8DE9439-FABC-3B6D-B04D-A9C26322B9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81007" y="1747902"/>
            <a:ext cx="2067505" cy="2067505"/>
          </a:xfrm>
          <a:prstGeom prst="rect">
            <a:avLst/>
          </a:prstGeom>
        </p:spPr>
      </p:pic>
      <p:pic>
        <p:nvPicPr>
          <p:cNvPr id="17" name="Graphic 16">
            <a:extLst>
              <a:ext uri="{FF2B5EF4-FFF2-40B4-BE49-F238E27FC236}">
                <a16:creationId xmlns:a16="http://schemas.microsoft.com/office/drawing/2014/main" id="{3D00333B-85ED-1EBE-EEF9-3FE51836B8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4829" y="1747902"/>
            <a:ext cx="2067505" cy="2067505"/>
          </a:xfrm>
          <a:prstGeom prst="rect">
            <a:avLst/>
          </a:prstGeom>
        </p:spPr>
      </p:pic>
      <p:sp>
        <p:nvSpPr>
          <p:cNvPr id="7" name="Google Shape;437;p14">
            <a:extLst>
              <a:ext uri="{FF2B5EF4-FFF2-40B4-BE49-F238E27FC236}">
                <a16:creationId xmlns:a16="http://schemas.microsoft.com/office/drawing/2014/main" id="{2D231402-4D45-A32D-ADAC-A5ED7DB86DF9}"/>
              </a:ext>
            </a:extLst>
          </p:cNvPr>
          <p:cNvSpPr txBox="1"/>
          <p:nvPr/>
        </p:nvSpPr>
        <p:spPr>
          <a:xfrm>
            <a:off x="810193" y="4049009"/>
            <a:ext cx="2073728" cy="73866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marL="0" marR="0" lvl="0" indent="7701" algn="ctr" defTabSz="914367" rtl="0" eaLnBrk="1" fontAlgn="auto" latinLnBrk="0" hangingPunct="1">
              <a:lnSpc>
                <a:spcPct val="100000"/>
              </a:lnSpc>
              <a:spcBef>
                <a:spcPts val="0"/>
              </a:spcBef>
              <a:spcAft>
                <a:spcPts val="0"/>
              </a:spcAft>
              <a:buClr>
                <a:srgbClr val="001325"/>
              </a:buClr>
              <a:buSzPts val="1400"/>
              <a:buFont typeface="Montserrat"/>
              <a:buNone/>
              <a:tabLst/>
              <a:defRPr/>
            </a:pPr>
            <a:r>
              <a:rPr lang="en-GB" sz="1600" dirty="0">
                <a:solidFill>
                  <a:srgbClr val="7B1EFF">
                    <a:lumMod val="20000"/>
                    <a:lumOff val="80000"/>
                  </a:srgbClr>
                </a:solidFill>
                <a:latin typeface="Arial Black"/>
                <a:ea typeface="Montserrat"/>
                <a:cs typeface="Arial" panose="020B0604020202020204" pitchFamily="34" charset="0"/>
                <a:sym typeface="Montserrat"/>
              </a:rPr>
              <a:t>Public </a:t>
            </a:r>
            <a:r>
              <a:rPr kumimoji="0" lang="en-GB" sz="1600" b="0" i="0" u="none" strike="noStrike" kern="1200" cap="none" spc="0" normalizeH="0" baseline="0" noProof="0" dirty="0">
                <a:ln>
                  <a:noFill/>
                </a:ln>
                <a:solidFill>
                  <a:srgbClr val="7B1EFF">
                    <a:lumMod val="20000"/>
                    <a:lumOff val="80000"/>
                  </a:srgbClr>
                </a:solidFill>
                <a:effectLst/>
                <a:uLnTx/>
                <a:uFillTx/>
                <a:latin typeface="Arial Black"/>
                <a:ea typeface="Montserrat"/>
                <a:cs typeface="Arial" panose="020B0604020202020204" pitchFamily="34" charset="0"/>
                <a:sym typeface="Montserrat"/>
              </a:rPr>
              <a:t>agent skills </a:t>
            </a:r>
            <a:r>
              <a:rPr kumimoji="0" lang="en-GB" sz="1600" b="0" i="0" u="none" strike="noStrike" kern="1200" cap="none" spc="0" normalizeH="0" baseline="0" noProof="0" dirty="0" err="1">
                <a:ln>
                  <a:noFill/>
                </a:ln>
                <a:solidFill>
                  <a:srgbClr val="7B1EFF">
                    <a:lumMod val="20000"/>
                    <a:lumOff val="80000"/>
                  </a:srgbClr>
                </a:solidFill>
                <a:effectLst/>
                <a:uLnTx/>
                <a:uFillTx/>
                <a:latin typeface="Arial Black"/>
                <a:ea typeface="Montserrat"/>
                <a:cs typeface="Arial" panose="020B0604020202020204" pitchFamily="34" charset="0"/>
                <a:sym typeface="Montserrat"/>
              </a:rPr>
              <a:t>analyzed</a:t>
            </a:r>
            <a:endParaRPr kumimoji="0" lang="en-GB" sz="1600" b="0" i="0" u="none" strike="noStrike" kern="1200" cap="none" spc="0" normalizeH="0" baseline="0" noProof="0" dirty="0">
              <a:ln>
                <a:noFill/>
              </a:ln>
              <a:solidFill>
                <a:srgbClr val="7B1EFF">
                  <a:lumMod val="20000"/>
                  <a:lumOff val="80000"/>
                </a:srgbClr>
              </a:solidFill>
              <a:effectLst/>
              <a:uLnTx/>
              <a:uFillTx/>
              <a:latin typeface="Arial Black"/>
              <a:ea typeface="Montserrat"/>
              <a:cs typeface="Arial" panose="020B0604020202020204" pitchFamily="34" charset="0"/>
              <a:sym typeface="Montserrat"/>
            </a:endParaRPr>
          </a:p>
          <a:p>
            <a:pPr marL="0" marR="0" lvl="0" indent="7701" algn="ctr" defTabSz="914367" rtl="0" eaLnBrk="1" fontAlgn="auto" latinLnBrk="0" hangingPunct="1">
              <a:lnSpc>
                <a:spcPct val="100000"/>
              </a:lnSpc>
              <a:spcBef>
                <a:spcPts val="0"/>
              </a:spcBef>
              <a:spcAft>
                <a:spcPts val="0"/>
              </a:spcAft>
              <a:buClr>
                <a:srgbClr val="001325"/>
              </a:buClr>
              <a:buSzPts val="1400"/>
              <a:buFont typeface="Montserrat"/>
              <a:buNone/>
              <a:tabLst/>
              <a:defRPr/>
            </a:pPr>
            <a:endParaRPr kumimoji="0" lang="en-GB" sz="1600" b="0" i="0" u="none" strike="noStrike" kern="1200" cap="none" spc="0" normalizeH="0" baseline="0" noProof="0" dirty="0">
              <a:ln>
                <a:noFill/>
              </a:ln>
              <a:solidFill>
                <a:srgbClr val="7B1EFF">
                  <a:lumMod val="20000"/>
                  <a:lumOff val="80000"/>
                </a:srgbClr>
              </a:solidFill>
              <a:effectLst/>
              <a:uLnTx/>
              <a:uFillTx/>
              <a:latin typeface="Arial Black"/>
              <a:ea typeface="Arial"/>
              <a:cs typeface="Arial"/>
              <a:sym typeface="Arial"/>
            </a:endParaRPr>
          </a:p>
        </p:txBody>
      </p:sp>
      <p:sp>
        <p:nvSpPr>
          <p:cNvPr id="10" name="Oval 9">
            <a:extLst>
              <a:ext uri="{FF2B5EF4-FFF2-40B4-BE49-F238E27FC236}">
                <a16:creationId xmlns:a16="http://schemas.microsoft.com/office/drawing/2014/main" id="{9D8BB984-DC7D-DD38-3E2C-DDB419DE9B01}"/>
              </a:ext>
            </a:extLst>
          </p:cNvPr>
          <p:cNvSpPr/>
          <p:nvPr/>
        </p:nvSpPr>
        <p:spPr bwMode="auto">
          <a:xfrm>
            <a:off x="3758195" y="1865455"/>
            <a:ext cx="1832402" cy="1832400"/>
          </a:xfrm>
          <a:prstGeom prst="ellipse">
            <a:avLst/>
          </a:prstGeom>
          <a:solidFill>
            <a:schemeClr val="accent1">
              <a:lumMod val="20000"/>
              <a:lumOff val="80000"/>
            </a:schemeClr>
          </a:solidFill>
          <a:ln>
            <a:noFill/>
            <a:headEnd type="none" w="med" len="med"/>
            <a:tailEnd type="none" w="med" len="med"/>
          </a:ln>
          <a:effectLst>
            <a:outerShdw blurRad="127000" dist="63500" dir="5400000" algn="t" rotWithShape="0">
              <a:schemeClr val="tx2">
                <a:alpha val="2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gradFill>
                  <a:gsLst>
                    <a:gs pos="0">
                      <a:srgbClr val="7B1EFF"/>
                    </a:gs>
                    <a:gs pos="100000">
                      <a:srgbClr val="2CA8FB"/>
                    </a:gs>
                  </a:gsLst>
                  <a:lin ang="2700000" scaled="1"/>
                </a:gradFill>
                <a:effectLst/>
                <a:uLnTx/>
                <a:uFillTx/>
                <a:latin typeface="Arial Black"/>
                <a:ea typeface="+mn-ea"/>
                <a:cs typeface="Segoe UI" pitchFamily="34" charset="0"/>
              </a:rPr>
              <a:t>36.8%</a:t>
            </a:r>
          </a:p>
        </p:txBody>
      </p:sp>
      <p:sp>
        <p:nvSpPr>
          <p:cNvPr id="13" name="Google Shape;437;p14">
            <a:extLst>
              <a:ext uri="{FF2B5EF4-FFF2-40B4-BE49-F238E27FC236}">
                <a16:creationId xmlns:a16="http://schemas.microsoft.com/office/drawing/2014/main" id="{B113F94C-6B32-F89A-F56C-47DC5FBC396C}"/>
              </a:ext>
            </a:extLst>
          </p:cNvPr>
          <p:cNvSpPr txBox="1"/>
          <p:nvPr/>
        </p:nvSpPr>
        <p:spPr>
          <a:xfrm>
            <a:off x="3637531" y="4049009"/>
            <a:ext cx="2073728" cy="73866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marL="0" marR="0" lvl="0" indent="7701" algn="ctr" defTabSz="914367" rtl="0" eaLnBrk="1" fontAlgn="auto" latinLnBrk="0" hangingPunct="1">
              <a:lnSpc>
                <a:spcPct val="100000"/>
              </a:lnSpc>
              <a:spcBef>
                <a:spcPts val="0"/>
              </a:spcBef>
              <a:spcAft>
                <a:spcPts val="0"/>
              </a:spcAft>
              <a:buClr>
                <a:srgbClr val="001325"/>
              </a:buClr>
              <a:buSzPts val="1400"/>
              <a:buFont typeface="Montserrat"/>
              <a:buNone/>
              <a:tabLst/>
              <a:defRPr/>
            </a:pPr>
            <a:r>
              <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ontserrat"/>
                <a:cs typeface="Arial" panose="020B0604020202020204" pitchFamily="34" charset="0"/>
                <a:sym typeface="Montserrat"/>
              </a:rPr>
              <a:t>Had at least one security flaw</a:t>
            </a:r>
          </a:p>
          <a:p>
            <a:pPr marL="0" marR="0" lvl="0" indent="7701" algn="ctr" defTabSz="914367" rtl="0" eaLnBrk="1" fontAlgn="auto" latinLnBrk="0" hangingPunct="1">
              <a:lnSpc>
                <a:spcPct val="100000"/>
              </a:lnSpc>
              <a:spcBef>
                <a:spcPts val="0"/>
              </a:spcBef>
              <a:spcAft>
                <a:spcPts val="0"/>
              </a:spcAft>
              <a:buClr>
                <a:srgbClr val="001325"/>
              </a:buClr>
              <a:buSzPts val="1400"/>
              <a:buFont typeface="Montserrat"/>
              <a:buNone/>
              <a:tabLst/>
              <a:defRPr/>
            </a:pPr>
            <a:endParaRPr kumimoji="0" lang="en-GB" sz="1600" b="0" i="0" u="none" strike="noStrike" kern="1200" cap="none" spc="0" normalizeH="0" baseline="0" noProof="0" dirty="0">
              <a:ln>
                <a:noFill/>
              </a:ln>
              <a:solidFill>
                <a:srgbClr val="7B1EFF">
                  <a:lumMod val="20000"/>
                  <a:lumOff val="80000"/>
                </a:srgbClr>
              </a:solidFill>
              <a:effectLst/>
              <a:uLnTx/>
              <a:uFillTx/>
              <a:latin typeface="Arial Black"/>
              <a:ea typeface="Montserrat"/>
              <a:cs typeface="Arial" panose="020B0604020202020204" pitchFamily="34" charset="0"/>
              <a:sym typeface="Montserrat"/>
            </a:endParaRPr>
          </a:p>
        </p:txBody>
      </p:sp>
      <p:sp>
        <p:nvSpPr>
          <p:cNvPr id="21" name="Oval 20">
            <a:extLst>
              <a:ext uri="{FF2B5EF4-FFF2-40B4-BE49-F238E27FC236}">
                <a16:creationId xmlns:a16="http://schemas.microsoft.com/office/drawing/2014/main" id="{568C070A-3B8F-1CF0-E4E2-89ADBCE6AB60}"/>
              </a:ext>
            </a:extLst>
          </p:cNvPr>
          <p:cNvSpPr/>
          <p:nvPr/>
        </p:nvSpPr>
        <p:spPr bwMode="auto">
          <a:xfrm>
            <a:off x="6601406" y="1865455"/>
            <a:ext cx="1832402" cy="1832400"/>
          </a:xfrm>
          <a:prstGeom prst="ellipse">
            <a:avLst/>
          </a:prstGeom>
          <a:gradFill>
            <a:gsLst>
              <a:gs pos="0">
                <a:schemeClr val="accent1"/>
              </a:gs>
              <a:gs pos="100000">
                <a:schemeClr val="accent2"/>
              </a:gs>
            </a:gsLst>
            <a:lin ang="2700000" scaled="1"/>
          </a:gradFill>
          <a:ln>
            <a:noFill/>
            <a:headEnd type="none" w="med" len="med"/>
            <a:tailEnd type="none" w="med" len="med"/>
          </a:ln>
          <a:effectLst>
            <a:outerShdw blurRad="127000" dist="63500" dir="5400000" algn="t" rotWithShape="0">
              <a:schemeClr val="tx2">
                <a:alpha val="2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lang="en-US" sz="2800" dirty="0">
              <a:solidFill>
                <a:srgbClr val="FFFFFF"/>
              </a:solidFill>
              <a:latin typeface="Arial Black"/>
              <a:cs typeface="Segoe UI" pitchFamily="34" charset="0"/>
            </a:endParaRP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Arial Black"/>
                <a:ea typeface="+mn-ea"/>
                <a:cs typeface="Segoe UI" pitchFamily="34" charset="0"/>
              </a:rPr>
              <a:t>13.4%</a:t>
            </a:r>
          </a:p>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Arial Black"/>
              <a:ea typeface="+mn-ea"/>
              <a:cs typeface="Segoe UI" pitchFamily="34" charset="0"/>
            </a:endParaRPr>
          </a:p>
        </p:txBody>
      </p:sp>
      <p:sp>
        <p:nvSpPr>
          <p:cNvPr id="23" name="Google Shape;437;p14">
            <a:extLst>
              <a:ext uri="{FF2B5EF4-FFF2-40B4-BE49-F238E27FC236}">
                <a16:creationId xmlns:a16="http://schemas.microsoft.com/office/drawing/2014/main" id="{6278041E-DA96-7354-C599-16A1239F4832}"/>
              </a:ext>
            </a:extLst>
          </p:cNvPr>
          <p:cNvSpPr txBox="1"/>
          <p:nvPr/>
        </p:nvSpPr>
        <p:spPr>
          <a:xfrm>
            <a:off x="6480742" y="4049009"/>
            <a:ext cx="2073728"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marL="0" marR="0" lvl="0" indent="7701" algn="ctr" defTabSz="914367" rtl="0" eaLnBrk="1" fontAlgn="auto" latinLnBrk="0" hangingPunct="1">
              <a:lnSpc>
                <a:spcPct val="100000"/>
              </a:lnSpc>
              <a:spcBef>
                <a:spcPts val="0"/>
              </a:spcBef>
              <a:spcAft>
                <a:spcPts val="0"/>
              </a:spcAft>
              <a:buClr>
                <a:srgbClr val="001325"/>
              </a:buClr>
              <a:buSzPts val="1400"/>
              <a:buFont typeface="Montserrat"/>
              <a:buNone/>
              <a:tabLst/>
              <a:defRPr/>
            </a:pPr>
            <a:r>
              <a:rPr lang="en-GB" sz="1600" dirty="0">
                <a:solidFill>
                  <a:srgbClr val="7B1EFF">
                    <a:lumMod val="20000"/>
                    <a:lumOff val="80000"/>
                  </a:srgbClr>
                </a:solidFill>
                <a:latin typeface="Arial Black"/>
                <a:ea typeface="Montserrat"/>
                <a:cs typeface="Arial" panose="020B0604020202020204" pitchFamily="34" charset="0"/>
                <a:sym typeface="Montserrat"/>
              </a:rPr>
              <a:t>Had a critical</a:t>
            </a:r>
            <a:r>
              <a:rPr kumimoji="0" lang="en-GB" sz="1600" b="0" i="0" u="none" strike="noStrike" kern="1200" cap="none" spc="0" normalizeH="0" baseline="0" noProof="0" dirty="0">
                <a:ln>
                  <a:noFill/>
                </a:ln>
                <a:solidFill>
                  <a:srgbClr val="7B1EFF">
                    <a:lumMod val="20000"/>
                    <a:lumOff val="80000"/>
                  </a:srgbClr>
                </a:solidFill>
                <a:effectLst/>
                <a:uLnTx/>
                <a:uFillTx/>
                <a:latin typeface="Arial Black"/>
                <a:ea typeface="Montserrat"/>
                <a:cs typeface="Arial" panose="020B0604020202020204" pitchFamily="34" charset="0"/>
                <a:sym typeface="Montserrat"/>
              </a:rPr>
              <a:t> security flaw</a:t>
            </a:r>
          </a:p>
        </p:txBody>
      </p:sp>
      <p:sp>
        <p:nvSpPr>
          <p:cNvPr id="26" name="Google Shape;436;p14">
            <a:extLst>
              <a:ext uri="{FF2B5EF4-FFF2-40B4-BE49-F238E27FC236}">
                <a16:creationId xmlns:a16="http://schemas.microsoft.com/office/drawing/2014/main" id="{BB8B5E3D-BFD9-E550-1DAB-6A8ED1C1DFF2}"/>
              </a:ext>
            </a:extLst>
          </p:cNvPr>
          <p:cNvSpPr txBox="1"/>
          <p:nvPr/>
        </p:nvSpPr>
        <p:spPr>
          <a:xfrm>
            <a:off x="8792050" y="2583351"/>
            <a:ext cx="2976870" cy="874727"/>
          </a:xfrm>
          <a:prstGeom prst="rect">
            <a:avLst/>
          </a:prstGeom>
          <a:noFill/>
        </p:spPr>
        <p:txBody>
          <a:bodyPr wrap="square" lIns="0" tIns="0" rIns="0" bIns="0" rtlCol="0">
            <a:spAutoFit/>
          </a:bodyPr>
          <a:lstStyle>
            <a:defPPr>
              <a:defRPr lang="en-US"/>
            </a:defPPr>
            <a:lvl1pPr marL="285750" indent="-285750">
              <a:lnSpc>
                <a:spcPct val="120000"/>
              </a:lnSpc>
              <a:buFont typeface="Arial" panose="020B0604020202020204" pitchFamily="34" charset="0"/>
              <a:buChar char="•"/>
              <a:defRPr sz="1400">
                <a:solidFill>
                  <a:schemeClr val="tx2"/>
                </a:solidFil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marL="0" marR="0" lvl="0" indent="0" algn="ctr" defTabSz="914367"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sz="1600" dirty="0">
                <a:solidFill>
                  <a:srgbClr val="FFFFFF"/>
                </a:solidFill>
                <a:latin typeface="Calibri"/>
              </a:rPr>
              <a:t>Risk is introduced when the agent interprets a skill incorrectly.</a:t>
            </a:r>
            <a:endParaRPr kumimoji="0" lang="en-US" sz="1600" b="0" i="0" u="none" strike="noStrike" kern="1200" cap="none" spc="0" normalizeH="0" baseline="0" noProof="0" dirty="0">
              <a:ln>
                <a:noFill/>
              </a:ln>
              <a:solidFill>
                <a:srgbClr val="FFFFFF"/>
              </a:solidFill>
              <a:effectLst/>
              <a:uLnTx/>
              <a:uFillTx/>
              <a:latin typeface="Calibri"/>
              <a:ea typeface="+mn-ea"/>
              <a:cs typeface="+mn-cs"/>
            </a:endParaRPr>
          </a:p>
          <a:p>
            <a:pPr marL="0" marR="0" lvl="0" indent="0" algn="ctr" defTabSz="914367" rtl="0" eaLnBrk="1" fontAlgn="auto" latinLnBrk="0" hangingPunct="1">
              <a:lnSpc>
                <a:spcPct val="120000"/>
              </a:lnSpc>
              <a:spcBef>
                <a:spcPts val="60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 name="Google Shape;436;p14">
            <a:extLst>
              <a:ext uri="{FF2B5EF4-FFF2-40B4-BE49-F238E27FC236}">
                <a16:creationId xmlns:a16="http://schemas.microsoft.com/office/drawing/2014/main" id="{13C6DEFB-4FF9-CF7A-2B26-A7C9D8184DAB}"/>
              </a:ext>
            </a:extLst>
          </p:cNvPr>
          <p:cNvSpPr txBox="1"/>
          <p:nvPr/>
        </p:nvSpPr>
        <p:spPr>
          <a:xfrm>
            <a:off x="1094560" y="5409326"/>
            <a:ext cx="7421643" cy="275717"/>
          </a:xfrm>
          <a:prstGeom prst="rect">
            <a:avLst/>
          </a:prstGeom>
          <a:noFill/>
        </p:spPr>
        <p:txBody>
          <a:bodyPr wrap="square" lIns="0" tIns="0" rIns="0" bIns="0" rtlCol="0">
            <a:spAutoFit/>
          </a:bodyPr>
          <a:lstStyle>
            <a:defPPr>
              <a:defRPr lang="en-US"/>
            </a:defPPr>
            <a:lvl1pPr marL="285750" indent="-285750">
              <a:lnSpc>
                <a:spcPct val="120000"/>
              </a:lnSpc>
              <a:buFont typeface="Arial" panose="020B0604020202020204" pitchFamily="34" charset="0"/>
              <a:buChar char="•"/>
              <a:defRPr sz="1400">
                <a:solidFill>
                  <a:schemeClr val="tx2"/>
                </a:solidFil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marL="0" marR="0" lvl="0" indent="0" algn="ctr" defTabSz="914367" rtl="0" eaLnBrk="1" fontAlgn="auto" latinLnBrk="0" hangingPunct="1">
              <a:lnSpc>
                <a:spcPct val="120000"/>
              </a:lnSpc>
              <a:spcBef>
                <a:spcPts val="6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FFFFFF"/>
                </a:solidFill>
                <a:effectLst/>
                <a:uLnTx/>
                <a:uFillTx/>
                <a:latin typeface="Calibri"/>
                <a:ea typeface="+mn-ea"/>
                <a:cs typeface="+mn-cs"/>
              </a:rPr>
              <a:t>Source: </a:t>
            </a:r>
            <a:r>
              <a:rPr kumimoji="0" lang="en-US" sz="1600" b="0" i="0" u="none" strike="noStrike" kern="1200" cap="none" spc="0" normalizeH="0" baseline="0" noProof="0" dirty="0" err="1">
                <a:ln>
                  <a:noFill/>
                </a:ln>
                <a:solidFill>
                  <a:srgbClr val="FFFFFF"/>
                </a:solidFill>
                <a:effectLst/>
                <a:uLnTx/>
                <a:uFillTx/>
                <a:latin typeface="Calibri"/>
                <a:ea typeface="+mn-ea"/>
                <a:cs typeface="+mn-cs"/>
              </a:rPr>
              <a:t>Snyk</a:t>
            </a:r>
            <a:r>
              <a:rPr kumimoji="0" lang="en-US" sz="1600" b="0" i="0" u="none" strike="noStrike" kern="1200" cap="none" spc="0" normalizeH="0" baseline="0" noProof="0" dirty="0">
                <a:ln>
                  <a:noFill/>
                </a:ln>
                <a:solidFill>
                  <a:srgbClr val="FFFFFF"/>
                </a:solidFill>
                <a:effectLst/>
                <a:uLnTx/>
                <a:uFillTx/>
                <a:latin typeface="Calibri"/>
                <a:ea typeface="+mn-ea"/>
                <a:cs typeface="+mn-cs"/>
              </a:rPr>
              <a:t>, “</a:t>
            </a:r>
            <a:r>
              <a:rPr kumimoji="0" lang="en-US" sz="1600" b="0" i="0" u="none" strike="noStrike" kern="1200" cap="none" spc="0" normalizeH="0" baseline="0" noProof="0" dirty="0" err="1">
                <a:ln>
                  <a:noFill/>
                </a:ln>
                <a:solidFill>
                  <a:srgbClr val="FFFFFF"/>
                </a:solidFill>
                <a:effectLst/>
                <a:uLnTx/>
                <a:uFillTx/>
                <a:latin typeface="Calibri"/>
                <a:ea typeface="+mn-ea"/>
                <a:cs typeface="+mn-cs"/>
              </a:rPr>
              <a:t>ToxicSkills</a:t>
            </a:r>
            <a:r>
              <a:rPr kumimoji="0" lang="en-US" sz="1600" b="0" i="0" u="none" strike="noStrike" kern="1200" cap="none" spc="0" normalizeH="0" baseline="0" noProof="0" dirty="0">
                <a:ln>
                  <a:noFill/>
                </a:ln>
                <a:solidFill>
                  <a:srgbClr val="FFFFFF"/>
                </a:solidFill>
                <a:effectLst/>
                <a:uLnTx/>
                <a:uFillTx/>
                <a:latin typeface="Calibri"/>
                <a:ea typeface="+mn-ea"/>
                <a:cs typeface="+mn-cs"/>
              </a:rPr>
              <a:t>: Malicious AI Agent Skills &amp; Supply Chain Compromise,” 2026; </a:t>
            </a:r>
            <a:endParaRPr kumimoji="0" lang="en-US" sz="1200" b="0"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34945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0B1D9"/>
                </a:solidFill>
                <a:effectLst/>
                <a:uLnTx/>
                <a:uFillTx/>
                <a:latin typeface="Aptos"/>
                <a:ea typeface="+mn-ea"/>
                <a:cs typeface="+mn-cs"/>
              </a:rPr>
              <a:t>THE LOCAL EXECUTION MODEL</a:t>
            </a:r>
          </a:p>
        </p:txBody>
      </p:sp>
      <p:sp>
        <p:nvSpPr>
          <p:cNvPr id="3" name="TextBox 2"/>
          <p:cNvSpPr txBox="1"/>
          <p:nvPr/>
        </p:nvSpPr>
        <p:spPr>
          <a:xfrm>
            <a:off x="658368" y="667512"/>
            <a:ext cx="1074420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a:ln>
                  <a:noFill/>
                </a:ln>
                <a:solidFill>
                  <a:srgbClr val="49D5FF"/>
                </a:solidFill>
                <a:effectLst/>
                <a:uLnTx/>
                <a:uFillTx/>
                <a:latin typeface="Aptos"/>
                <a:ea typeface="+mn-ea"/>
                <a:cs typeface="+mn-cs"/>
              </a:rPr>
              <a:t>Where skills open the door</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576276"/>
                </a:solidFill>
                <a:effectLst/>
                <a:uLnTx/>
                <a:uFillTx/>
                <a:latin typeface="Aptos"/>
                <a:ea typeface="+mn-ea"/>
                <a:cs typeface="+mn-cs"/>
              </a:rPr>
              <a:t>07</a:t>
            </a:r>
          </a:p>
        </p:txBody>
      </p:sp>
      <p:sp>
        <p:nvSpPr>
          <p:cNvPr id="6" name="TextBox 5"/>
          <p:cNvSpPr txBox="1"/>
          <p:nvPr/>
        </p:nvSpPr>
        <p:spPr>
          <a:xfrm>
            <a:off x="685800" y="1874519"/>
            <a:ext cx="2057400" cy="60350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00B1D9"/>
                </a:solidFill>
                <a:effectLst/>
                <a:uLnTx/>
                <a:uFillTx/>
                <a:latin typeface="Aptos"/>
                <a:ea typeface="+mn-ea"/>
                <a:cs typeface="+mn-cs"/>
              </a:rPr>
              <a:t>UNTRUSTED
CONTENT</a:t>
            </a:r>
          </a:p>
        </p:txBody>
      </p:sp>
      <p:sp>
        <p:nvSpPr>
          <p:cNvPr id="7" name="TextBox 6"/>
          <p:cNvSpPr txBox="1"/>
          <p:nvPr/>
        </p:nvSpPr>
        <p:spPr>
          <a:xfrm>
            <a:off x="685800" y="2743200"/>
            <a:ext cx="2057400" cy="553998"/>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F8FFFD"/>
                </a:solidFill>
                <a:effectLst/>
                <a:uLnTx/>
                <a:uFillTx/>
                <a:latin typeface="Aptos"/>
                <a:ea typeface="+mn-ea"/>
                <a:cs typeface="+mn-cs"/>
              </a:rPr>
              <a:t>Unv</a:t>
            </a:r>
            <a:r>
              <a:rPr lang="en-US" sz="1200" dirty="0" err="1">
                <a:solidFill>
                  <a:srgbClr val="F8FFFD"/>
                </a:solidFill>
                <a:latin typeface="Aptos"/>
              </a:rPr>
              <a:t>etted</a:t>
            </a:r>
            <a:r>
              <a:rPr lang="en-US" sz="1200" dirty="0">
                <a:solidFill>
                  <a:srgbClr val="F8FFFD"/>
                </a:solidFill>
                <a:latin typeface="Aptos"/>
              </a:rPr>
              <a:t> s</a:t>
            </a:r>
            <a:r>
              <a:rPr kumimoji="0" sz="1200" b="0" i="0" u="none" strike="noStrike" kern="1200" cap="none" spc="0" normalizeH="0" baseline="0" noProof="0" dirty="0">
                <a:ln>
                  <a:noFill/>
                </a:ln>
                <a:solidFill>
                  <a:srgbClr val="F8FFFD"/>
                </a:solidFill>
                <a:effectLst/>
                <a:uLnTx/>
                <a:uFillTx/>
                <a:latin typeface="Aptos"/>
                <a:ea typeface="+mn-ea"/>
                <a:cs typeface="+mn-cs"/>
              </a:rPr>
              <a:t>kill files, </a:t>
            </a:r>
            <a:r>
              <a:rPr kumimoji="0" lang="en-US" sz="1200" b="0" i="0" u="none" strike="noStrike" kern="1200" cap="none" spc="0" normalizeH="0" baseline="0" noProof="0" dirty="0">
                <a:ln>
                  <a:noFill/>
                </a:ln>
                <a:solidFill>
                  <a:srgbClr val="F8FFFD"/>
                </a:solidFill>
                <a:effectLst/>
                <a:uLnTx/>
                <a:uFillTx/>
                <a:latin typeface="Aptos"/>
                <a:ea typeface="+mn-ea"/>
                <a:cs typeface="+mn-cs"/>
              </a:rPr>
              <a:t>malicious instructions, unexpected output</a:t>
            </a:r>
            <a:endParaRPr kumimoji="0" sz="1200" b="0" i="0" u="none" strike="noStrike" kern="1200" cap="none" spc="0" normalizeH="0" baseline="0" noProof="0" dirty="0">
              <a:ln>
                <a:noFill/>
              </a:ln>
              <a:solidFill>
                <a:srgbClr val="F8FFFD"/>
              </a:solidFill>
              <a:effectLst/>
              <a:uLnTx/>
              <a:uFillTx/>
              <a:latin typeface="Aptos"/>
              <a:ea typeface="+mn-ea"/>
              <a:cs typeface="+mn-cs"/>
            </a:endParaRPr>
          </a:p>
        </p:txBody>
      </p:sp>
      <p:sp>
        <p:nvSpPr>
          <p:cNvPr id="8" name="TextBox 7"/>
          <p:cNvSpPr txBox="1"/>
          <p:nvPr/>
        </p:nvSpPr>
        <p:spPr>
          <a:xfrm>
            <a:off x="2880360" y="2423160"/>
            <a:ext cx="457200" cy="50292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0D162B"/>
                </a:solidFill>
                <a:effectLst/>
                <a:uLnTx/>
                <a:uFillTx/>
                <a:latin typeface="Aptos"/>
                <a:ea typeface="+mn-ea"/>
                <a:cs typeface="+mn-cs"/>
              </a:rPr>
              <a:t>→</a:t>
            </a:r>
          </a:p>
        </p:txBody>
      </p:sp>
      <p:sp>
        <p:nvSpPr>
          <p:cNvPr id="9" name="TextBox 8"/>
          <p:cNvSpPr txBox="1"/>
          <p:nvPr/>
        </p:nvSpPr>
        <p:spPr>
          <a:xfrm>
            <a:off x="3538728" y="1874519"/>
            <a:ext cx="2057400" cy="60350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7E41E8"/>
                </a:solidFill>
                <a:effectLst/>
                <a:uLnTx/>
                <a:uFillTx/>
                <a:latin typeface="Aptos"/>
                <a:ea typeface="+mn-ea"/>
                <a:cs typeface="+mn-cs"/>
              </a:rPr>
              <a:t>MODEL
INTERPRETATION</a:t>
            </a:r>
          </a:p>
        </p:txBody>
      </p:sp>
      <p:sp>
        <p:nvSpPr>
          <p:cNvPr id="10" name="TextBox 9"/>
          <p:cNvSpPr txBox="1"/>
          <p:nvPr/>
        </p:nvSpPr>
        <p:spPr>
          <a:xfrm>
            <a:off x="3538728" y="2743200"/>
            <a:ext cx="2057400" cy="3693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srgbClr val="F8FFFD"/>
                </a:solidFill>
                <a:effectLst/>
                <a:uLnTx/>
                <a:uFillTx/>
                <a:latin typeface="Aptos"/>
                <a:ea typeface="+mn-ea"/>
                <a:cs typeface="+mn-cs"/>
              </a:rPr>
              <a:t>Probabilistic decisions
across multiple steps</a:t>
            </a:r>
          </a:p>
        </p:txBody>
      </p:sp>
      <p:sp>
        <p:nvSpPr>
          <p:cNvPr id="11" name="TextBox 10"/>
          <p:cNvSpPr txBox="1"/>
          <p:nvPr/>
        </p:nvSpPr>
        <p:spPr>
          <a:xfrm>
            <a:off x="5733288" y="2423160"/>
            <a:ext cx="457200" cy="50292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0D162B"/>
                </a:solidFill>
                <a:effectLst/>
                <a:uLnTx/>
                <a:uFillTx/>
                <a:latin typeface="Aptos"/>
                <a:ea typeface="+mn-ea"/>
                <a:cs typeface="+mn-cs"/>
              </a:rPr>
              <a:t>→</a:t>
            </a:r>
          </a:p>
        </p:txBody>
      </p:sp>
      <p:sp>
        <p:nvSpPr>
          <p:cNvPr id="12" name="TextBox 11"/>
          <p:cNvSpPr txBox="1"/>
          <p:nvPr/>
        </p:nvSpPr>
        <p:spPr>
          <a:xfrm>
            <a:off x="6391656" y="1874519"/>
            <a:ext cx="2057400" cy="60350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E69326"/>
                </a:solidFill>
                <a:effectLst/>
                <a:uLnTx/>
                <a:uFillTx/>
                <a:latin typeface="Aptos"/>
                <a:ea typeface="+mn-ea"/>
                <a:cs typeface="+mn-cs"/>
              </a:rPr>
              <a:t>TOOLS +
SCRIPTS</a:t>
            </a:r>
          </a:p>
        </p:txBody>
      </p:sp>
      <p:sp>
        <p:nvSpPr>
          <p:cNvPr id="13" name="TextBox 12"/>
          <p:cNvSpPr txBox="1"/>
          <p:nvPr/>
        </p:nvSpPr>
        <p:spPr>
          <a:xfrm>
            <a:off x="6391656" y="2743200"/>
            <a:ext cx="2057400" cy="3693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srgbClr val="F8FFFD"/>
                </a:solidFill>
                <a:effectLst/>
                <a:uLnTx/>
                <a:uFillTx/>
                <a:latin typeface="Aptos"/>
                <a:ea typeface="+mn-ea"/>
                <a:cs typeface="+mn-cs"/>
              </a:rPr>
              <a:t>Commands, helpers,
package execution</a:t>
            </a:r>
          </a:p>
        </p:txBody>
      </p:sp>
      <p:sp>
        <p:nvSpPr>
          <p:cNvPr id="14" name="TextBox 13"/>
          <p:cNvSpPr txBox="1"/>
          <p:nvPr/>
        </p:nvSpPr>
        <p:spPr>
          <a:xfrm>
            <a:off x="8586216" y="2423160"/>
            <a:ext cx="457200" cy="50292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0D162B"/>
                </a:solidFill>
                <a:effectLst/>
                <a:uLnTx/>
                <a:uFillTx/>
                <a:latin typeface="Aptos"/>
                <a:ea typeface="+mn-ea"/>
                <a:cs typeface="+mn-cs"/>
              </a:rPr>
              <a:t>→</a:t>
            </a:r>
          </a:p>
        </p:txBody>
      </p:sp>
      <p:sp>
        <p:nvSpPr>
          <p:cNvPr id="15" name="TextBox 14"/>
          <p:cNvSpPr txBox="1"/>
          <p:nvPr/>
        </p:nvSpPr>
        <p:spPr>
          <a:xfrm>
            <a:off x="9244584" y="1874519"/>
            <a:ext cx="2057400" cy="60350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EF3281"/>
                </a:solidFill>
                <a:effectLst/>
                <a:uLnTx/>
                <a:uFillTx/>
                <a:latin typeface="Aptos"/>
                <a:ea typeface="+mn-ea"/>
                <a:cs typeface="+mn-cs"/>
              </a:rPr>
              <a:t>LOCAL
AUTHORITY</a:t>
            </a:r>
          </a:p>
        </p:txBody>
      </p:sp>
      <p:sp>
        <p:nvSpPr>
          <p:cNvPr id="16" name="TextBox 15"/>
          <p:cNvSpPr txBox="1"/>
          <p:nvPr/>
        </p:nvSpPr>
        <p:spPr>
          <a:xfrm>
            <a:off x="9244584" y="2743200"/>
            <a:ext cx="2057400" cy="3693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srgbClr val="F8FFFD"/>
                </a:solidFill>
                <a:effectLst/>
                <a:uLnTx/>
                <a:uFillTx/>
                <a:latin typeface="Aptos"/>
                <a:ea typeface="+mn-ea"/>
                <a:cs typeface="+mn-cs"/>
              </a:rPr>
              <a:t>Files, credentials,
browser and network</a:t>
            </a:r>
          </a:p>
        </p:txBody>
      </p:sp>
      <p:sp>
        <p:nvSpPr>
          <p:cNvPr id="17" name="Rectangle 16"/>
          <p:cNvSpPr/>
          <p:nvPr/>
        </p:nvSpPr>
        <p:spPr>
          <a:xfrm>
            <a:off x="731520" y="3977639"/>
            <a:ext cx="10469880" cy="2743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8" name="TextBox 17"/>
          <p:cNvSpPr txBox="1"/>
          <p:nvPr/>
        </p:nvSpPr>
        <p:spPr>
          <a:xfrm>
            <a:off x="960120" y="4343400"/>
            <a:ext cx="10012680" cy="292388"/>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dirty="0">
                <a:ln>
                  <a:noFill/>
                </a:ln>
                <a:solidFill>
                  <a:srgbClr val="F8FFFD"/>
                </a:solidFill>
                <a:effectLst/>
                <a:uLnTx/>
                <a:uFillTx/>
                <a:latin typeface="Aptos"/>
                <a:ea typeface="+mn-ea"/>
                <a:cs typeface="+mn-cs"/>
              </a:rPr>
              <a:t>Mistakes—or malicious instructions—can compound from one step to the next.</a:t>
            </a:r>
          </a:p>
        </p:txBody>
      </p:sp>
      <p:sp>
        <p:nvSpPr>
          <p:cNvPr id="19" name="Rectangle 18"/>
          <p:cNvSpPr/>
          <p:nvPr/>
        </p:nvSpPr>
        <p:spPr>
          <a:xfrm>
            <a:off x="1371600" y="5138928"/>
            <a:ext cx="9464040" cy="658368"/>
          </a:xfrm>
          <a:prstGeom prst="rect">
            <a:avLst/>
          </a:prstGeom>
          <a:solidFill>
            <a:srgbClr val="EF3281"/>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0" name="TextBox 19"/>
          <p:cNvSpPr txBox="1"/>
          <p:nvPr/>
        </p:nvSpPr>
        <p:spPr>
          <a:xfrm>
            <a:off x="1600200" y="5349240"/>
            <a:ext cx="9006840" cy="265176"/>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FFFFFF"/>
                </a:solidFill>
                <a:effectLst/>
                <a:uLnTx/>
                <a:uFillTx/>
                <a:latin typeface="Aptos"/>
                <a:ea typeface="+mn-ea"/>
                <a:cs typeface="+mn-cs"/>
              </a:rPr>
              <a:t>The risk is bad instructions combined with legitimate access.</a:t>
            </a:r>
          </a:p>
        </p:txBody>
      </p:sp>
      <p:sp>
        <p:nvSpPr>
          <p:cNvPr id="22" name="TextBox 21">
            <a:extLst>
              <a:ext uri="{FF2B5EF4-FFF2-40B4-BE49-F238E27FC236}">
                <a16:creationId xmlns:a16="http://schemas.microsoft.com/office/drawing/2014/main" id="{ACB68ADF-07F2-A6F9-E96A-15D1178B4BE3}"/>
              </a:ext>
            </a:extLst>
          </p:cNvPr>
          <p:cNvSpPr txBox="1"/>
          <p:nvPr/>
        </p:nvSpPr>
        <p:spPr>
          <a:xfrm>
            <a:off x="502920" y="6437376"/>
            <a:ext cx="1554480" cy="13080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err="1">
                <a:ln>
                  <a:noFill/>
                </a:ln>
                <a:solidFill>
                  <a:srgbClr val="111111"/>
                </a:solidFill>
                <a:effectLst/>
                <a:uLnTx/>
                <a:uFillTx/>
                <a:latin typeface="Aptos"/>
                <a:ea typeface="+mn-ea"/>
                <a:cs typeface="+mn-cs"/>
              </a:rPr>
              <a:t>InfoSecWorld</a:t>
            </a:r>
            <a:endParaRPr kumimoji="0" sz="850" b="1" i="0" u="none" strike="noStrike" kern="1200" cap="none" spc="0" normalizeH="0" baseline="0" noProof="0" dirty="0">
              <a:ln>
                <a:noFill/>
              </a:ln>
              <a:solidFill>
                <a:srgbClr val="111111"/>
              </a:solidFill>
              <a:effectLst/>
              <a:uLnTx/>
              <a:uFillTx/>
              <a:latin typeface="Aptos"/>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1AB2C-8D95-866A-AC8B-A4E2BE65C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A5196-38A7-33A7-3B38-5ABCBABDB426}"/>
              </a:ext>
            </a:extLst>
          </p:cNvPr>
          <p:cNvSpPr>
            <a:spLocks noGrp="1"/>
          </p:cNvSpPr>
          <p:nvPr>
            <p:ph type="title"/>
          </p:nvPr>
        </p:nvSpPr>
        <p:spPr>
          <a:xfrm>
            <a:off x="571500" y="522516"/>
            <a:ext cx="11049000" cy="369332"/>
          </a:xfrm>
        </p:spPr>
        <p:txBody>
          <a:bodyPr/>
          <a:lstStyle/>
          <a:p>
            <a:r>
              <a:rPr lang="en-US" dirty="0"/>
              <a:t>Six Best Practices for Building Secure AI Skills</a:t>
            </a:r>
            <a:endParaRPr lang="en-US" dirty="0">
              <a:gradFill>
                <a:gsLst>
                  <a:gs pos="0">
                    <a:schemeClr val="accent1"/>
                  </a:gs>
                  <a:gs pos="100000">
                    <a:schemeClr val="accent2"/>
                  </a:gs>
                </a:gsLst>
                <a:lin ang="0" scaled="1"/>
              </a:gradFill>
            </a:endParaRPr>
          </a:p>
        </p:txBody>
      </p:sp>
      <p:sp>
        <p:nvSpPr>
          <p:cNvPr id="4" name="Rectangle: Rounded Corners 9">
            <a:extLst>
              <a:ext uri="{FF2B5EF4-FFF2-40B4-BE49-F238E27FC236}">
                <a16:creationId xmlns:a16="http://schemas.microsoft.com/office/drawing/2014/main" id="{B0E85811-C81F-5587-1F00-62406393C158}"/>
              </a:ext>
            </a:extLst>
          </p:cNvPr>
          <p:cNvSpPr/>
          <p:nvPr/>
        </p:nvSpPr>
        <p:spPr bwMode="auto">
          <a:xfrm>
            <a:off x="571500" y="1432885"/>
            <a:ext cx="663533" cy="663533"/>
          </a:xfrm>
          <a:prstGeom prst="roundRect">
            <a:avLst/>
          </a:prstGeom>
          <a:gradFill>
            <a:gsLst>
              <a:gs pos="0">
                <a:schemeClr val="accent1"/>
              </a:gs>
              <a:gs pos="100000">
                <a:schemeClr val="accent2"/>
              </a:gs>
            </a:gsLst>
            <a:lin ang="17400000" scaled="0"/>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Segoe UI" pitchFamily="34" charset="0"/>
              <a:cs typeface="Segoe UI" pitchFamily="34" charset="0"/>
            </a:endParaRPr>
          </a:p>
        </p:txBody>
      </p:sp>
      <p:sp>
        <p:nvSpPr>
          <p:cNvPr id="5" name="Rectangle: Rounded Corners 9">
            <a:extLst>
              <a:ext uri="{FF2B5EF4-FFF2-40B4-BE49-F238E27FC236}">
                <a16:creationId xmlns:a16="http://schemas.microsoft.com/office/drawing/2014/main" id="{2A5B28CC-3E7F-A510-707D-BAEF18AEC1EA}"/>
              </a:ext>
            </a:extLst>
          </p:cNvPr>
          <p:cNvSpPr/>
          <p:nvPr/>
        </p:nvSpPr>
        <p:spPr bwMode="auto">
          <a:xfrm>
            <a:off x="3404300" y="1432885"/>
            <a:ext cx="663533" cy="663533"/>
          </a:xfrm>
          <a:prstGeom prst="roundRect">
            <a:avLst/>
          </a:prstGeom>
          <a:gradFill>
            <a:gsLst>
              <a:gs pos="0">
                <a:schemeClr val="accent1"/>
              </a:gs>
              <a:gs pos="100000">
                <a:schemeClr val="accent2"/>
              </a:gs>
            </a:gsLst>
            <a:lin ang="17400000" scaled="0"/>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Segoe UI" pitchFamily="34" charset="0"/>
              <a:cs typeface="Segoe UI" pitchFamily="34" charset="0"/>
            </a:endParaRPr>
          </a:p>
        </p:txBody>
      </p:sp>
      <p:sp>
        <p:nvSpPr>
          <p:cNvPr id="6" name="Rectangle: Rounded Corners 9">
            <a:extLst>
              <a:ext uri="{FF2B5EF4-FFF2-40B4-BE49-F238E27FC236}">
                <a16:creationId xmlns:a16="http://schemas.microsoft.com/office/drawing/2014/main" id="{9EED68D2-2437-88B2-1083-8EA9F16AEBBC}"/>
              </a:ext>
            </a:extLst>
          </p:cNvPr>
          <p:cNvSpPr/>
          <p:nvPr/>
        </p:nvSpPr>
        <p:spPr bwMode="auto">
          <a:xfrm>
            <a:off x="6237100" y="1432885"/>
            <a:ext cx="663533" cy="663533"/>
          </a:xfrm>
          <a:prstGeom prst="roundRect">
            <a:avLst/>
          </a:prstGeom>
          <a:gradFill>
            <a:gsLst>
              <a:gs pos="0">
                <a:schemeClr val="accent1"/>
              </a:gs>
              <a:gs pos="100000">
                <a:schemeClr val="accent2"/>
              </a:gs>
            </a:gsLst>
            <a:lin ang="17400000" scaled="0"/>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Segoe UI" pitchFamily="34" charset="0"/>
              <a:cs typeface="Segoe UI" pitchFamily="34" charset="0"/>
            </a:endParaRPr>
          </a:p>
        </p:txBody>
      </p:sp>
      <p:sp>
        <p:nvSpPr>
          <p:cNvPr id="7" name="Rectangle: Rounded Corners 9">
            <a:extLst>
              <a:ext uri="{FF2B5EF4-FFF2-40B4-BE49-F238E27FC236}">
                <a16:creationId xmlns:a16="http://schemas.microsoft.com/office/drawing/2014/main" id="{13282412-D04F-0276-498E-F5259A1EFD48}"/>
              </a:ext>
            </a:extLst>
          </p:cNvPr>
          <p:cNvSpPr/>
          <p:nvPr/>
        </p:nvSpPr>
        <p:spPr bwMode="auto">
          <a:xfrm>
            <a:off x="9069901" y="1432885"/>
            <a:ext cx="663533" cy="663533"/>
          </a:xfrm>
          <a:prstGeom prst="roundRect">
            <a:avLst/>
          </a:prstGeom>
          <a:gradFill>
            <a:gsLst>
              <a:gs pos="0">
                <a:schemeClr val="accent1"/>
              </a:gs>
              <a:gs pos="100000">
                <a:schemeClr val="accent2"/>
              </a:gs>
            </a:gsLst>
            <a:lin ang="17400000" scaled="0"/>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Segoe UI" pitchFamily="34" charset="0"/>
              <a:cs typeface="Segoe UI" pitchFamily="34" charset="0"/>
            </a:endParaRPr>
          </a:p>
        </p:txBody>
      </p:sp>
      <p:sp>
        <p:nvSpPr>
          <p:cNvPr id="13" name="Freeform: Shape 12">
            <a:extLst>
              <a:ext uri="{FF2B5EF4-FFF2-40B4-BE49-F238E27FC236}">
                <a16:creationId xmlns:a16="http://schemas.microsoft.com/office/drawing/2014/main" id="{D84E4861-28EC-32B8-9860-A8927ACF3035}"/>
              </a:ext>
            </a:extLst>
          </p:cNvPr>
          <p:cNvSpPr/>
          <p:nvPr/>
        </p:nvSpPr>
        <p:spPr>
          <a:xfrm>
            <a:off x="10952480" y="5273647"/>
            <a:ext cx="668019" cy="668019"/>
          </a:xfrm>
          <a:custGeom>
            <a:avLst/>
            <a:gdLst>
              <a:gd name="connsiteX0" fmla="*/ 0 w 668019"/>
              <a:gd name="connsiteY0" fmla="*/ 334010 h 668019"/>
              <a:gd name="connsiteX1" fmla="*/ 334010 w 668019"/>
              <a:gd name="connsiteY1" fmla="*/ 0 h 668019"/>
              <a:gd name="connsiteX2" fmla="*/ 668020 w 668019"/>
              <a:gd name="connsiteY2" fmla="*/ 334010 h 668019"/>
              <a:gd name="connsiteX3" fmla="*/ 334010 w 668019"/>
              <a:gd name="connsiteY3" fmla="*/ 668020 h 668019"/>
              <a:gd name="connsiteX4" fmla="*/ 0 w 668019"/>
              <a:gd name="connsiteY4" fmla="*/ 334010 h 668019"/>
              <a:gd name="connsiteX5" fmla="*/ 0 w 668019"/>
              <a:gd name="connsiteY5" fmla="*/ 334010 h 66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8019" h="668019">
                <a:moveTo>
                  <a:pt x="0" y="334010"/>
                </a:moveTo>
                <a:cubicBezTo>
                  <a:pt x="0" y="149860"/>
                  <a:pt x="149860" y="0"/>
                  <a:pt x="334010" y="0"/>
                </a:cubicBezTo>
                <a:cubicBezTo>
                  <a:pt x="518160" y="0"/>
                  <a:pt x="668020" y="149860"/>
                  <a:pt x="668020" y="334010"/>
                </a:cubicBezTo>
                <a:cubicBezTo>
                  <a:pt x="668020" y="518160"/>
                  <a:pt x="518160" y="668020"/>
                  <a:pt x="334010" y="668020"/>
                </a:cubicBezTo>
                <a:cubicBezTo>
                  <a:pt x="149860" y="668020"/>
                  <a:pt x="0" y="518160"/>
                  <a:pt x="0" y="334010"/>
                </a:cubicBezTo>
                <a:lnTo>
                  <a:pt x="0" y="334010"/>
                </a:lnTo>
                <a:close/>
              </a:path>
            </a:pathLst>
          </a:custGeom>
          <a:solidFill>
            <a:schemeClr val="accent2"/>
          </a:solidFill>
          <a:ln w="1270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9" name="TextBox 28">
            <a:extLst>
              <a:ext uri="{FF2B5EF4-FFF2-40B4-BE49-F238E27FC236}">
                <a16:creationId xmlns:a16="http://schemas.microsoft.com/office/drawing/2014/main" id="{E9D94A1E-3632-78AB-EB42-42C6C7DCA138}"/>
              </a:ext>
            </a:extLst>
          </p:cNvPr>
          <p:cNvSpPr txBox="1"/>
          <p:nvPr/>
        </p:nvSpPr>
        <p:spPr>
          <a:xfrm>
            <a:off x="571500" y="2633181"/>
            <a:ext cx="2551112" cy="954813"/>
          </a:xfrm>
          <a:prstGeom prst="rect">
            <a:avLst/>
          </a:prstGeom>
          <a:noFill/>
        </p:spPr>
        <p:txBody>
          <a:bodyPr wrap="square" lIns="0" rIns="0" rtlCol="0">
            <a:spAutoFit/>
          </a:bodyPr>
          <a:lstStyle/>
          <a:p>
            <a:pPr marL="0" marR="0" lvl="0" indent="0" algn="l" defTabSz="914367"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rPr>
              <a:t>Include decision process, quality bar, resources, evidence standard. </a:t>
            </a:r>
            <a:r>
              <a:rPr lang="en-US" sz="1100" dirty="0">
                <a:solidFill>
                  <a:srgbClr val="FFFFFF"/>
                </a:solidFill>
                <a:latin typeface="Calibri"/>
                <a:ea typeface="Roboto" panose="02000000000000000000" pitchFamily="2" charset="0"/>
                <a:cs typeface="Rubik Light" pitchFamily="2" charset="-79"/>
              </a:rPr>
              <a:t>The skill should solve a problem or task that would otherwise require multiple prompts.</a:t>
            </a:r>
            <a:endPar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endParaRPr>
          </a:p>
        </p:txBody>
      </p:sp>
      <p:sp>
        <p:nvSpPr>
          <p:cNvPr id="31" name="TextBox 30">
            <a:extLst>
              <a:ext uri="{FF2B5EF4-FFF2-40B4-BE49-F238E27FC236}">
                <a16:creationId xmlns:a16="http://schemas.microsoft.com/office/drawing/2014/main" id="{62A7158D-8E7B-A274-5074-7BCD9A85D487}"/>
              </a:ext>
            </a:extLst>
          </p:cNvPr>
          <p:cNvSpPr txBox="1"/>
          <p:nvPr/>
        </p:nvSpPr>
        <p:spPr>
          <a:xfrm>
            <a:off x="571500" y="2295955"/>
            <a:ext cx="2726772" cy="246221"/>
          </a:xfrm>
          <a:prstGeom prst="rect">
            <a:avLst/>
          </a:prstGeom>
          <a:noFill/>
        </p:spPr>
        <p:txBody>
          <a:bodyPr wrap="none" lIns="0" tIns="0" rIns="0" bIns="0" rtlCol="0" anchor="ctr">
            <a:spAutoFit/>
          </a:bodyPr>
          <a:lstStyle/>
          <a:p>
            <a:pPr defTabSz="914367"/>
            <a:r>
              <a:rPr lang="en-US" sz="1600" dirty="0">
                <a:solidFill>
                  <a:srgbClr val="7B1EFF">
                    <a:lumMod val="20000"/>
                    <a:lumOff val="80000"/>
                  </a:srgbClr>
                </a:solidFill>
                <a:latin typeface="Arial Black"/>
              </a:rPr>
              <a:t>1. Use domain expertise</a:t>
            </a:r>
            <a:endParaRPr kumimoji="0" lang="en-US" sz="1600" b="0" i="0" u="none" strike="noStrike" kern="1200" cap="none" spc="0" normalizeH="0" baseline="0" noProof="0" dirty="0">
              <a:ln>
                <a:noFill/>
              </a:ln>
              <a:solidFill>
                <a:schemeClr val="bg1"/>
              </a:solidFill>
              <a:effectLst/>
              <a:uLnTx/>
              <a:uFillTx/>
              <a:latin typeface="Arial Black"/>
              <a:ea typeface="+mn-ea"/>
              <a:cs typeface="+mn-cs"/>
            </a:endParaRPr>
          </a:p>
        </p:txBody>
      </p:sp>
      <p:sp>
        <p:nvSpPr>
          <p:cNvPr id="50" name="TextBox 49">
            <a:extLst>
              <a:ext uri="{FF2B5EF4-FFF2-40B4-BE49-F238E27FC236}">
                <a16:creationId xmlns:a16="http://schemas.microsoft.com/office/drawing/2014/main" id="{08E912A6-4951-95BF-FAAB-970897A3F36E}"/>
              </a:ext>
            </a:extLst>
          </p:cNvPr>
          <p:cNvSpPr txBox="1"/>
          <p:nvPr/>
        </p:nvSpPr>
        <p:spPr>
          <a:xfrm>
            <a:off x="3488604" y="2685611"/>
            <a:ext cx="2551112" cy="514693"/>
          </a:xfrm>
          <a:prstGeom prst="rect">
            <a:avLst/>
          </a:prstGeom>
          <a:noFill/>
        </p:spPr>
        <p:txBody>
          <a:bodyPr wrap="square" lIns="0" rIns="0" rtlCol="0">
            <a:spAutoFit/>
          </a:bodyPr>
          <a:lstStyle/>
          <a:p>
            <a:pPr marL="0" marR="0" lvl="0" indent="0" algn="l" defTabSz="914367"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rPr>
              <a:t>Include triggers in the description of how and when a skill should fire.</a:t>
            </a:r>
          </a:p>
        </p:txBody>
      </p:sp>
      <p:sp>
        <p:nvSpPr>
          <p:cNvPr id="52" name="TextBox 51">
            <a:extLst>
              <a:ext uri="{FF2B5EF4-FFF2-40B4-BE49-F238E27FC236}">
                <a16:creationId xmlns:a16="http://schemas.microsoft.com/office/drawing/2014/main" id="{9C6CEAAD-2B33-4376-8F05-E8654CE49FC5}"/>
              </a:ext>
            </a:extLst>
          </p:cNvPr>
          <p:cNvSpPr txBox="1"/>
          <p:nvPr/>
        </p:nvSpPr>
        <p:spPr>
          <a:xfrm>
            <a:off x="3488604" y="2296536"/>
            <a:ext cx="1421543" cy="246221"/>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n-ea"/>
                <a:cs typeface="+mn-cs"/>
              </a:rPr>
              <a:t>2. Activation</a:t>
            </a:r>
          </a:p>
        </p:txBody>
      </p:sp>
      <p:sp>
        <p:nvSpPr>
          <p:cNvPr id="54" name="TextBox 53">
            <a:extLst>
              <a:ext uri="{FF2B5EF4-FFF2-40B4-BE49-F238E27FC236}">
                <a16:creationId xmlns:a16="http://schemas.microsoft.com/office/drawing/2014/main" id="{A9DACD36-42C8-4056-76F1-8B1705116EDB}"/>
              </a:ext>
            </a:extLst>
          </p:cNvPr>
          <p:cNvSpPr txBox="1"/>
          <p:nvPr/>
        </p:nvSpPr>
        <p:spPr>
          <a:xfrm>
            <a:off x="6236758" y="2633181"/>
            <a:ext cx="2551112" cy="514693"/>
          </a:xfrm>
          <a:prstGeom prst="rect">
            <a:avLst/>
          </a:prstGeom>
          <a:noFill/>
        </p:spPr>
        <p:txBody>
          <a:bodyPr wrap="square" lIns="0" rIns="0" rtlCol="0">
            <a:spAutoFit/>
          </a:bodyPr>
          <a:lstStyle/>
          <a:p>
            <a:pPr marL="0" marR="0" lvl="0" indent="0" algn="l" defTabSz="914367"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rPr>
              <a:t>Keep the skill concise and do not overload with unnecessary context.</a:t>
            </a:r>
          </a:p>
        </p:txBody>
      </p:sp>
      <p:sp>
        <p:nvSpPr>
          <p:cNvPr id="56" name="TextBox 55">
            <a:extLst>
              <a:ext uri="{FF2B5EF4-FFF2-40B4-BE49-F238E27FC236}">
                <a16:creationId xmlns:a16="http://schemas.microsoft.com/office/drawing/2014/main" id="{F8D692A0-7DB8-1913-63FF-0D7DAA51E5E5}"/>
              </a:ext>
            </a:extLst>
          </p:cNvPr>
          <p:cNvSpPr txBox="1"/>
          <p:nvPr/>
        </p:nvSpPr>
        <p:spPr>
          <a:xfrm>
            <a:off x="6236758" y="2295955"/>
            <a:ext cx="1948675" cy="246221"/>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n-ea"/>
                <a:cs typeface="+mn-cs"/>
              </a:rPr>
              <a:t>3. </a:t>
            </a:r>
            <a:r>
              <a:rPr lang="en-US" sz="1600" dirty="0">
                <a:solidFill>
                  <a:srgbClr val="7B1EFF">
                    <a:lumMod val="20000"/>
                    <a:lumOff val="80000"/>
                  </a:srgbClr>
                </a:solidFill>
                <a:latin typeface="Arial Black"/>
              </a:rPr>
              <a:t>Focused scope</a:t>
            </a:r>
            <a:endPar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n-ea"/>
              <a:cs typeface="+mn-cs"/>
            </a:endParaRPr>
          </a:p>
        </p:txBody>
      </p:sp>
      <p:sp>
        <p:nvSpPr>
          <p:cNvPr id="58" name="TextBox 57">
            <a:extLst>
              <a:ext uri="{FF2B5EF4-FFF2-40B4-BE49-F238E27FC236}">
                <a16:creationId xmlns:a16="http://schemas.microsoft.com/office/drawing/2014/main" id="{4D4E263D-1AA0-244A-31D1-097A40CF9E22}"/>
              </a:ext>
            </a:extLst>
          </p:cNvPr>
          <p:cNvSpPr txBox="1"/>
          <p:nvPr/>
        </p:nvSpPr>
        <p:spPr>
          <a:xfrm>
            <a:off x="9019345" y="2633181"/>
            <a:ext cx="2551112" cy="294632"/>
          </a:xfrm>
          <a:prstGeom prst="rect">
            <a:avLst/>
          </a:prstGeom>
          <a:noFill/>
        </p:spPr>
        <p:txBody>
          <a:bodyPr wrap="square" lIns="0" rIns="0" rtlCol="0">
            <a:spAutoFit/>
          </a:bodyPr>
          <a:lstStyle/>
          <a:p>
            <a:pPr marL="0" marR="0" lvl="0" indent="0" algn="l" defTabSz="914367" rtl="0" eaLnBrk="1" fontAlgn="auto" latinLnBrk="0" hangingPunct="1">
              <a:lnSpc>
                <a:spcPct val="130000"/>
              </a:lnSpc>
              <a:spcBef>
                <a:spcPts val="0"/>
              </a:spcBef>
              <a:spcAft>
                <a:spcPts val="0"/>
              </a:spcAft>
              <a:buClrTx/>
              <a:buSzTx/>
              <a:buFontTx/>
              <a:buNone/>
              <a:tabLst/>
              <a:defRPr/>
            </a:pPr>
            <a:r>
              <a:rPr lang="en-US" sz="1100" dirty="0">
                <a:solidFill>
                  <a:srgbClr val="FFFFFF"/>
                </a:solidFill>
                <a:latin typeface="Calibri"/>
                <a:ea typeface="Roboto" panose="02000000000000000000" pitchFamily="2" charset="0"/>
                <a:cs typeface="Rubik Light" pitchFamily="2" charset="-79"/>
              </a:rPr>
              <a:t>Hard code scripts for more sensitive steps.</a:t>
            </a:r>
            <a:endPar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endParaRPr>
          </a:p>
        </p:txBody>
      </p:sp>
      <p:sp>
        <p:nvSpPr>
          <p:cNvPr id="60" name="TextBox 59">
            <a:extLst>
              <a:ext uri="{FF2B5EF4-FFF2-40B4-BE49-F238E27FC236}">
                <a16:creationId xmlns:a16="http://schemas.microsoft.com/office/drawing/2014/main" id="{76A061AB-4E70-4ED4-8F45-E0E8F92AF368}"/>
              </a:ext>
            </a:extLst>
          </p:cNvPr>
          <p:cNvSpPr txBox="1"/>
          <p:nvPr/>
        </p:nvSpPr>
        <p:spPr>
          <a:xfrm>
            <a:off x="8918940" y="2279679"/>
            <a:ext cx="3182859" cy="246221"/>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n-ea"/>
                <a:cs typeface="+mn-cs"/>
              </a:rPr>
              <a:t>4. Use deterministic helpers</a:t>
            </a:r>
          </a:p>
        </p:txBody>
      </p:sp>
      <p:cxnSp>
        <p:nvCxnSpPr>
          <p:cNvPr id="4097" name="Straight Arrow Connector 4096">
            <a:extLst>
              <a:ext uri="{FF2B5EF4-FFF2-40B4-BE49-F238E27FC236}">
                <a16:creationId xmlns:a16="http://schemas.microsoft.com/office/drawing/2014/main" id="{1934D37D-D9AA-264E-0BE5-B3D35340F5DE}"/>
              </a:ext>
            </a:extLst>
          </p:cNvPr>
          <p:cNvCxnSpPr>
            <a:cxnSpLocks/>
          </p:cNvCxnSpPr>
          <p:nvPr/>
        </p:nvCxnSpPr>
        <p:spPr>
          <a:xfrm>
            <a:off x="4202647" y="1774215"/>
            <a:ext cx="1883362" cy="0"/>
          </a:xfrm>
          <a:prstGeom prst="straightConnector1">
            <a:avLst/>
          </a:prstGeom>
          <a:ln>
            <a:gradFill flip="none" rotWithShape="1">
              <a:gsLst>
                <a:gs pos="0">
                  <a:schemeClr val="accent1"/>
                </a:gs>
                <a:gs pos="100000">
                  <a:schemeClr val="accent2"/>
                </a:gs>
              </a:gsLst>
              <a:lin ang="0" scaled="1"/>
              <a:tileRect/>
            </a:gradFill>
            <a:headEnd type="oval" w="med" len="med"/>
            <a:tailEnd type="triangle"/>
          </a:ln>
        </p:spPr>
        <p:style>
          <a:lnRef idx="1">
            <a:schemeClr val="accent1"/>
          </a:lnRef>
          <a:fillRef idx="0">
            <a:schemeClr val="accent1"/>
          </a:fillRef>
          <a:effectRef idx="0">
            <a:schemeClr val="accent1"/>
          </a:effectRef>
          <a:fontRef idx="minor">
            <a:schemeClr val="tx1"/>
          </a:fontRef>
        </p:style>
      </p:cxnSp>
      <p:cxnSp>
        <p:nvCxnSpPr>
          <p:cNvPr id="4099" name="Straight Arrow Connector 4098">
            <a:extLst>
              <a:ext uri="{FF2B5EF4-FFF2-40B4-BE49-F238E27FC236}">
                <a16:creationId xmlns:a16="http://schemas.microsoft.com/office/drawing/2014/main" id="{98F5175C-CE0A-C1B4-5FDE-9606227B8CCD}"/>
              </a:ext>
            </a:extLst>
          </p:cNvPr>
          <p:cNvCxnSpPr>
            <a:cxnSpLocks/>
          </p:cNvCxnSpPr>
          <p:nvPr/>
        </p:nvCxnSpPr>
        <p:spPr>
          <a:xfrm flipV="1">
            <a:off x="7035276" y="1774214"/>
            <a:ext cx="1883664" cy="1"/>
          </a:xfrm>
          <a:prstGeom prst="straightConnector1">
            <a:avLst/>
          </a:prstGeom>
          <a:ln>
            <a:gradFill flip="none" rotWithShape="1">
              <a:gsLst>
                <a:gs pos="0">
                  <a:schemeClr val="accent1"/>
                </a:gs>
                <a:gs pos="100000">
                  <a:schemeClr val="accent2"/>
                </a:gs>
              </a:gsLst>
              <a:lin ang="0" scaled="1"/>
              <a:tileRect/>
            </a:gradFill>
            <a:headEnd type="oval" w="med" len="med"/>
            <a:tailEnd type="triangle"/>
          </a:ln>
        </p:spPr>
        <p:style>
          <a:lnRef idx="1">
            <a:schemeClr val="accent1"/>
          </a:lnRef>
          <a:fillRef idx="0">
            <a:schemeClr val="accent1"/>
          </a:fillRef>
          <a:effectRef idx="0">
            <a:schemeClr val="accent1"/>
          </a:effectRef>
          <a:fontRef idx="minor">
            <a:schemeClr val="tx1"/>
          </a:fontRef>
        </p:style>
      </p:cxnSp>
      <p:cxnSp>
        <p:nvCxnSpPr>
          <p:cNvPr id="4101" name="Straight Arrow Connector 4100">
            <a:extLst>
              <a:ext uri="{FF2B5EF4-FFF2-40B4-BE49-F238E27FC236}">
                <a16:creationId xmlns:a16="http://schemas.microsoft.com/office/drawing/2014/main" id="{181619F8-C6D8-2EAC-B61D-D295E4AAE82F}"/>
              </a:ext>
            </a:extLst>
          </p:cNvPr>
          <p:cNvCxnSpPr>
            <a:cxnSpLocks/>
          </p:cNvCxnSpPr>
          <p:nvPr/>
        </p:nvCxnSpPr>
        <p:spPr>
          <a:xfrm>
            <a:off x="1370018" y="1774215"/>
            <a:ext cx="1887065" cy="0"/>
          </a:xfrm>
          <a:prstGeom prst="straightConnector1">
            <a:avLst/>
          </a:prstGeom>
          <a:ln>
            <a:gradFill flip="none" rotWithShape="1">
              <a:gsLst>
                <a:gs pos="0">
                  <a:schemeClr val="accent1"/>
                </a:gs>
                <a:gs pos="100000">
                  <a:schemeClr val="accent2"/>
                </a:gs>
              </a:gsLst>
              <a:lin ang="0" scaled="1"/>
              <a:tileRect/>
            </a:gradFill>
            <a:headEnd type="oval" w="med" len="med"/>
            <a:tailEnd type="triangle"/>
          </a:ln>
        </p:spPr>
        <p:style>
          <a:lnRef idx="1">
            <a:schemeClr val="accent1"/>
          </a:lnRef>
          <a:fillRef idx="0">
            <a:schemeClr val="accent1"/>
          </a:fillRef>
          <a:effectRef idx="0">
            <a:schemeClr val="accent1"/>
          </a:effectRef>
          <a:fontRef idx="minor">
            <a:schemeClr val="tx1"/>
          </a:fontRef>
        </p:style>
      </p:cxnSp>
      <p:pic>
        <p:nvPicPr>
          <p:cNvPr id="4108" name="Graphic 4107">
            <a:extLst>
              <a:ext uri="{FF2B5EF4-FFF2-40B4-BE49-F238E27FC236}">
                <a16:creationId xmlns:a16="http://schemas.microsoft.com/office/drawing/2014/main" id="{AF55FD5E-F74F-1CDF-BA4F-2E7182CA8E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2036" y="5423203"/>
            <a:ext cx="368906" cy="368906"/>
          </a:xfrm>
          <a:prstGeom prst="rect">
            <a:avLst/>
          </a:prstGeom>
        </p:spPr>
      </p:pic>
      <p:grpSp>
        <p:nvGrpSpPr>
          <p:cNvPr id="18" name="Group 17">
            <a:extLst>
              <a:ext uri="{FF2B5EF4-FFF2-40B4-BE49-F238E27FC236}">
                <a16:creationId xmlns:a16="http://schemas.microsoft.com/office/drawing/2014/main" id="{4D07DA4A-9421-9F58-2F70-D71AED4AC917}"/>
              </a:ext>
            </a:extLst>
          </p:cNvPr>
          <p:cNvGrpSpPr/>
          <p:nvPr/>
        </p:nvGrpSpPr>
        <p:grpSpPr>
          <a:xfrm>
            <a:off x="6472861" y="1675975"/>
            <a:ext cx="190568" cy="190493"/>
            <a:chOff x="6856544" y="3054095"/>
            <a:chExt cx="190568" cy="190493"/>
          </a:xfrm>
        </p:grpSpPr>
        <p:sp>
          <p:nvSpPr>
            <p:cNvPr id="19" name="Freeform 18">
              <a:extLst>
                <a:ext uri="{FF2B5EF4-FFF2-40B4-BE49-F238E27FC236}">
                  <a16:creationId xmlns:a16="http://schemas.microsoft.com/office/drawing/2014/main" id="{F5A56195-97E7-A9DB-9760-E068AB941447}"/>
                </a:ext>
              </a:extLst>
            </p:cNvPr>
            <p:cNvSpPr/>
            <p:nvPr/>
          </p:nvSpPr>
          <p:spPr>
            <a:xfrm>
              <a:off x="6856544" y="3054095"/>
              <a:ext cx="190568" cy="190493"/>
            </a:xfrm>
            <a:custGeom>
              <a:avLst/>
              <a:gdLst>
                <a:gd name="connsiteX0" fmla="*/ 17730 w 190568"/>
                <a:gd name="connsiteY0" fmla="*/ 63015 h 190493"/>
                <a:gd name="connsiteX1" fmla="*/ 46668 w 190568"/>
                <a:gd name="connsiteY1" fmla="*/ 17563 h 190493"/>
                <a:gd name="connsiteX2" fmla="*/ 63260 w 190568"/>
                <a:gd name="connsiteY2" fmla="*/ 17580 h 190493"/>
                <a:gd name="connsiteX3" fmla="*/ 115884 w 190568"/>
                <a:gd name="connsiteY3" fmla="*/ 6006 h 190493"/>
                <a:gd name="connsiteX4" fmla="*/ 127458 w 190568"/>
                <a:gd name="connsiteY4" fmla="*/ 17580 h 190493"/>
                <a:gd name="connsiteX5" fmla="*/ 172988 w 190568"/>
                <a:gd name="connsiteY5" fmla="*/ 46395 h 190493"/>
                <a:gd name="connsiteX6" fmla="*/ 172988 w 190568"/>
                <a:gd name="connsiteY6" fmla="*/ 63110 h 190493"/>
                <a:gd name="connsiteX7" fmla="*/ 184563 w 190568"/>
                <a:gd name="connsiteY7" fmla="*/ 115734 h 190493"/>
                <a:gd name="connsiteX8" fmla="*/ 172988 w 190568"/>
                <a:gd name="connsiteY8" fmla="*/ 127308 h 190493"/>
                <a:gd name="connsiteX9" fmla="*/ 144146 w 190568"/>
                <a:gd name="connsiteY9" fmla="*/ 172821 h 190493"/>
                <a:gd name="connsiteX10" fmla="*/ 127554 w 190568"/>
                <a:gd name="connsiteY10" fmla="*/ 172838 h 190493"/>
                <a:gd name="connsiteX11" fmla="*/ 74957 w 190568"/>
                <a:gd name="connsiteY11" fmla="*/ 184536 h 190493"/>
                <a:gd name="connsiteX12" fmla="*/ 63260 w 190568"/>
                <a:gd name="connsiteY12" fmla="*/ 172838 h 190493"/>
                <a:gd name="connsiteX13" fmla="*/ 17748 w 190568"/>
                <a:gd name="connsiteY13" fmla="*/ 143996 h 190493"/>
                <a:gd name="connsiteX14" fmla="*/ 17730 w 190568"/>
                <a:gd name="connsiteY14" fmla="*/ 127404 h 190493"/>
                <a:gd name="connsiteX15" fmla="*/ 5910 w 190568"/>
                <a:gd name="connsiteY15" fmla="*/ 74835 h 190493"/>
                <a:gd name="connsiteX16" fmla="*/ 17730 w 190568"/>
                <a:gd name="connsiteY16" fmla="*/ 63015 h 19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68" h="190493">
                  <a:moveTo>
                    <a:pt x="17730" y="63015"/>
                  </a:moveTo>
                  <a:cubicBezTo>
                    <a:pt x="13170" y="42473"/>
                    <a:pt x="26126" y="22123"/>
                    <a:pt x="46668" y="17563"/>
                  </a:cubicBezTo>
                  <a:cubicBezTo>
                    <a:pt x="52133" y="16350"/>
                    <a:pt x="57798" y="16356"/>
                    <a:pt x="63260" y="17580"/>
                  </a:cubicBezTo>
                  <a:cubicBezTo>
                    <a:pt x="74595" y="-148"/>
                    <a:pt x="98156" y="-5330"/>
                    <a:pt x="115884" y="6006"/>
                  </a:cubicBezTo>
                  <a:cubicBezTo>
                    <a:pt x="120535" y="8980"/>
                    <a:pt x="124485" y="12929"/>
                    <a:pt x="127458" y="17580"/>
                  </a:cubicBezTo>
                  <a:cubicBezTo>
                    <a:pt x="147988" y="12965"/>
                    <a:pt x="168372" y="25866"/>
                    <a:pt x="172988" y="46395"/>
                  </a:cubicBezTo>
                  <a:cubicBezTo>
                    <a:pt x="174225" y="51898"/>
                    <a:pt x="174225" y="57607"/>
                    <a:pt x="172988" y="63110"/>
                  </a:cubicBezTo>
                  <a:cubicBezTo>
                    <a:pt x="190716" y="74445"/>
                    <a:pt x="195898" y="98006"/>
                    <a:pt x="184563" y="115734"/>
                  </a:cubicBezTo>
                  <a:cubicBezTo>
                    <a:pt x="181589" y="120385"/>
                    <a:pt x="177639" y="124335"/>
                    <a:pt x="172988" y="127308"/>
                  </a:cubicBezTo>
                  <a:cubicBezTo>
                    <a:pt x="177591" y="147840"/>
                    <a:pt x="164678" y="168217"/>
                    <a:pt x="144146" y="172821"/>
                  </a:cubicBezTo>
                  <a:cubicBezTo>
                    <a:pt x="138684" y="174045"/>
                    <a:pt x="133018" y="174051"/>
                    <a:pt x="127554" y="172838"/>
                  </a:cubicBezTo>
                  <a:cubicBezTo>
                    <a:pt x="116260" y="190592"/>
                    <a:pt x="92711" y="195829"/>
                    <a:pt x="74957" y="184536"/>
                  </a:cubicBezTo>
                  <a:cubicBezTo>
                    <a:pt x="70248" y="181540"/>
                    <a:pt x="66255" y="177547"/>
                    <a:pt x="63260" y="172838"/>
                  </a:cubicBezTo>
                  <a:cubicBezTo>
                    <a:pt x="42727" y="177441"/>
                    <a:pt x="22351" y="164528"/>
                    <a:pt x="17748" y="143996"/>
                  </a:cubicBezTo>
                  <a:cubicBezTo>
                    <a:pt x="16523" y="138534"/>
                    <a:pt x="16517" y="132868"/>
                    <a:pt x="17730" y="127404"/>
                  </a:cubicBezTo>
                  <a:cubicBezTo>
                    <a:pt x="-50" y="116151"/>
                    <a:pt x="-5342" y="92615"/>
                    <a:pt x="5910" y="74835"/>
                  </a:cubicBezTo>
                  <a:cubicBezTo>
                    <a:pt x="8927" y="70068"/>
                    <a:pt x="12964" y="66031"/>
                    <a:pt x="17730" y="63015"/>
                  </a:cubicBezTo>
                  <a:close/>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 name="Freeform 19">
              <a:extLst>
                <a:ext uri="{FF2B5EF4-FFF2-40B4-BE49-F238E27FC236}">
                  <a16:creationId xmlns:a16="http://schemas.microsoft.com/office/drawing/2014/main" id="{89301865-AA41-9EB0-01DA-56BC8E707C08}"/>
                </a:ext>
              </a:extLst>
            </p:cNvPr>
            <p:cNvSpPr/>
            <p:nvPr/>
          </p:nvSpPr>
          <p:spPr>
            <a:xfrm>
              <a:off x="6923329" y="3130255"/>
              <a:ext cx="57150" cy="38100"/>
            </a:xfrm>
            <a:custGeom>
              <a:avLst/>
              <a:gdLst>
                <a:gd name="connsiteX0" fmla="*/ 0 w 57150"/>
                <a:gd name="connsiteY0" fmla="*/ 19050 h 38100"/>
                <a:gd name="connsiteX1" fmla="*/ 19050 w 57150"/>
                <a:gd name="connsiteY1" fmla="*/ 38100 h 38100"/>
                <a:gd name="connsiteX2" fmla="*/ 57150 w 57150"/>
                <a:gd name="connsiteY2" fmla="*/ 0 h 38100"/>
              </a:gdLst>
              <a:ahLst/>
              <a:cxnLst>
                <a:cxn ang="0">
                  <a:pos x="connsiteX0" y="connsiteY0"/>
                </a:cxn>
                <a:cxn ang="0">
                  <a:pos x="connsiteX1" y="connsiteY1"/>
                </a:cxn>
                <a:cxn ang="0">
                  <a:pos x="connsiteX2" y="connsiteY2"/>
                </a:cxn>
              </a:cxnLst>
              <a:rect l="l" t="t" r="r" b="b"/>
              <a:pathLst>
                <a:path w="57150" h="38100">
                  <a:moveTo>
                    <a:pt x="0" y="19050"/>
                  </a:moveTo>
                  <a:lnTo>
                    <a:pt x="19050" y="38100"/>
                  </a:lnTo>
                  <a:lnTo>
                    <a:pt x="5715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grpSp>
        <p:nvGrpSpPr>
          <p:cNvPr id="21" name="Group 20">
            <a:extLst>
              <a:ext uri="{FF2B5EF4-FFF2-40B4-BE49-F238E27FC236}">
                <a16:creationId xmlns:a16="http://schemas.microsoft.com/office/drawing/2014/main" id="{3F3D00C3-F2A5-F430-8A16-9A697A75F742}"/>
              </a:ext>
            </a:extLst>
          </p:cNvPr>
          <p:cNvGrpSpPr/>
          <p:nvPr/>
        </p:nvGrpSpPr>
        <p:grpSpPr>
          <a:xfrm>
            <a:off x="811722" y="1675971"/>
            <a:ext cx="190500" cy="190500"/>
            <a:chOff x="1733080" y="3673315"/>
            <a:chExt cx="190500" cy="190500"/>
          </a:xfrm>
        </p:grpSpPr>
        <p:sp>
          <p:nvSpPr>
            <p:cNvPr id="22" name="Freeform 21">
              <a:extLst>
                <a:ext uri="{FF2B5EF4-FFF2-40B4-BE49-F238E27FC236}">
                  <a16:creationId xmlns:a16="http://schemas.microsoft.com/office/drawing/2014/main" id="{54742EB6-D8A9-BC34-B854-CD0144F0FBAC}"/>
                </a:ext>
              </a:extLst>
            </p:cNvPr>
            <p:cNvSpPr/>
            <p:nvPr/>
          </p:nvSpPr>
          <p:spPr>
            <a:xfrm>
              <a:off x="1733080" y="3711415"/>
              <a:ext cx="152400" cy="152400"/>
            </a:xfrm>
            <a:custGeom>
              <a:avLst/>
              <a:gdLst>
                <a:gd name="connsiteX0" fmla="*/ 76200 w 152400"/>
                <a:gd name="connsiteY0" fmla="*/ 152400 h 152400"/>
                <a:gd name="connsiteX1" fmla="*/ 76200 w 152400"/>
                <a:gd name="connsiteY1" fmla="*/ 9525 h 152400"/>
                <a:gd name="connsiteX2" fmla="*/ 66675 w 152400"/>
                <a:gd name="connsiteY2" fmla="*/ 0 h 152400"/>
                <a:gd name="connsiteX3" fmla="*/ 19050 w 152400"/>
                <a:gd name="connsiteY3" fmla="*/ 0 h 152400"/>
                <a:gd name="connsiteX4" fmla="*/ 0 w 152400"/>
                <a:gd name="connsiteY4" fmla="*/ 19050 h 152400"/>
                <a:gd name="connsiteX5" fmla="*/ 0 w 152400"/>
                <a:gd name="connsiteY5" fmla="*/ 133350 h 152400"/>
                <a:gd name="connsiteX6" fmla="*/ 19050 w 152400"/>
                <a:gd name="connsiteY6" fmla="*/ 152400 h 152400"/>
                <a:gd name="connsiteX7" fmla="*/ 133350 w 152400"/>
                <a:gd name="connsiteY7" fmla="*/ 152400 h 152400"/>
                <a:gd name="connsiteX8" fmla="*/ 152400 w 152400"/>
                <a:gd name="connsiteY8" fmla="*/ 133350 h 152400"/>
                <a:gd name="connsiteX9" fmla="*/ 152400 w 152400"/>
                <a:gd name="connsiteY9" fmla="*/ 85725 h 152400"/>
                <a:gd name="connsiteX10" fmla="*/ 142875 w 152400"/>
                <a:gd name="connsiteY10" fmla="*/ 76200 h 152400"/>
                <a:gd name="connsiteX11" fmla="*/ 0 w 152400"/>
                <a:gd name="connsiteY11" fmla="*/ 762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52400">
                  <a:moveTo>
                    <a:pt x="76200" y="152400"/>
                  </a:moveTo>
                  <a:lnTo>
                    <a:pt x="76200" y="9525"/>
                  </a:lnTo>
                  <a:cubicBezTo>
                    <a:pt x="76200" y="4265"/>
                    <a:pt x="71936" y="0"/>
                    <a:pt x="66675" y="0"/>
                  </a:cubicBezTo>
                  <a:lnTo>
                    <a:pt x="19050" y="0"/>
                  </a:lnTo>
                  <a:cubicBezTo>
                    <a:pt x="8529" y="0"/>
                    <a:pt x="0" y="8529"/>
                    <a:pt x="0" y="19050"/>
                  </a:cubicBezTo>
                  <a:lnTo>
                    <a:pt x="0" y="133350"/>
                  </a:lnTo>
                  <a:cubicBezTo>
                    <a:pt x="0" y="143871"/>
                    <a:pt x="8529" y="152400"/>
                    <a:pt x="19050" y="152400"/>
                  </a:cubicBezTo>
                  <a:lnTo>
                    <a:pt x="133350" y="152400"/>
                  </a:lnTo>
                  <a:cubicBezTo>
                    <a:pt x="143871" y="152400"/>
                    <a:pt x="152400" y="143871"/>
                    <a:pt x="152400" y="133350"/>
                  </a:cubicBezTo>
                  <a:lnTo>
                    <a:pt x="152400" y="85725"/>
                  </a:lnTo>
                  <a:cubicBezTo>
                    <a:pt x="152400" y="80464"/>
                    <a:pt x="148136" y="76200"/>
                    <a:pt x="142875" y="76200"/>
                  </a:cubicBezTo>
                  <a:lnTo>
                    <a:pt x="0" y="7620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3" name="Freeform 22">
              <a:extLst>
                <a:ext uri="{FF2B5EF4-FFF2-40B4-BE49-F238E27FC236}">
                  <a16:creationId xmlns:a16="http://schemas.microsoft.com/office/drawing/2014/main" id="{747F1659-1359-2943-202A-44CA76F06C19}"/>
                </a:ext>
              </a:extLst>
            </p:cNvPr>
            <p:cNvSpPr/>
            <p:nvPr/>
          </p:nvSpPr>
          <p:spPr>
            <a:xfrm>
              <a:off x="1847380" y="3673315"/>
              <a:ext cx="76200" cy="76200"/>
            </a:xfrm>
            <a:custGeom>
              <a:avLst/>
              <a:gdLst>
                <a:gd name="connsiteX0" fmla="*/ 66675 w 76200"/>
                <a:gd name="connsiteY0" fmla="*/ 0 h 76200"/>
                <a:gd name="connsiteX1" fmla="*/ 76200 w 76200"/>
                <a:gd name="connsiteY1" fmla="*/ 0 h 76200"/>
                <a:gd name="connsiteX2" fmla="*/ 76200 w 76200"/>
                <a:gd name="connsiteY2" fmla="*/ 76200 h 76200"/>
                <a:gd name="connsiteX3" fmla="*/ 66675 w 76200"/>
                <a:gd name="connsiteY3" fmla="*/ 76200 h 76200"/>
                <a:gd name="connsiteX4" fmla="*/ 9525 w 76200"/>
                <a:gd name="connsiteY4" fmla="*/ 76200 h 76200"/>
                <a:gd name="connsiteX5" fmla="*/ 0 w 76200"/>
                <a:gd name="connsiteY5" fmla="*/ 76200 h 76200"/>
                <a:gd name="connsiteX6" fmla="*/ 0 w 76200"/>
                <a:gd name="connsiteY6" fmla="*/ 0 h 76200"/>
                <a:gd name="connsiteX7" fmla="*/ 9525 w 76200"/>
                <a:gd name="connsiteY7" fmla="*/ 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66675" y="0"/>
                  </a:moveTo>
                  <a:cubicBezTo>
                    <a:pt x="71936" y="0"/>
                    <a:pt x="76200" y="0"/>
                    <a:pt x="76200" y="0"/>
                  </a:cubicBezTo>
                  <a:lnTo>
                    <a:pt x="76200" y="76200"/>
                  </a:lnTo>
                  <a:cubicBezTo>
                    <a:pt x="76200" y="76200"/>
                    <a:pt x="71936" y="76200"/>
                    <a:pt x="66675" y="76200"/>
                  </a:cubicBezTo>
                  <a:lnTo>
                    <a:pt x="9525" y="76200"/>
                  </a:lnTo>
                  <a:cubicBezTo>
                    <a:pt x="4264" y="76200"/>
                    <a:pt x="0" y="76200"/>
                    <a:pt x="0" y="76200"/>
                  </a:cubicBezTo>
                  <a:lnTo>
                    <a:pt x="0" y="0"/>
                  </a:lnTo>
                  <a:cubicBezTo>
                    <a:pt x="0" y="0"/>
                    <a:pt x="4264" y="0"/>
                    <a:pt x="9525" y="0"/>
                  </a:cubicBezTo>
                  <a:close/>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grpSp>
        <p:nvGrpSpPr>
          <p:cNvPr id="24" name="Group 23">
            <a:extLst>
              <a:ext uri="{FF2B5EF4-FFF2-40B4-BE49-F238E27FC236}">
                <a16:creationId xmlns:a16="http://schemas.microsoft.com/office/drawing/2014/main" id="{3F372A01-93E3-9E0E-97C9-6A5143670A5B}"/>
              </a:ext>
            </a:extLst>
          </p:cNvPr>
          <p:cNvGrpSpPr/>
          <p:nvPr/>
        </p:nvGrpSpPr>
        <p:grpSpPr>
          <a:xfrm>
            <a:off x="3659634" y="1675971"/>
            <a:ext cx="152400" cy="190500"/>
            <a:chOff x="2890702" y="3673315"/>
            <a:chExt cx="152400" cy="190500"/>
          </a:xfrm>
        </p:grpSpPr>
        <p:sp>
          <p:nvSpPr>
            <p:cNvPr id="25" name="Freeform 24">
              <a:extLst>
                <a:ext uri="{FF2B5EF4-FFF2-40B4-BE49-F238E27FC236}">
                  <a16:creationId xmlns:a16="http://schemas.microsoft.com/office/drawing/2014/main" id="{9C68DE61-37B5-A781-DA14-868EB3D4E570}"/>
                </a:ext>
              </a:extLst>
            </p:cNvPr>
            <p:cNvSpPr/>
            <p:nvPr/>
          </p:nvSpPr>
          <p:spPr>
            <a:xfrm>
              <a:off x="2890702" y="3673315"/>
              <a:ext cx="152400" cy="190500"/>
            </a:xfrm>
            <a:custGeom>
              <a:avLst/>
              <a:gdLst>
                <a:gd name="connsiteX0" fmla="*/ 0 w 152400"/>
                <a:gd name="connsiteY0" fmla="*/ 166688 h 190500"/>
                <a:gd name="connsiteX1" fmla="*/ 0 w 152400"/>
                <a:gd name="connsiteY1" fmla="*/ 23813 h 190500"/>
                <a:gd name="connsiteX2" fmla="*/ 23813 w 152400"/>
                <a:gd name="connsiteY2" fmla="*/ 0 h 190500"/>
                <a:gd name="connsiteX3" fmla="*/ 142875 w 152400"/>
                <a:gd name="connsiteY3" fmla="*/ 0 h 190500"/>
                <a:gd name="connsiteX4" fmla="*/ 152400 w 152400"/>
                <a:gd name="connsiteY4" fmla="*/ 9525 h 190500"/>
                <a:gd name="connsiteX5" fmla="*/ 152400 w 152400"/>
                <a:gd name="connsiteY5" fmla="*/ 180975 h 190500"/>
                <a:gd name="connsiteX6" fmla="*/ 142875 w 152400"/>
                <a:gd name="connsiteY6" fmla="*/ 190500 h 190500"/>
                <a:gd name="connsiteX7" fmla="*/ 23813 w 152400"/>
                <a:gd name="connsiteY7" fmla="*/ 190500 h 190500"/>
                <a:gd name="connsiteX8" fmla="*/ 0 w 152400"/>
                <a:gd name="connsiteY8" fmla="*/ 166688 h 190500"/>
                <a:gd name="connsiteX9" fmla="*/ 23813 w 152400"/>
                <a:gd name="connsiteY9" fmla="*/ 142875 h 190500"/>
                <a:gd name="connsiteX10" fmla="*/ 152400 w 152400"/>
                <a:gd name="connsiteY10" fmla="*/ 1428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400" h="190500">
                  <a:moveTo>
                    <a:pt x="0" y="166688"/>
                  </a:moveTo>
                  <a:lnTo>
                    <a:pt x="0" y="23813"/>
                  </a:lnTo>
                  <a:cubicBezTo>
                    <a:pt x="0" y="10661"/>
                    <a:pt x="10661" y="0"/>
                    <a:pt x="23813" y="0"/>
                  </a:cubicBezTo>
                  <a:lnTo>
                    <a:pt x="142875" y="0"/>
                  </a:lnTo>
                  <a:cubicBezTo>
                    <a:pt x="148136" y="0"/>
                    <a:pt x="152400" y="4265"/>
                    <a:pt x="152400" y="9525"/>
                  </a:cubicBezTo>
                  <a:lnTo>
                    <a:pt x="152400" y="180975"/>
                  </a:lnTo>
                  <a:cubicBezTo>
                    <a:pt x="152400" y="186236"/>
                    <a:pt x="148136" y="190500"/>
                    <a:pt x="142875" y="190500"/>
                  </a:cubicBezTo>
                  <a:lnTo>
                    <a:pt x="23813" y="190500"/>
                  </a:lnTo>
                  <a:cubicBezTo>
                    <a:pt x="10661" y="190500"/>
                    <a:pt x="0" y="179839"/>
                    <a:pt x="0" y="166688"/>
                  </a:cubicBezTo>
                  <a:cubicBezTo>
                    <a:pt x="0" y="153536"/>
                    <a:pt x="10661" y="142875"/>
                    <a:pt x="23813" y="142875"/>
                  </a:cubicBezTo>
                  <a:lnTo>
                    <a:pt x="152400" y="142875"/>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6" name="Freeform 25">
              <a:extLst>
                <a:ext uri="{FF2B5EF4-FFF2-40B4-BE49-F238E27FC236}">
                  <a16:creationId xmlns:a16="http://schemas.microsoft.com/office/drawing/2014/main" id="{1D631439-2152-1E4A-E4BE-CB7A52219BAA}"/>
                </a:ext>
              </a:extLst>
            </p:cNvPr>
            <p:cNvSpPr/>
            <p:nvPr/>
          </p:nvSpPr>
          <p:spPr>
            <a:xfrm>
              <a:off x="2938327" y="3725702"/>
              <a:ext cx="57150" cy="38100"/>
            </a:xfrm>
            <a:custGeom>
              <a:avLst/>
              <a:gdLst>
                <a:gd name="connsiteX0" fmla="*/ 0 w 57150"/>
                <a:gd name="connsiteY0" fmla="*/ 19050 h 38100"/>
                <a:gd name="connsiteX1" fmla="*/ 19050 w 57150"/>
                <a:gd name="connsiteY1" fmla="*/ 38100 h 38100"/>
                <a:gd name="connsiteX2" fmla="*/ 57150 w 57150"/>
                <a:gd name="connsiteY2" fmla="*/ 0 h 38100"/>
              </a:gdLst>
              <a:ahLst/>
              <a:cxnLst>
                <a:cxn ang="0">
                  <a:pos x="connsiteX0" y="connsiteY0"/>
                </a:cxn>
                <a:cxn ang="0">
                  <a:pos x="connsiteX1" y="connsiteY1"/>
                </a:cxn>
                <a:cxn ang="0">
                  <a:pos x="connsiteX2" y="connsiteY2"/>
                </a:cxn>
              </a:cxnLst>
              <a:rect l="l" t="t" r="r" b="b"/>
              <a:pathLst>
                <a:path w="57150" h="38100">
                  <a:moveTo>
                    <a:pt x="0" y="19050"/>
                  </a:moveTo>
                  <a:lnTo>
                    <a:pt x="19050" y="38100"/>
                  </a:lnTo>
                  <a:lnTo>
                    <a:pt x="5715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grpSp>
        <p:nvGrpSpPr>
          <p:cNvPr id="27" name="Group 26">
            <a:extLst>
              <a:ext uri="{FF2B5EF4-FFF2-40B4-BE49-F238E27FC236}">
                <a16:creationId xmlns:a16="http://schemas.microsoft.com/office/drawing/2014/main" id="{8B6BD9F0-C4F8-1B60-32F4-BBA9DE533155}"/>
              </a:ext>
            </a:extLst>
          </p:cNvPr>
          <p:cNvGrpSpPr/>
          <p:nvPr/>
        </p:nvGrpSpPr>
        <p:grpSpPr>
          <a:xfrm>
            <a:off x="9329019" y="1685496"/>
            <a:ext cx="142875" cy="171450"/>
            <a:chOff x="9731659" y="4302100"/>
            <a:chExt cx="142875" cy="171450"/>
          </a:xfrm>
        </p:grpSpPr>
        <p:sp>
          <p:nvSpPr>
            <p:cNvPr id="28" name="Freeform 27">
              <a:extLst>
                <a:ext uri="{FF2B5EF4-FFF2-40B4-BE49-F238E27FC236}">
                  <a16:creationId xmlns:a16="http://schemas.microsoft.com/office/drawing/2014/main" id="{E692E152-CA39-237B-14B4-F0BD1FC12499}"/>
                </a:ext>
              </a:extLst>
            </p:cNvPr>
            <p:cNvSpPr/>
            <p:nvPr/>
          </p:nvSpPr>
          <p:spPr>
            <a:xfrm>
              <a:off x="9731659" y="4416400"/>
              <a:ext cx="9525" cy="57150"/>
            </a:xfrm>
            <a:custGeom>
              <a:avLst/>
              <a:gdLst>
                <a:gd name="connsiteX0" fmla="*/ 0 w 9525"/>
                <a:gd name="connsiteY0" fmla="*/ 57150 h 57150"/>
                <a:gd name="connsiteX1" fmla="*/ 0 w 9525"/>
                <a:gd name="connsiteY1" fmla="*/ 0 h 57150"/>
              </a:gdLst>
              <a:ahLst/>
              <a:cxnLst>
                <a:cxn ang="0">
                  <a:pos x="connsiteX0" y="connsiteY0"/>
                </a:cxn>
                <a:cxn ang="0">
                  <a:pos x="connsiteX1" y="connsiteY1"/>
                </a:cxn>
              </a:cxnLst>
              <a:rect l="l" t="t" r="r" b="b"/>
              <a:pathLst>
                <a:path w="9525" h="57150">
                  <a:moveTo>
                    <a:pt x="0" y="57150"/>
                  </a:moveTo>
                  <a:lnTo>
                    <a:pt x="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2" name="Freeform 31">
              <a:extLst>
                <a:ext uri="{FF2B5EF4-FFF2-40B4-BE49-F238E27FC236}">
                  <a16:creationId xmlns:a16="http://schemas.microsoft.com/office/drawing/2014/main" id="{B3E27E0E-19D4-A0E7-2DF2-897E45BB48B2}"/>
                </a:ext>
              </a:extLst>
            </p:cNvPr>
            <p:cNvSpPr/>
            <p:nvPr/>
          </p:nvSpPr>
          <p:spPr>
            <a:xfrm>
              <a:off x="9798334" y="4359250"/>
              <a:ext cx="9525" cy="114300"/>
            </a:xfrm>
            <a:custGeom>
              <a:avLst/>
              <a:gdLst>
                <a:gd name="connsiteX0" fmla="*/ 0 w 9525"/>
                <a:gd name="connsiteY0" fmla="*/ 114300 h 114300"/>
                <a:gd name="connsiteX1" fmla="*/ 0 w 9525"/>
                <a:gd name="connsiteY1" fmla="*/ 0 h 114300"/>
              </a:gdLst>
              <a:ahLst/>
              <a:cxnLst>
                <a:cxn ang="0">
                  <a:pos x="connsiteX0" y="connsiteY0"/>
                </a:cxn>
                <a:cxn ang="0">
                  <a:pos x="connsiteX1" y="connsiteY1"/>
                </a:cxn>
              </a:cxnLst>
              <a:rect l="l" t="t" r="r" b="b"/>
              <a:pathLst>
                <a:path w="9525" h="114300">
                  <a:moveTo>
                    <a:pt x="0" y="114300"/>
                  </a:moveTo>
                  <a:lnTo>
                    <a:pt x="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3" name="Freeform 32">
              <a:extLst>
                <a:ext uri="{FF2B5EF4-FFF2-40B4-BE49-F238E27FC236}">
                  <a16:creationId xmlns:a16="http://schemas.microsoft.com/office/drawing/2014/main" id="{F4F87946-85AE-C552-B8D3-43E83CF8B7A4}"/>
                </a:ext>
              </a:extLst>
            </p:cNvPr>
            <p:cNvSpPr/>
            <p:nvPr/>
          </p:nvSpPr>
          <p:spPr>
            <a:xfrm>
              <a:off x="9865009" y="4302100"/>
              <a:ext cx="9525" cy="171450"/>
            </a:xfrm>
            <a:custGeom>
              <a:avLst/>
              <a:gdLst>
                <a:gd name="connsiteX0" fmla="*/ 0 w 9525"/>
                <a:gd name="connsiteY0" fmla="*/ 171450 h 171450"/>
                <a:gd name="connsiteX1" fmla="*/ 0 w 9525"/>
                <a:gd name="connsiteY1" fmla="*/ 0 h 171450"/>
              </a:gdLst>
              <a:ahLst/>
              <a:cxnLst>
                <a:cxn ang="0">
                  <a:pos x="connsiteX0" y="connsiteY0"/>
                </a:cxn>
                <a:cxn ang="0">
                  <a:pos x="connsiteX1" y="connsiteY1"/>
                </a:cxn>
              </a:cxnLst>
              <a:rect l="l" t="t" r="r" b="b"/>
              <a:pathLst>
                <a:path w="9525" h="171450">
                  <a:moveTo>
                    <a:pt x="0" y="171450"/>
                  </a:moveTo>
                  <a:lnTo>
                    <a:pt x="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sp>
        <p:nvSpPr>
          <p:cNvPr id="9" name="Rectangle: Rounded Corners 9">
            <a:extLst>
              <a:ext uri="{FF2B5EF4-FFF2-40B4-BE49-F238E27FC236}">
                <a16:creationId xmlns:a16="http://schemas.microsoft.com/office/drawing/2014/main" id="{0F8EB798-83AE-461D-3DE0-D49255CBB4C6}"/>
              </a:ext>
            </a:extLst>
          </p:cNvPr>
          <p:cNvSpPr/>
          <p:nvPr/>
        </p:nvSpPr>
        <p:spPr bwMode="auto">
          <a:xfrm>
            <a:off x="622830" y="3788496"/>
            <a:ext cx="663533" cy="663533"/>
          </a:xfrm>
          <a:prstGeom prst="roundRect">
            <a:avLst/>
          </a:prstGeom>
          <a:gradFill>
            <a:gsLst>
              <a:gs pos="0">
                <a:schemeClr val="accent1"/>
              </a:gs>
              <a:gs pos="100000">
                <a:schemeClr val="accent2"/>
              </a:gs>
            </a:gsLst>
            <a:lin ang="17400000" scaled="0"/>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Segoe UI" pitchFamily="34" charset="0"/>
              <a:cs typeface="Segoe UI" pitchFamily="34" charset="0"/>
            </a:endParaRPr>
          </a:p>
        </p:txBody>
      </p:sp>
      <p:grpSp>
        <p:nvGrpSpPr>
          <p:cNvPr id="10" name="Group 9">
            <a:extLst>
              <a:ext uri="{FF2B5EF4-FFF2-40B4-BE49-F238E27FC236}">
                <a16:creationId xmlns:a16="http://schemas.microsoft.com/office/drawing/2014/main" id="{F72F8033-0793-1E85-19FE-0141049A33A5}"/>
              </a:ext>
            </a:extLst>
          </p:cNvPr>
          <p:cNvGrpSpPr/>
          <p:nvPr/>
        </p:nvGrpSpPr>
        <p:grpSpPr>
          <a:xfrm>
            <a:off x="860307" y="4002345"/>
            <a:ext cx="152400" cy="190500"/>
            <a:chOff x="2890702" y="3673315"/>
            <a:chExt cx="152400" cy="190500"/>
          </a:xfrm>
        </p:grpSpPr>
        <p:sp>
          <p:nvSpPr>
            <p:cNvPr id="11" name="Freeform 24">
              <a:extLst>
                <a:ext uri="{FF2B5EF4-FFF2-40B4-BE49-F238E27FC236}">
                  <a16:creationId xmlns:a16="http://schemas.microsoft.com/office/drawing/2014/main" id="{B63050CA-33D1-56CC-AF4E-319D33FB4353}"/>
                </a:ext>
              </a:extLst>
            </p:cNvPr>
            <p:cNvSpPr/>
            <p:nvPr/>
          </p:nvSpPr>
          <p:spPr>
            <a:xfrm>
              <a:off x="2890702" y="3673315"/>
              <a:ext cx="152400" cy="190500"/>
            </a:xfrm>
            <a:custGeom>
              <a:avLst/>
              <a:gdLst>
                <a:gd name="connsiteX0" fmla="*/ 0 w 152400"/>
                <a:gd name="connsiteY0" fmla="*/ 166688 h 190500"/>
                <a:gd name="connsiteX1" fmla="*/ 0 w 152400"/>
                <a:gd name="connsiteY1" fmla="*/ 23813 h 190500"/>
                <a:gd name="connsiteX2" fmla="*/ 23813 w 152400"/>
                <a:gd name="connsiteY2" fmla="*/ 0 h 190500"/>
                <a:gd name="connsiteX3" fmla="*/ 142875 w 152400"/>
                <a:gd name="connsiteY3" fmla="*/ 0 h 190500"/>
                <a:gd name="connsiteX4" fmla="*/ 152400 w 152400"/>
                <a:gd name="connsiteY4" fmla="*/ 9525 h 190500"/>
                <a:gd name="connsiteX5" fmla="*/ 152400 w 152400"/>
                <a:gd name="connsiteY5" fmla="*/ 180975 h 190500"/>
                <a:gd name="connsiteX6" fmla="*/ 142875 w 152400"/>
                <a:gd name="connsiteY6" fmla="*/ 190500 h 190500"/>
                <a:gd name="connsiteX7" fmla="*/ 23813 w 152400"/>
                <a:gd name="connsiteY7" fmla="*/ 190500 h 190500"/>
                <a:gd name="connsiteX8" fmla="*/ 0 w 152400"/>
                <a:gd name="connsiteY8" fmla="*/ 166688 h 190500"/>
                <a:gd name="connsiteX9" fmla="*/ 23813 w 152400"/>
                <a:gd name="connsiteY9" fmla="*/ 142875 h 190500"/>
                <a:gd name="connsiteX10" fmla="*/ 152400 w 152400"/>
                <a:gd name="connsiteY10" fmla="*/ 1428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400" h="190500">
                  <a:moveTo>
                    <a:pt x="0" y="166688"/>
                  </a:moveTo>
                  <a:lnTo>
                    <a:pt x="0" y="23813"/>
                  </a:lnTo>
                  <a:cubicBezTo>
                    <a:pt x="0" y="10661"/>
                    <a:pt x="10661" y="0"/>
                    <a:pt x="23813" y="0"/>
                  </a:cubicBezTo>
                  <a:lnTo>
                    <a:pt x="142875" y="0"/>
                  </a:lnTo>
                  <a:cubicBezTo>
                    <a:pt x="148136" y="0"/>
                    <a:pt x="152400" y="4265"/>
                    <a:pt x="152400" y="9525"/>
                  </a:cubicBezTo>
                  <a:lnTo>
                    <a:pt x="152400" y="180975"/>
                  </a:lnTo>
                  <a:cubicBezTo>
                    <a:pt x="152400" y="186236"/>
                    <a:pt x="148136" y="190500"/>
                    <a:pt x="142875" y="190500"/>
                  </a:cubicBezTo>
                  <a:lnTo>
                    <a:pt x="23813" y="190500"/>
                  </a:lnTo>
                  <a:cubicBezTo>
                    <a:pt x="10661" y="190500"/>
                    <a:pt x="0" y="179839"/>
                    <a:pt x="0" y="166688"/>
                  </a:cubicBezTo>
                  <a:cubicBezTo>
                    <a:pt x="0" y="153536"/>
                    <a:pt x="10661" y="142875"/>
                    <a:pt x="23813" y="142875"/>
                  </a:cubicBezTo>
                  <a:lnTo>
                    <a:pt x="152400" y="142875"/>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2" name="Freeform 25">
              <a:extLst>
                <a:ext uri="{FF2B5EF4-FFF2-40B4-BE49-F238E27FC236}">
                  <a16:creationId xmlns:a16="http://schemas.microsoft.com/office/drawing/2014/main" id="{381FEEEA-13A7-A22B-1370-87BB1BE2990A}"/>
                </a:ext>
              </a:extLst>
            </p:cNvPr>
            <p:cNvSpPr/>
            <p:nvPr/>
          </p:nvSpPr>
          <p:spPr>
            <a:xfrm>
              <a:off x="2938327" y="3725702"/>
              <a:ext cx="57150" cy="38100"/>
            </a:xfrm>
            <a:custGeom>
              <a:avLst/>
              <a:gdLst>
                <a:gd name="connsiteX0" fmla="*/ 0 w 57150"/>
                <a:gd name="connsiteY0" fmla="*/ 19050 h 38100"/>
                <a:gd name="connsiteX1" fmla="*/ 19050 w 57150"/>
                <a:gd name="connsiteY1" fmla="*/ 38100 h 38100"/>
                <a:gd name="connsiteX2" fmla="*/ 57150 w 57150"/>
                <a:gd name="connsiteY2" fmla="*/ 0 h 38100"/>
              </a:gdLst>
              <a:ahLst/>
              <a:cxnLst>
                <a:cxn ang="0">
                  <a:pos x="connsiteX0" y="connsiteY0"/>
                </a:cxn>
                <a:cxn ang="0">
                  <a:pos x="connsiteX1" y="connsiteY1"/>
                </a:cxn>
                <a:cxn ang="0">
                  <a:pos x="connsiteX2" y="connsiteY2"/>
                </a:cxn>
              </a:cxnLst>
              <a:rect l="l" t="t" r="r" b="b"/>
              <a:pathLst>
                <a:path w="57150" h="38100">
                  <a:moveTo>
                    <a:pt x="0" y="19050"/>
                  </a:moveTo>
                  <a:lnTo>
                    <a:pt x="19050" y="38100"/>
                  </a:lnTo>
                  <a:lnTo>
                    <a:pt x="5715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sp>
        <p:nvSpPr>
          <p:cNvPr id="15" name="Rectangle: Rounded Corners 9">
            <a:extLst>
              <a:ext uri="{FF2B5EF4-FFF2-40B4-BE49-F238E27FC236}">
                <a16:creationId xmlns:a16="http://schemas.microsoft.com/office/drawing/2014/main" id="{2240FD4F-0DB6-3541-CAC5-9D76CBE12338}"/>
              </a:ext>
            </a:extLst>
          </p:cNvPr>
          <p:cNvSpPr/>
          <p:nvPr/>
        </p:nvSpPr>
        <p:spPr bwMode="auto">
          <a:xfrm>
            <a:off x="4578380" y="3775848"/>
            <a:ext cx="663533" cy="663533"/>
          </a:xfrm>
          <a:prstGeom prst="roundRect">
            <a:avLst/>
          </a:prstGeom>
          <a:gradFill>
            <a:gsLst>
              <a:gs pos="0">
                <a:schemeClr val="accent1"/>
              </a:gs>
              <a:gs pos="100000">
                <a:schemeClr val="accent2"/>
              </a:gs>
            </a:gsLst>
            <a:lin ang="17400000" scaled="0"/>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Segoe UI" pitchFamily="34" charset="0"/>
              <a:cs typeface="Segoe UI" pitchFamily="34" charset="0"/>
            </a:endParaRPr>
          </a:p>
        </p:txBody>
      </p:sp>
      <p:grpSp>
        <p:nvGrpSpPr>
          <p:cNvPr id="16" name="Group 15">
            <a:extLst>
              <a:ext uri="{FF2B5EF4-FFF2-40B4-BE49-F238E27FC236}">
                <a16:creationId xmlns:a16="http://schemas.microsoft.com/office/drawing/2014/main" id="{AB95500C-5557-2EA8-766C-F23265D6D362}"/>
              </a:ext>
            </a:extLst>
          </p:cNvPr>
          <p:cNvGrpSpPr/>
          <p:nvPr/>
        </p:nvGrpSpPr>
        <p:grpSpPr>
          <a:xfrm>
            <a:off x="3671385" y="3888085"/>
            <a:ext cx="190568" cy="190493"/>
            <a:chOff x="6856544" y="3054095"/>
            <a:chExt cx="190568" cy="190493"/>
          </a:xfrm>
        </p:grpSpPr>
        <p:sp>
          <p:nvSpPr>
            <p:cNvPr id="17" name="Freeform 18">
              <a:extLst>
                <a:ext uri="{FF2B5EF4-FFF2-40B4-BE49-F238E27FC236}">
                  <a16:creationId xmlns:a16="http://schemas.microsoft.com/office/drawing/2014/main" id="{63EFBA0D-4846-9989-8943-6DD57D555F40}"/>
                </a:ext>
              </a:extLst>
            </p:cNvPr>
            <p:cNvSpPr/>
            <p:nvPr/>
          </p:nvSpPr>
          <p:spPr>
            <a:xfrm>
              <a:off x="6856544" y="3054095"/>
              <a:ext cx="190568" cy="190493"/>
            </a:xfrm>
            <a:custGeom>
              <a:avLst/>
              <a:gdLst>
                <a:gd name="connsiteX0" fmla="*/ 17730 w 190568"/>
                <a:gd name="connsiteY0" fmla="*/ 63015 h 190493"/>
                <a:gd name="connsiteX1" fmla="*/ 46668 w 190568"/>
                <a:gd name="connsiteY1" fmla="*/ 17563 h 190493"/>
                <a:gd name="connsiteX2" fmla="*/ 63260 w 190568"/>
                <a:gd name="connsiteY2" fmla="*/ 17580 h 190493"/>
                <a:gd name="connsiteX3" fmla="*/ 115884 w 190568"/>
                <a:gd name="connsiteY3" fmla="*/ 6006 h 190493"/>
                <a:gd name="connsiteX4" fmla="*/ 127458 w 190568"/>
                <a:gd name="connsiteY4" fmla="*/ 17580 h 190493"/>
                <a:gd name="connsiteX5" fmla="*/ 172988 w 190568"/>
                <a:gd name="connsiteY5" fmla="*/ 46395 h 190493"/>
                <a:gd name="connsiteX6" fmla="*/ 172988 w 190568"/>
                <a:gd name="connsiteY6" fmla="*/ 63110 h 190493"/>
                <a:gd name="connsiteX7" fmla="*/ 184563 w 190568"/>
                <a:gd name="connsiteY7" fmla="*/ 115734 h 190493"/>
                <a:gd name="connsiteX8" fmla="*/ 172988 w 190568"/>
                <a:gd name="connsiteY8" fmla="*/ 127308 h 190493"/>
                <a:gd name="connsiteX9" fmla="*/ 144146 w 190568"/>
                <a:gd name="connsiteY9" fmla="*/ 172821 h 190493"/>
                <a:gd name="connsiteX10" fmla="*/ 127554 w 190568"/>
                <a:gd name="connsiteY10" fmla="*/ 172838 h 190493"/>
                <a:gd name="connsiteX11" fmla="*/ 74957 w 190568"/>
                <a:gd name="connsiteY11" fmla="*/ 184536 h 190493"/>
                <a:gd name="connsiteX12" fmla="*/ 63260 w 190568"/>
                <a:gd name="connsiteY12" fmla="*/ 172838 h 190493"/>
                <a:gd name="connsiteX13" fmla="*/ 17748 w 190568"/>
                <a:gd name="connsiteY13" fmla="*/ 143996 h 190493"/>
                <a:gd name="connsiteX14" fmla="*/ 17730 w 190568"/>
                <a:gd name="connsiteY14" fmla="*/ 127404 h 190493"/>
                <a:gd name="connsiteX15" fmla="*/ 5910 w 190568"/>
                <a:gd name="connsiteY15" fmla="*/ 74835 h 190493"/>
                <a:gd name="connsiteX16" fmla="*/ 17730 w 190568"/>
                <a:gd name="connsiteY16" fmla="*/ 63015 h 19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68" h="190493">
                  <a:moveTo>
                    <a:pt x="17730" y="63015"/>
                  </a:moveTo>
                  <a:cubicBezTo>
                    <a:pt x="13170" y="42473"/>
                    <a:pt x="26126" y="22123"/>
                    <a:pt x="46668" y="17563"/>
                  </a:cubicBezTo>
                  <a:cubicBezTo>
                    <a:pt x="52133" y="16350"/>
                    <a:pt x="57798" y="16356"/>
                    <a:pt x="63260" y="17580"/>
                  </a:cubicBezTo>
                  <a:cubicBezTo>
                    <a:pt x="74595" y="-148"/>
                    <a:pt x="98156" y="-5330"/>
                    <a:pt x="115884" y="6006"/>
                  </a:cubicBezTo>
                  <a:cubicBezTo>
                    <a:pt x="120535" y="8980"/>
                    <a:pt x="124485" y="12929"/>
                    <a:pt x="127458" y="17580"/>
                  </a:cubicBezTo>
                  <a:cubicBezTo>
                    <a:pt x="147988" y="12965"/>
                    <a:pt x="168372" y="25866"/>
                    <a:pt x="172988" y="46395"/>
                  </a:cubicBezTo>
                  <a:cubicBezTo>
                    <a:pt x="174225" y="51898"/>
                    <a:pt x="174225" y="57607"/>
                    <a:pt x="172988" y="63110"/>
                  </a:cubicBezTo>
                  <a:cubicBezTo>
                    <a:pt x="190716" y="74445"/>
                    <a:pt x="195898" y="98006"/>
                    <a:pt x="184563" y="115734"/>
                  </a:cubicBezTo>
                  <a:cubicBezTo>
                    <a:pt x="181589" y="120385"/>
                    <a:pt x="177639" y="124335"/>
                    <a:pt x="172988" y="127308"/>
                  </a:cubicBezTo>
                  <a:cubicBezTo>
                    <a:pt x="177591" y="147840"/>
                    <a:pt x="164678" y="168217"/>
                    <a:pt x="144146" y="172821"/>
                  </a:cubicBezTo>
                  <a:cubicBezTo>
                    <a:pt x="138684" y="174045"/>
                    <a:pt x="133018" y="174051"/>
                    <a:pt x="127554" y="172838"/>
                  </a:cubicBezTo>
                  <a:cubicBezTo>
                    <a:pt x="116260" y="190592"/>
                    <a:pt x="92711" y="195829"/>
                    <a:pt x="74957" y="184536"/>
                  </a:cubicBezTo>
                  <a:cubicBezTo>
                    <a:pt x="70248" y="181540"/>
                    <a:pt x="66255" y="177547"/>
                    <a:pt x="63260" y="172838"/>
                  </a:cubicBezTo>
                  <a:cubicBezTo>
                    <a:pt x="42727" y="177441"/>
                    <a:pt x="22351" y="164528"/>
                    <a:pt x="17748" y="143996"/>
                  </a:cubicBezTo>
                  <a:cubicBezTo>
                    <a:pt x="16523" y="138534"/>
                    <a:pt x="16517" y="132868"/>
                    <a:pt x="17730" y="127404"/>
                  </a:cubicBezTo>
                  <a:cubicBezTo>
                    <a:pt x="-50" y="116151"/>
                    <a:pt x="-5342" y="92615"/>
                    <a:pt x="5910" y="74835"/>
                  </a:cubicBezTo>
                  <a:cubicBezTo>
                    <a:pt x="8927" y="70068"/>
                    <a:pt x="12964" y="66031"/>
                    <a:pt x="17730" y="63015"/>
                  </a:cubicBezTo>
                  <a:close/>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0" name="Freeform 19">
              <a:extLst>
                <a:ext uri="{FF2B5EF4-FFF2-40B4-BE49-F238E27FC236}">
                  <a16:creationId xmlns:a16="http://schemas.microsoft.com/office/drawing/2014/main" id="{95A2F1D1-3E01-1548-A84E-CA29D02FC780}"/>
                </a:ext>
              </a:extLst>
            </p:cNvPr>
            <p:cNvSpPr/>
            <p:nvPr/>
          </p:nvSpPr>
          <p:spPr>
            <a:xfrm>
              <a:off x="6923329" y="3130255"/>
              <a:ext cx="57150" cy="38100"/>
            </a:xfrm>
            <a:custGeom>
              <a:avLst/>
              <a:gdLst>
                <a:gd name="connsiteX0" fmla="*/ 0 w 57150"/>
                <a:gd name="connsiteY0" fmla="*/ 19050 h 38100"/>
                <a:gd name="connsiteX1" fmla="*/ 19050 w 57150"/>
                <a:gd name="connsiteY1" fmla="*/ 38100 h 38100"/>
                <a:gd name="connsiteX2" fmla="*/ 57150 w 57150"/>
                <a:gd name="connsiteY2" fmla="*/ 0 h 38100"/>
              </a:gdLst>
              <a:ahLst/>
              <a:cxnLst>
                <a:cxn ang="0">
                  <a:pos x="connsiteX0" y="connsiteY0"/>
                </a:cxn>
                <a:cxn ang="0">
                  <a:pos x="connsiteX1" y="connsiteY1"/>
                </a:cxn>
                <a:cxn ang="0">
                  <a:pos x="connsiteX2" y="connsiteY2"/>
                </a:cxn>
              </a:cxnLst>
              <a:rect l="l" t="t" r="r" b="b"/>
              <a:pathLst>
                <a:path w="57150" h="38100">
                  <a:moveTo>
                    <a:pt x="0" y="19050"/>
                  </a:moveTo>
                  <a:lnTo>
                    <a:pt x="19050" y="38100"/>
                  </a:lnTo>
                  <a:lnTo>
                    <a:pt x="5715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sp>
        <p:nvSpPr>
          <p:cNvPr id="35" name="TextBox 34">
            <a:extLst>
              <a:ext uri="{FF2B5EF4-FFF2-40B4-BE49-F238E27FC236}">
                <a16:creationId xmlns:a16="http://schemas.microsoft.com/office/drawing/2014/main" id="{2ED8192D-A295-268F-EABC-1BFB49BFD378}"/>
              </a:ext>
            </a:extLst>
          </p:cNvPr>
          <p:cNvSpPr txBox="1"/>
          <p:nvPr/>
        </p:nvSpPr>
        <p:spPr>
          <a:xfrm>
            <a:off x="469142" y="4827614"/>
            <a:ext cx="3595536" cy="246221"/>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n-ea"/>
                <a:cs typeface="+mn-cs"/>
              </a:rPr>
              <a:t>5. Enforced access and security</a:t>
            </a:r>
          </a:p>
        </p:txBody>
      </p:sp>
      <p:sp>
        <p:nvSpPr>
          <p:cNvPr id="37" name="TextBox 36">
            <a:extLst>
              <a:ext uri="{FF2B5EF4-FFF2-40B4-BE49-F238E27FC236}">
                <a16:creationId xmlns:a16="http://schemas.microsoft.com/office/drawing/2014/main" id="{8D4FC5F2-E5ED-08B5-B716-E08631A6089E}"/>
              </a:ext>
            </a:extLst>
          </p:cNvPr>
          <p:cNvSpPr txBox="1"/>
          <p:nvPr/>
        </p:nvSpPr>
        <p:spPr>
          <a:xfrm>
            <a:off x="4659983" y="4722322"/>
            <a:ext cx="3589957" cy="246221"/>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n-ea"/>
                <a:cs typeface="+mn-cs"/>
              </a:rPr>
              <a:t>6. Failure and approval behavior</a:t>
            </a:r>
          </a:p>
        </p:txBody>
      </p:sp>
      <p:sp>
        <p:nvSpPr>
          <p:cNvPr id="39" name="TextBox 38">
            <a:extLst>
              <a:ext uri="{FF2B5EF4-FFF2-40B4-BE49-F238E27FC236}">
                <a16:creationId xmlns:a16="http://schemas.microsoft.com/office/drawing/2014/main" id="{635E9E27-DE13-BB5E-98C5-BE0DCBEEBD67}"/>
              </a:ext>
            </a:extLst>
          </p:cNvPr>
          <p:cNvSpPr txBox="1"/>
          <p:nvPr/>
        </p:nvSpPr>
        <p:spPr>
          <a:xfrm>
            <a:off x="469142" y="5182029"/>
            <a:ext cx="2382821" cy="514693"/>
          </a:xfrm>
          <a:prstGeom prst="rect">
            <a:avLst/>
          </a:prstGeom>
          <a:noFill/>
        </p:spPr>
        <p:txBody>
          <a:bodyPr wrap="square" lIns="0" rIns="0" rtlCol="0">
            <a:spAutoFit/>
          </a:bodyPr>
          <a:lstStyle/>
          <a:p>
            <a:pPr marL="0" marR="0" lvl="0" indent="0" algn="l" defTabSz="914367"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rPr>
              <a:t>Follow least privilege and define permissions (read, write, execute)</a:t>
            </a:r>
          </a:p>
        </p:txBody>
      </p:sp>
      <p:sp>
        <p:nvSpPr>
          <p:cNvPr id="41" name="TextBox 40">
            <a:extLst>
              <a:ext uri="{FF2B5EF4-FFF2-40B4-BE49-F238E27FC236}">
                <a16:creationId xmlns:a16="http://schemas.microsoft.com/office/drawing/2014/main" id="{68A004DB-2C97-570C-7181-B1D02D34600D}"/>
              </a:ext>
            </a:extLst>
          </p:cNvPr>
          <p:cNvSpPr txBox="1"/>
          <p:nvPr/>
        </p:nvSpPr>
        <p:spPr>
          <a:xfrm>
            <a:off x="4659983" y="5198493"/>
            <a:ext cx="2551112" cy="514693"/>
          </a:xfrm>
          <a:prstGeom prst="rect">
            <a:avLst/>
          </a:prstGeom>
          <a:noFill/>
        </p:spPr>
        <p:txBody>
          <a:bodyPr wrap="square" lIns="0" rIns="0" rtlCol="0">
            <a:spAutoFit/>
          </a:bodyPr>
          <a:lstStyle/>
          <a:p>
            <a:pPr marL="0" marR="0" lvl="0" indent="0" algn="l" defTabSz="914367"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rPr>
              <a:t>Have the agent request more permissions before executing. Require human oversight.</a:t>
            </a:r>
          </a:p>
        </p:txBody>
      </p:sp>
      <p:cxnSp>
        <p:nvCxnSpPr>
          <p:cNvPr id="42" name="Straight Arrow Connector 41">
            <a:extLst>
              <a:ext uri="{FF2B5EF4-FFF2-40B4-BE49-F238E27FC236}">
                <a16:creationId xmlns:a16="http://schemas.microsoft.com/office/drawing/2014/main" id="{035E04AE-EEE1-2464-18FD-F2B487B1B604}"/>
              </a:ext>
            </a:extLst>
          </p:cNvPr>
          <p:cNvCxnSpPr>
            <a:cxnSpLocks/>
          </p:cNvCxnSpPr>
          <p:nvPr/>
        </p:nvCxnSpPr>
        <p:spPr>
          <a:xfrm>
            <a:off x="1595503" y="3980294"/>
            <a:ext cx="2855094" cy="28492"/>
          </a:xfrm>
          <a:prstGeom prst="straightConnector1">
            <a:avLst/>
          </a:prstGeom>
          <a:ln>
            <a:gradFill flip="none" rotWithShape="1">
              <a:gsLst>
                <a:gs pos="0">
                  <a:schemeClr val="accent1"/>
                </a:gs>
                <a:gs pos="100000">
                  <a:schemeClr val="accent2"/>
                </a:gs>
              </a:gsLst>
              <a:lin ang="0" scaled="1"/>
              <a:tileRect/>
            </a:gradFill>
            <a:headEnd type="oval" w="med" len="med"/>
            <a:tailEnd type="triangle"/>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534CA715-114D-AC96-B8C0-B7D8BCA484F2}"/>
              </a:ext>
            </a:extLst>
          </p:cNvPr>
          <p:cNvGrpSpPr/>
          <p:nvPr/>
        </p:nvGrpSpPr>
        <p:grpSpPr>
          <a:xfrm>
            <a:off x="4833946" y="3913536"/>
            <a:ext cx="152400" cy="190500"/>
            <a:chOff x="2890702" y="3673315"/>
            <a:chExt cx="152400" cy="190500"/>
          </a:xfrm>
        </p:grpSpPr>
        <p:sp>
          <p:nvSpPr>
            <p:cNvPr id="44" name="Freeform 24">
              <a:extLst>
                <a:ext uri="{FF2B5EF4-FFF2-40B4-BE49-F238E27FC236}">
                  <a16:creationId xmlns:a16="http://schemas.microsoft.com/office/drawing/2014/main" id="{F3F1E990-CEBA-C9A4-69B0-D020B3F90A43}"/>
                </a:ext>
              </a:extLst>
            </p:cNvPr>
            <p:cNvSpPr/>
            <p:nvPr/>
          </p:nvSpPr>
          <p:spPr>
            <a:xfrm>
              <a:off x="2890702" y="3673315"/>
              <a:ext cx="152400" cy="190500"/>
            </a:xfrm>
            <a:custGeom>
              <a:avLst/>
              <a:gdLst>
                <a:gd name="connsiteX0" fmla="*/ 0 w 152400"/>
                <a:gd name="connsiteY0" fmla="*/ 166688 h 190500"/>
                <a:gd name="connsiteX1" fmla="*/ 0 w 152400"/>
                <a:gd name="connsiteY1" fmla="*/ 23813 h 190500"/>
                <a:gd name="connsiteX2" fmla="*/ 23813 w 152400"/>
                <a:gd name="connsiteY2" fmla="*/ 0 h 190500"/>
                <a:gd name="connsiteX3" fmla="*/ 142875 w 152400"/>
                <a:gd name="connsiteY3" fmla="*/ 0 h 190500"/>
                <a:gd name="connsiteX4" fmla="*/ 152400 w 152400"/>
                <a:gd name="connsiteY4" fmla="*/ 9525 h 190500"/>
                <a:gd name="connsiteX5" fmla="*/ 152400 w 152400"/>
                <a:gd name="connsiteY5" fmla="*/ 180975 h 190500"/>
                <a:gd name="connsiteX6" fmla="*/ 142875 w 152400"/>
                <a:gd name="connsiteY6" fmla="*/ 190500 h 190500"/>
                <a:gd name="connsiteX7" fmla="*/ 23813 w 152400"/>
                <a:gd name="connsiteY7" fmla="*/ 190500 h 190500"/>
                <a:gd name="connsiteX8" fmla="*/ 0 w 152400"/>
                <a:gd name="connsiteY8" fmla="*/ 166688 h 190500"/>
                <a:gd name="connsiteX9" fmla="*/ 23813 w 152400"/>
                <a:gd name="connsiteY9" fmla="*/ 142875 h 190500"/>
                <a:gd name="connsiteX10" fmla="*/ 152400 w 152400"/>
                <a:gd name="connsiteY10" fmla="*/ 1428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400" h="190500">
                  <a:moveTo>
                    <a:pt x="0" y="166688"/>
                  </a:moveTo>
                  <a:lnTo>
                    <a:pt x="0" y="23813"/>
                  </a:lnTo>
                  <a:cubicBezTo>
                    <a:pt x="0" y="10661"/>
                    <a:pt x="10661" y="0"/>
                    <a:pt x="23813" y="0"/>
                  </a:cubicBezTo>
                  <a:lnTo>
                    <a:pt x="142875" y="0"/>
                  </a:lnTo>
                  <a:cubicBezTo>
                    <a:pt x="148136" y="0"/>
                    <a:pt x="152400" y="4265"/>
                    <a:pt x="152400" y="9525"/>
                  </a:cubicBezTo>
                  <a:lnTo>
                    <a:pt x="152400" y="180975"/>
                  </a:lnTo>
                  <a:cubicBezTo>
                    <a:pt x="152400" y="186236"/>
                    <a:pt x="148136" y="190500"/>
                    <a:pt x="142875" y="190500"/>
                  </a:cubicBezTo>
                  <a:lnTo>
                    <a:pt x="23813" y="190500"/>
                  </a:lnTo>
                  <a:cubicBezTo>
                    <a:pt x="10661" y="190500"/>
                    <a:pt x="0" y="179839"/>
                    <a:pt x="0" y="166688"/>
                  </a:cubicBezTo>
                  <a:cubicBezTo>
                    <a:pt x="0" y="153536"/>
                    <a:pt x="10661" y="142875"/>
                    <a:pt x="23813" y="142875"/>
                  </a:cubicBezTo>
                  <a:lnTo>
                    <a:pt x="152400" y="142875"/>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5" name="Freeform 25">
              <a:extLst>
                <a:ext uri="{FF2B5EF4-FFF2-40B4-BE49-F238E27FC236}">
                  <a16:creationId xmlns:a16="http://schemas.microsoft.com/office/drawing/2014/main" id="{FE52714E-38AC-A24C-20C1-3BF25B5CF5D8}"/>
                </a:ext>
              </a:extLst>
            </p:cNvPr>
            <p:cNvSpPr/>
            <p:nvPr/>
          </p:nvSpPr>
          <p:spPr>
            <a:xfrm>
              <a:off x="2938327" y="3725702"/>
              <a:ext cx="57150" cy="38100"/>
            </a:xfrm>
            <a:custGeom>
              <a:avLst/>
              <a:gdLst>
                <a:gd name="connsiteX0" fmla="*/ 0 w 57150"/>
                <a:gd name="connsiteY0" fmla="*/ 19050 h 38100"/>
                <a:gd name="connsiteX1" fmla="*/ 19050 w 57150"/>
                <a:gd name="connsiteY1" fmla="*/ 38100 h 38100"/>
                <a:gd name="connsiteX2" fmla="*/ 57150 w 57150"/>
                <a:gd name="connsiteY2" fmla="*/ 0 h 38100"/>
              </a:gdLst>
              <a:ahLst/>
              <a:cxnLst>
                <a:cxn ang="0">
                  <a:pos x="connsiteX0" y="connsiteY0"/>
                </a:cxn>
                <a:cxn ang="0">
                  <a:pos x="connsiteX1" y="connsiteY1"/>
                </a:cxn>
                <a:cxn ang="0">
                  <a:pos x="connsiteX2" y="connsiteY2"/>
                </a:cxn>
              </a:cxnLst>
              <a:rect l="l" t="t" r="r" b="b"/>
              <a:pathLst>
                <a:path w="57150" h="38100">
                  <a:moveTo>
                    <a:pt x="0" y="19050"/>
                  </a:moveTo>
                  <a:lnTo>
                    <a:pt x="19050" y="38100"/>
                  </a:lnTo>
                  <a:lnTo>
                    <a:pt x="5715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spTree>
    <p:extLst>
      <p:ext uri="{BB962C8B-B14F-4D97-AF65-F5344CB8AC3E}">
        <p14:creationId xmlns:p14="http://schemas.microsoft.com/office/powerpoint/2010/main" val="1198039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667512"/>
            <a:ext cx="1074420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a:ln>
                  <a:noFill/>
                </a:ln>
                <a:solidFill>
                  <a:srgbClr val="F8FFFD"/>
                </a:solidFill>
                <a:effectLst/>
                <a:uLnTx/>
                <a:uFillTx/>
                <a:latin typeface="Aptos"/>
                <a:ea typeface="+mn-ea"/>
                <a:cs typeface="+mn-cs"/>
              </a:rPr>
              <a:t>Best practice #1: Start with domain expertis</a:t>
            </a:r>
            <a:r>
              <a:rPr kumimoji="0" lang="en-US" sz="2800" b="1" i="0" u="none" strike="noStrike" kern="1200" cap="none" spc="0" normalizeH="0" baseline="0" noProof="0" dirty="0">
                <a:ln>
                  <a:noFill/>
                </a:ln>
                <a:solidFill>
                  <a:srgbClr val="F8FFFD"/>
                </a:solidFill>
                <a:effectLst/>
                <a:uLnTx/>
                <a:uFillTx/>
                <a:latin typeface="Aptos"/>
                <a:ea typeface="+mn-ea"/>
                <a:cs typeface="+mn-cs"/>
              </a:rPr>
              <a:t>e</a:t>
            </a:r>
            <a:endParaRPr kumimoji="0" sz="2800" b="1" i="0" u="none" strike="noStrike" kern="1200" cap="none" spc="0" normalizeH="0" baseline="0" noProof="0" dirty="0">
              <a:ln>
                <a:noFill/>
              </a:ln>
              <a:solidFill>
                <a:srgbClr val="F8FFFD"/>
              </a:solidFill>
              <a:effectLst/>
              <a:uLnTx/>
              <a:uFillTx/>
              <a:latin typeface="Aptos"/>
              <a:ea typeface="+mn-ea"/>
              <a:cs typeface="+mn-cs"/>
            </a:endParaRPr>
          </a:p>
        </p:txBody>
      </p:sp>
      <p:sp>
        <p:nvSpPr>
          <p:cNvPr id="4" name="TextBox 3"/>
          <p:cNvSpPr txBox="1"/>
          <p:nvPr/>
        </p:nvSpPr>
        <p:spPr>
          <a:xfrm>
            <a:off x="11091672" y="6473952"/>
            <a:ext cx="438912" cy="164592"/>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576276"/>
                </a:solidFill>
                <a:effectLst/>
                <a:uLnTx/>
                <a:uFillTx/>
                <a:latin typeface="Aptos"/>
                <a:ea typeface="+mn-ea"/>
                <a:cs typeface="+mn-cs"/>
              </a:rPr>
              <a:t>09</a:t>
            </a:r>
          </a:p>
        </p:txBody>
      </p:sp>
      <p:sp>
        <p:nvSpPr>
          <p:cNvPr id="5" name="TextBox 4"/>
          <p:cNvSpPr txBox="1"/>
          <p:nvPr/>
        </p:nvSpPr>
        <p:spPr>
          <a:xfrm>
            <a:off x="749808" y="1481328"/>
            <a:ext cx="4709160" cy="70788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F8FFFD"/>
                </a:solidFill>
                <a:effectLst/>
                <a:uLnTx/>
                <a:uFillTx/>
                <a:latin typeface="Aptos"/>
                <a:ea typeface="+mn-ea"/>
                <a:cs typeface="+mn-cs"/>
              </a:rPr>
              <a:t>Convert successful prompts into skills. This should become a habit.</a:t>
            </a:r>
            <a:endParaRPr kumimoji="0" sz="2300" b="1" i="0" u="none" strike="noStrike" kern="1200" cap="none" spc="0" normalizeH="0" baseline="0" noProof="0" dirty="0">
              <a:ln>
                <a:noFill/>
              </a:ln>
              <a:solidFill>
                <a:srgbClr val="F8FFFD"/>
              </a:solidFill>
              <a:effectLst/>
              <a:uLnTx/>
              <a:uFillTx/>
              <a:latin typeface="Aptos"/>
              <a:ea typeface="+mn-ea"/>
              <a:cs typeface="+mn-cs"/>
            </a:endParaRPr>
          </a:p>
        </p:txBody>
      </p:sp>
      <p:sp>
        <p:nvSpPr>
          <p:cNvPr id="6" name="TextBox 5"/>
          <p:cNvSpPr txBox="1"/>
          <p:nvPr/>
        </p:nvSpPr>
        <p:spPr>
          <a:xfrm>
            <a:off x="6080760" y="1481328"/>
            <a:ext cx="2011680" cy="21031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D73F4A"/>
                </a:solidFill>
                <a:effectLst/>
                <a:uLnTx/>
                <a:uFillTx/>
                <a:latin typeface="Aptos"/>
                <a:ea typeface="+mn-ea"/>
                <a:cs typeface="+mn-cs"/>
              </a:rPr>
              <a:t>TOO BROAD</a:t>
            </a:r>
          </a:p>
        </p:txBody>
      </p:sp>
      <p:sp>
        <p:nvSpPr>
          <p:cNvPr id="7" name="Rectangle 6"/>
          <p:cNvSpPr/>
          <p:nvPr/>
        </p:nvSpPr>
        <p:spPr>
          <a:xfrm>
            <a:off x="6080760" y="1847088"/>
            <a:ext cx="4983480" cy="868680"/>
          </a:xfrm>
          <a:prstGeom prst="rect">
            <a:avLst/>
          </a:prstGeom>
          <a:solidFill>
            <a:srgbClr val="FCEDF5"/>
          </a:solidFill>
          <a:ln>
            <a:solidFill>
              <a:srgbClr val="D73F4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8" name="TextBox 7"/>
          <p:cNvSpPr txBox="1"/>
          <p:nvPr/>
        </p:nvSpPr>
        <p:spPr>
          <a:xfrm>
            <a:off x="6327648" y="2103120"/>
            <a:ext cx="4480560" cy="402336"/>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0D162B"/>
                </a:solidFill>
                <a:effectLst/>
                <a:uLnTx/>
                <a:uFillTx/>
                <a:latin typeface="Aptos"/>
                <a:ea typeface="+mn-ea"/>
                <a:cs typeface="+mn-cs"/>
              </a:rPr>
              <a:t>“Review this repository for security problems.”</a:t>
            </a:r>
          </a:p>
        </p:txBody>
      </p:sp>
      <p:sp>
        <p:nvSpPr>
          <p:cNvPr id="9" name="TextBox 8"/>
          <p:cNvSpPr txBox="1"/>
          <p:nvPr/>
        </p:nvSpPr>
        <p:spPr>
          <a:xfrm>
            <a:off x="6080760" y="3035808"/>
            <a:ext cx="2194560" cy="21031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AA80"/>
                </a:solidFill>
                <a:effectLst/>
                <a:uLnTx/>
                <a:uFillTx/>
                <a:latin typeface="Aptos"/>
                <a:ea typeface="+mn-ea"/>
                <a:cs typeface="+mn-cs"/>
              </a:rPr>
              <a:t>EXPERT-DEFINED</a:t>
            </a:r>
          </a:p>
        </p:txBody>
      </p:sp>
      <p:sp>
        <p:nvSpPr>
          <p:cNvPr id="10" name="Rectangle 9"/>
          <p:cNvSpPr/>
          <p:nvPr/>
        </p:nvSpPr>
        <p:spPr>
          <a:xfrm>
            <a:off x="6080760" y="3401568"/>
            <a:ext cx="4983480" cy="1417320"/>
          </a:xfrm>
          <a:prstGeom prst="rect">
            <a:avLst/>
          </a:prstGeom>
          <a:solidFill>
            <a:srgbClr val="E8F7F1"/>
          </a:solidFill>
          <a:ln>
            <a:solidFill>
              <a:srgbClr val="00AA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TextBox 10"/>
          <p:cNvSpPr txBox="1"/>
          <p:nvPr/>
        </p:nvSpPr>
        <p:spPr>
          <a:xfrm>
            <a:off x="6355080" y="3657600"/>
            <a:ext cx="4425696" cy="100027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dirty="0">
                <a:ln>
                  <a:noFill/>
                </a:ln>
                <a:solidFill>
                  <a:srgbClr val="0D162B"/>
                </a:solidFill>
                <a:effectLst/>
                <a:uLnTx/>
                <a:uFillTx/>
                <a:latin typeface="Aptos"/>
                <a:ea typeface="+mn-ea"/>
                <a:cs typeface="+mn-cs"/>
              </a:rPr>
              <a:t>Review this defined change set using the approved methodology and resources. Report evidence-based, exploitable findings. Ask before expanding scope or taking action.</a:t>
            </a:r>
            <a:r>
              <a:rPr kumimoji="0" lang="en-US" sz="1300" b="1" i="0" u="none" strike="noStrike" kern="1200" cap="none" spc="0" normalizeH="0" baseline="0" noProof="0" dirty="0">
                <a:ln>
                  <a:noFill/>
                </a:ln>
                <a:solidFill>
                  <a:srgbClr val="0D162B"/>
                </a:solidFill>
                <a:effectLst/>
                <a:uLnTx/>
                <a:uFillTx/>
                <a:latin typeface="Aptos"/>
                <a:ea typeface="+mn-ea"/>
                <a:cs typeface="+mn-cs"/>
              </a:rPr>
              <a:t> Use my internal SFI standards guidance as a baseline. Generate my specific report format at the end.</a:t>
            </a:r>
            <a:endParaRPr kumimoji="0" sz="1300" b="1" i="0" u="none" strike="noStrike" kern="1200" cap="none" spc="0" normalizeH="0" baseline="0" noProof="0" dirty="0">
              <a:ln>
                <a:noFill/>
              </a:ln>
              <a:solidFill>
                <a:srgbClr val="0D162B"/>
              </a:solidFill>
              <a:effectLst/>
              <a:uLnTx/>
              <a:uFillTx/>
              <a:latin typeface="Aptos"/>
              <a:ea typeface="+mn-ea"/>
              <a:cs typeface="+mn-cs"/>
            </a:endParaRPr>
          </a:p>
        </p:txBody>
      </p:sp>
      <p:sp>
        <p:nvSpPr>
          <p:cNvPr id="12" name="TextBox 11"/>
          <p:cNvSpPr txBox="1"/>
          <p:nvPr/>
        </p:nvSpPr>
        <p:spPr>
          <a:xfrm>
            <a:off x="749808" y="2788920"/>
            <a:ext cx="4023360" cy="31089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00B1D9"/>
                </a:solidFill>
                <a:effectLst/>
                <a:uLnTx/>
                <a:uFillTx/>
                <a:latin typeface="Aptos"/>
                <a:ea typeface="+mn-ea"/>
                <a:cs typeface="+mn-cs"/>
              </a:rPr>
              <a:t>Capture the expert’s:</a:t>
            </a:r>
          </a:p>
        </p:txBody>
      </p:sp>
      <p:sp>
        <p:nvSpPr>
          <p:cNvPr id="13" name="TextBox 12"/>
          <p:cNvSpPr txBox="1"/>
          <p:nvPr/>
        </p:nvSpPr>
        <p:spPr>
          <a:xfrm>
            <a:off x="777240" y="3291840"/>
            <a:ext cx="320040" cy="2560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EF3281"/>
                </a:solidFill>
                <a:effectLst/>
                <a:uLnTx/>
                <a:uFillTx/>
                <a:latin typeface="Aptos"/>
                <a:ea typeface="+mn-ea"/>
                <a:cs typeface="+mn-cs"/>
              </a:rPr>
              <a:t>1.</a:t>
            </a:r>
          </a:p>
        </p:txBody>
      </p:sp>
      <p:sp>
        <p:nvSpPr>
          <p:cNvPr id="14" name="TextBox 13"/>
          <p:cNvSpPr txBox="1"/>
          <p:nvPr/>
        </p:nvSpPr>
        <p:spPr>
          <a:xfrm>
            <a:off x="1188720" y="3255264"/>
            <a:ext cx="347472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8FFFD"/>
                </a:solidFill>
                <a:effectLst/>
                <a:uLnTx/>
                <a:uFillTx/>
                <a:latin typeface="Aptos"/>
                <a:ea typeface="+mn-ea"/>
                <a:cs typeface="+mn-cs"/>
              </a:rPr>
              <a:t>D</a:t>
            </a:r>
            <a:r>
              <a:rPr kumimoji="0" sz="1400" b="0" i="0" u="none" strike="noStrike" kern="1200" cap="none" spc="0" normalizeH="0" baseline="0" noProof="0" dirty="0">
                <a:ln>
                  <a:noFill/>
                </a:ln>
                <a:solidFill>
                  <a:srgbClr val="F8FFFD"/>
                </a:solidFill>
                <a:effectLst/>
                <a:uLnTx/>
                <a:uFillTx/>
                <a:latin typeface="Aptos"/>
                <a:ea typeface="+mn-ea"/>
                <a:cs typeface="+mn-cs"/>
              </a:rPr>
              <a:t>ecision process</a:t>
            </a:r>
            <a:r>
              <a:rPr kumimoji="0" lang="en-US" sz="1400" b="0" i="0" u="none" strike="noStrike" kern="1200" cap="none" spc="0" normalizeH="0" baseline="0" noProof="0" dirty="0">
                <a:ln>
                  <a:noFill/>
                </a:ln>
                <a:solidFill>
                  <a:srgbClr val="F8FFFD"/>
                </a:solidFill>
                <a:effectLst/>
                <a:uLnTx/>
                <a:uFillTx/>
                <a:latin typeface="Aptos"/>
                <a:ea typeface="+mn-ea"/>
                <a:cs typeface="+mn-cs"/>
              </a:rPr>
              <a:t> and quality bar (walk through the task by hand)</a:t>
            </a:r>
            <a:endParaRPr kumimoji="0" sz="1400" b="0" i="0" u="none" strike="noStrike" kern="1200" cap="none" spc="0" normalizeH="0" baseline="0" noProof="0" dirty="0">
              <a:ln>
                <a:noFill/>
              </a:ln>
              <a:solidFill>
                <a:srgbClr val="F8FFFD"/>
              </a:solidFill>
              <a:effectLst/>
              <a:uLnTx/>
              <a:uFillTx/>
              <a:latin typeface="Aptos"/>
              <a:ea typeface="+mn-ea"/>
              <a:cs typeface="+mn-cs"/>
            </a:endParaRPr>
          </a:p>
        </p:txBody>
      </p:sp>
      <p:sp>
        <p:nvSpPr>
          <p:cNvPr id="17" name="TextBox 16"/>
          <p:cNvSpPr txBox="1"/>
          <p:nvPr/>
        </p:nvSpPr>
        <p:spPr>
          <a:xfrm>
            <a:off x="749808" y="3866656"/>
            <a:ext cx="347472" cy="1692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EF3281"/>
                </a:solidFill>
                <a:latin typeface="Aptos"/>
              </a:rPr>
              <a:t>2. </a:t>
            </a:r>
            <a:endParaRPr kumimoji="0" sz="1100" b="1" i="0" u="none" strike="noStrike" kern="1200" cap="none" spc="0" normalizeH="0" baseline="0" noProof="0" dirty="0">
              <a:ln>
                <a:noFill/>
              </a:ln>
              <a:solidFill>
                <a:srgbClr val="EF3281"/>
              </a:solidFill>
              <a:effectLst/>
              <a:uLnTx/>
              <a:uFillTx/>
              <a:latin typeface="Aptos"/>
              <a:ea typeface="+mn-ea"/>
              <a:cs typeface="+mn-cs"/>
            </a:endParaRPr>
          </a:p>
        </p:txBody>
      </p:sp>
      <p:sp>
        <p:nvSpPr>
          <p:cNvPr id="18" name="TextBox 17"/>
          <p:cNvSpPr txBox="1"/>
          <p:nvPr/>
        </p:nvSpPr>
        <p:spPr>
          <a:xfrm>
            <a:off x="1188720" y="3903064"/>
            <a:ext cx="347472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8FFFD"/>
                </a:solidFill>
                <a:effectLst/>
                <a:uLnTx/>
                <a:uFillTx/>
                <a:latin typeface="Aptos"/>
                <a:ea typeface="+mn-ea"/>
                <a:cs typeface="+mn-cs"/>
              </a:rPr>
              <a:t>Specific resources and artifacts</a:t>
            </a:r>
            <a:endParaRPr kumimoji="0" sz="1400" b="0" i="0" u="none" strike="noStrike" kern="1200" cap="none" spc="0" normalizeH="0" baseline="0" noProof="0" dirty="0">
              <a:ln>
                <a:noFill/>
              </a:ln>
              <a:solidFill>
                <a:srgbClr val="F8FFFD"/>
              </a:solidFill>
              <a:effectLst/>
              <a:uLnTx/>
              <a:uFillTx/>
              <a:latin typeface="Aptos"/>
              <a:ea typeface="+mn-ea"/>
              <a:cs typeface="+mn-cs"/>
            </a:endParaRPr>
          </a:p>
        </p:txBody>
      </p:sp>
      <p:sp>
        <p:nvSpPr>
          <p:cNvPr id="21" name="TextBox 20"/>
          <p:cNvSpPr txBox="1"/>
          <p:nvPr/>
        </p:nvSpPr>
        <p:spPr>
          <a:xfrm>
            <a:off x="749808" y="5888736"/>
            <a:ext cx="10287000" cy="23083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B1D9"/>
                </a:solidFill>
                <a:effectLst/>
                <a:uLnTx/>
                <a:uFillTx/>
                <a:latin typeface="Aptos"/>
                <a:ea typeface="+mn-ea"/>
                <a:cs typeface="+mn-cs"/>
              </a:rPr>
              <a:t>Rather than prompting back and forth, save multi-prompt sequences as skills.</a:t>
            </a:r>
            <a:endParaRPr kumimoji="0" sz="1500" b="1" i="0" u="none" strike="noStrike" kern="1200" cap="none" spc="0" normalizeH="0" baseline="0" noProof="0" dirty="0">
              <a:ln>
                <a:noFill/>
              </a:ln>
              <a:solidFill>
                <a:srgbClr val="00B1D9"/>
              </a:solidFill>
              <a:effectLst/>
              <a:uLnTx/>
              <a:uFillTx/>
              <a:latin typeface="Aptos"/>
              <a:ea typeface="+mn-ea"/>
              <a:cs typeface="+mn-cs"/>
            </a:endParaRPr>
          </a:p>
        </p:txBody>
      </p:sp>
      <p:sp>
        <p:nvSpPr>
          <p:cNvPr id="23" name="TextBox 22">
            <a:extLst>
              <a:ext uri="{FF2B5EF4-FFF2-40B4-BE49-F238E27FC236}">
                <a16:creationId xmlns:a16="http://schemas.microsoft.com/office/drawing/2014/main" id="{629C638A-DEF3-C0BB-AC20-F85FF2716804}"/>
              </a:ext>
            </a:extLst>
          </p:cNvPr>
          <p:cNvSpPr txBox="1"/>
          <p:nvPr/>
        </p:nvSpPr>
        <p:spPr>
          <a:xfrm>
            <a:off x="763524" y="4857564"/>
            <a:ext cx="320040" cy="1692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F3281"/>
                </a:solidFill>
                <a:effectLst/>
                <a:uLnTx/>
                <a:uFillTx/>
                <a:latin typeface="Aptos"/>
                <a:ea typeface="+mn-ea"/>
                <a:cs typeface="+mn-cs"/>
              </a:rPr>
              <a:t>4.</a:t>
            </a:r>
            <a:endParaRPr kumimoji="0" sz="1100" b="1" i="0" u="none" strike="noStrike" kern="1200" cap="none" spc="0" normalizeH="0" baseline="0" noProof="0" dirty="0">
              <a:ln>
                <a:noFill/>
              </a:ln>
              <a:solidFill>
                <a:srgbClr val="EF3281"/>
              </a:solidFill>
              <a:effectLst/>
              <a:uLnTx/>
              <a:uFillTx/>
              <a:latin typeface="Aptos"/>
              <a:ea typeface="+mn-ea"/>
              <a:cs typeface="+mn-cs"/>
            </a:endParaRPr>
          </a:p>
        </p:txBody>
      </p:sp>
      <p:sp>
        <p:nvSpPr>
          <p:cNvPr id="25" name="TextBox 24">
            <a:extLst>
              <a:ext uri="{FF2B5EF4-FFF2-40B4-BE49-F238E27FC236}">
                <a16:creationId xmlns:a16="http://schemas.microsoft.com/office/drawing/2014/main" id="{3D30A11D-DD23-072D-8370-28A404E007E6}"/>
              </a:ext>
            </a:extLst>
          </p:cNvPr>
          <p:cNvSpPr txBox="1"/>
          <p:nvPr/>
        </p:nvSpPr>
        <p:spPr>
          <a:xfrm>
            <a:off x="1188720" y="4834481"/>
            <a:ext cx="347472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8FFFD"/>
                </a:solidFill>
                <a:latin typeface="Aptos"/>
              </a:rPr>
              <a:t>And… Convert</a:t>
            </a:r>
            <a:r>
              <a:rPr kumimoji="0" lang="en-US" sz="1400" b="0" i="0" u="none" strike="noStrike" kern="1200" cap="none" spc="0" normalizeH="0" baseline="0" noProof="0" dirty="0">
                <a:ln>
                  <a:noFill/>
                </a:ln>
                <a:solidFill>
                  <a:srgbClr val="F8FFFD"/>
                </a:solidFill>
                <a:effectLst/>
                <a:uLnTx/>
                <a:uFillTx/>
                <a:latin typeface="Aptos"/>
                <a:ea typeface="+mn-ea"/>
                <a:cs typeface="+mn-cs"/>
              </a:rPr>
              <a:t> successful prompts into skills</a:t>
            </a:r>
            <a:endParaRPr kumimoji="0" sz="1400" b="0" i="0" u="none" strike="noStrike" kern="1200" cap="none" spc="0" normalizeH="0" baseline="0" noProof="0" dirty="0">
              <a:ln>
                <a:noFill/>
              </a:ln>
              <a:solidFill>
                <a:srgbClr val="F8FFFD"/>
              </a:solidFill>
              <a:effectLst/>
              <a:uLnTx/>
              <a:uFillTx/>
              <a:latin typeface="Aptos"/>
              <a:ea typeface="+mn-ea"/>
              <a:cs typeface="+mn-cs"/>
            </a:endParaRPr>
          </a:p>
        </p:txBody>
      </p:sp>
      <p:sp>
        <p:nvSpPr>
          <p:cNvPr id="19" name="TextBox 18">
            <a:extLst>
              <a:ext uri="{FF2B5EF4-FFF2-40B4-BE49-F238E27FC236}">
                <a16:creationId xmlns:a16="http://schemas.microsoft.com/office/drawing/2014/main" id="{C1F98F84-AFFB-523B-066E-2AC4301E2716}"/>
              </a:ext>
            </a:extLst>
          </p:cNvPr>
          <p:cNvSpPr txBox="1"/>
          <p:nvPr/>
        </p:nvSpPr>
        <p:spPr>
          <a:xfrm>
            <a:off x="1188720" y="4351984"/>
            <a:ext cx="347472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8FFFD"/>
                </a:solidFill>
                <a:effectLst/>
                <a:uLnTx/>
                <a:uFillTx/>
                <a:latin typeface="Aptos"/>
                <a:ea typeface="+mn-ea"/>
                <a:cs typeface="+mn-cs"/>
              </a:rPr>
              <a:t>False-positive checks </a:t>
            </a:r>
            <a:endParaRPr kumimoji="0" sz="1400" b="0" i="0" u="none" strike="noStrike" kern="1200" cap="none" spc="0" normalizeH="0" baseline="0" noProof="0" dirty="0">
              <a:ln>
                <a:noFill/>
              </a:ln>
              <a:solidFill>
                <a:srgbClr val="F8FFFD"/>
              </a:solidFill>
              <a:effectLst/>
              <a:uLnTx/>
              <a:uFillTx/>
              <a:latin typeface="Aptos"/>
              <a:ea typeface="+mn-ea"/>
              <a:cs typeface="+mn-cs"/>
            </a:endParaRPr>
          </a:p>
        </p:txBody>
      </p:sp>
      <p:sp>
        <p:nvSpPr>
          <p:cNvPr id="22" name="TextBox 21">
            <a:extLst>
              <a:ext uri="{FF2B5EF4-FFF2-40B4-BE49-F238E27FC236}">
                <a16:creationId xmlns:a16="http://schemas.microsoft.com/office/drawing/2014/main" id="{F148248C-C0BE-CFFA-4AA1-CE81366187FE}"/>
              </a:ext>
            </a:extLst>
          </p:cNvPr>
          <p:cNvSpPr txBox="1"/>
          <p:nvPr/>
        </p:nvSpPr>
        <p:spPr>
          <a:xfrm>
            <a:off x="770480" y="4336485"/>
            <a:ext cx="347472" cy="16927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rgbClr val="EF3281"/>
                </a:solidFill>
                <a:latin typeface="Aptos"/>
              </a:rPr>
              <a:t>3. </a:t>
            </a:r>
            <a:endParaRPr kumimoji="0" sz="1100" b="1" i="0" u="none" strike="noStrike" kern="1200" cap="none" spc="0" normalizeH="0" baseline="0" noProof="0" dirty="0">
              <a:ln>
                <a:noFill/>
              </a:ln>
              <a:solidFill>
                <a:srgbClr val="EF3281"/>
              </a:solidFill>
              <a:effectLst/>
              <a:uLnTx/>
              <a:uFillTx/>
              <a:latin typeface="Aptos"/>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B1D94-9FFB-B985-2D1E-EDE9010700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9F6489-3F28-2A4B-7ABD-A41760A11288}"/>
              </a:ext>
            </a:extLst>
          </p:cNvPr>
          <p:cNvSpPr txBox="1"/>
          <p:nvPr/>
        </p:nvSpPr>
        <p:spPr>
          <a:xfrm>
            <a:off x="658368" y="667512"/>
            <a:ext cx="10744200" cy="861774"/>
          </a:xfrm>
          <a:prstGeom prst="rect">
            <a:avLst/>
          </a:prstGeom>
          <a:noFill/>
        </p:spPr>
        <p:txBody>
          <a:bodyPr wrap="square" lIns="0" tIns="0" rIns="0" bIns="0" anchor="t">
            <a:spAutoFit/>
          </a:bodyPr>
          <a:lstStyle/>
          <a:p>
            <a:pPr algn="l"/>
            <a:r>
              <a:rPr lang="en-US" sz="2800" b="1" dirty="0">
                <a:solidFill>
                  <a:schemeClr val="bg2"/>
                </a:solidFill>
                <a:latin typeface="Aptos"/>
              </a:rPr>
              <a:t>Building our security-review skill: </a:t>
            </a:r>
          </a:p>
          <a:p>
            <a:pPr algn="l"/>
            <a:r>
              <a:rPr lang="en-US" sz="2800" b="1" dirty="0">
                <a:solidFill>
                  <a:schemeClr val="bg2"/>
                </a:solidFill>
                <a:latin typeface="Aptos"/>
              </a:rPr>
              <a:t>Step 1 of 6: Encode domain expertise</a:t>
            </a:r>
            <a:endParaRPr sz="2800" b="1" dirty="0">
              <a:solidFill>
                <a:schemeClr val="bg2"/>
              </a:solidFill>
              <a:latin typeface="Aptos"/>
            </a:endParaRPr>
          </a:p>
        </p:txBody>
      </p:sp>
      <p:sp>
        <p:nvSpPr>
          <p:cNvPr id="4" name="TextBox 3">
            <a:extLst>
              <a:ext uri="{FF2B5EF4-FFF2-40B4-BE49-F238E27FC236}">
                <a16:creationId xmlns:a16="http://schemas.microsoft.com/office/drawing/2014/main" id="{98417A6B-035A-83D5-3C44-5C670BA5DBDD}"/>
              </a:ext>
            </a:extLst>
          </p:cNvPr>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576276"/>
                </a:solidFill>
                <a:latin typeface="Aptos"/>
              </a:rPr>
              <a:t>10</a:t>
            </a:r>
          </a:p>
        </p:txBody>
      </p:sp>
      <p:sp>
        <p:nvSpPr>
          <p:cNvPr id="6" name="TextBox 5">
            <a:extLst>
              <a:ext uri="{FF2B5EF4-FFF2-40B4-BE49-F238E27FC236}">
                <a16:creationId xmlns:a16="http://schemas.microsoft.com/office/drawing/2014/main" id="{966953A4-BFD3-A0C4-FE3B-B2953F3C8596}"/>
              </a:ext>
            </a:extLst>
          </p:cNvPr>
          <p:cNvSpPr txBox="1"/>
          <p:nvPr/>
        </p:nvSpPr>
        <p:spPr>
          <a:xfrm>
            <a:off x="2147276" y="1602154"/>
            <a:ext cx="8395678" cy="4524315"/>
          </a:xfrm>
          <a:prstGeom prst="rect">
            <a:avLst/>
          </a:prstGeom>
          <a:noFill/>
        </p:spPr>
        <p:txBody>
          <a:bodyPr wrap="square">
            <a:spAutoFit/>
          </a:bodyPr>
          <a:lstStyle/>
          <a:p>
            <a:r>
              <a:rPr lang="en-US" dirty="0">
                <a:solidFill>
                  <a:schemeClr val="bg1"/>
                </a:solidFill>
              </a:rPr>
              <a:t>#### Objective</a:t>
            </a:r>
          </a:p>
          <a:p>
            <a:endParaRPr lang="en-US" dirty="0">
              <a:solidFill>
                <a:schemeClr val="bg1"/>
              </a:solidFill>
            </a:endParaRPr>
          </a:p>
          <a:p>
            <a:r>
              <a:rPr lang="en-US" dirty="0">
                <a:solidFill>
                  <a:schemeClr val="bg1"/>
                </a:solidFill>
              </a:rPr>
              <a:t>Identify actionable vulnerabilities supported by a concrete attacker path and code evidence.</a:t>
            </a:r>
          </a:p>
          <a:p>
            <a:endParaRPr lang="en-US" dirty="0">
              <a:solidFill>
                <a:schemeClr val="bg1"/>
              </a:solidFill>
            </a:endParaRPr>
          </a:p>
          <a:p>
            <a:r>
              <a:rPr lang="en-US" dirty="0">
                <a:solidFill>
                  <a:schemeClr val="bg1"/>
                </a:solidFill>
              </a:rPr>
              <a:t>## Review method</a:t>
            </a:r>
          </a:p>
          <a:p>
            <a:endParaRPr lang="en-US" dirty="0">
              <a:solidFill>
                <a:schemeClr val="bg1"/>
              </a:solidFill>
            </a:endParaRPr>
          </a:p>
          <a:p>
            <a:r>
              <a:rPr lang="en-US" dirty="0">
                <a:solidFill>
                  <a:schemeClr val="bg1"/>
                </a:solidFill>
              </a:rPr>
              <a:t>For each candidate finding:</a:t>
            </a:r>
          </a:p>
          <a:p>
            <a:endParaRPr lang="en-US" dirty="0">
              <a:solidFill>
                <a:schemeClr val="bg1"/>
              </a:solidFill>
            </a:endParaRPr>
          </a:p>
          <a:p>
            <a:r>
              <a:rPr lang="en-US" dirty="0">
                <a:solidFill>
                  <a:schemeClr val="bg1"/>
                </a:solidFill>
              </a:rPr>
              <a:t>1. Trace attacker-controlled input to the vulnerable behavior.</a:t>
            </a:r>
          </a:p>
          <a:p>
            <a:r>
              <a:rPr lang="en-US" dirty="0">
                <a:solidFill>
                  <a:schemeClr val="bg1"/>
                </a:solidFill>
              </a:rPr>
              <a:t>2. Identify the trust or authorization boundary crossed according to &lt;trust standard&gt;.</a:t>
            </a:r>
          </a:p>
          <a:p>
            <a:r>
              <a:rPr lang="en-US" dirty="0">
                <a:solidFill>
                  <a:schemeClr val="bg1"/>
                </a:solidFill>
              </a:rPr>
              <a:t>3. Confirm the resulting security impact and report risk score according to &lt;SFI scoring standard&gt;</a:t>
            </a:r>
          </a:p>
          <a:p>
            <a:r>
              <a:rPr lang="en-US" dirty="0">
                <a:solidFill>
                  <a:schemeClr val="bg1"/>
                </a:solidFill>
              </a:rPr>
              <a:t>4. Reject findings unsupported by code evidence.</a:t>
            </a:r>
          </a:p>
          <a:p>
            <a:endParaRPr lang="en-US" dirty="0">
              <a:solidFill>
                <a:schemeClr val="bg1"/>
              </a:solidFill>
            </a:endParaRPr>
          </a:p>
          <a:p>
            <a:r>
              <a:rPr lang="en-US" dirty="0">
                <a:solidFill>
                  <a:schemeClr val="bg1"/>
                </a:solidFill>
              </a:rPr>
              <a:t>Do not report code quality or speculative hardening as vulnerabilities.</a:t>
            </a:r>
          </a:p>
        </p:txBody>
      </p:sp>
    </p:spTree>
    <p:extLst>
      <p:ext uri="{BB962C8B-B14F-4D97-AF65-F5344CB8AC3E}">
        <p14:creationId xmlns:p14="http://schemas.microsoft.com/office/powerpoint/2010/main" val="3587835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667512"/>
            <a:ext cx="10744200" cy="430887"/>
          </a:xfrm>
          <a:prstGeom prst="rect">
            <a:avLst/>
          </a:prstGeom>
          <a:noFill/>
        </p:spPr>
        <p:txBody>
          <a:bodyPr wrap="square" lIns="0" tIns="0" rIns="0" bIns="0" anchor="t">
            <a:spAutoFit/>
          </a:bodyPr>
          <a:lstStyle/>
          <a:p>
            <a:pPr algn="l"/>
            <a:r>
              <a:rPr lang="en-US" sz="2800" b="1" dirty="0">
                <a:solidFill>
                  <a:schemeClr val="bg2"/>
                </a:solidFill>
                <a:latin typeface="Aptos"/>
              </a:rPr>
              <a:t>Best practice #2: Activate the skill in the description</a:t>
            </a:r>
            <a:endParaRPr sz="2800" b="1" dirty="0">
              <a:solidFill>
                <a:schemeClr val="bg2"/>
              </a:solidFill>
              <a:latin typeface="Aptos"/>
            </a:endParaRPr>
          </a:p>
        </p:txBody>
      </p:sp>
      <p:sp>
        <p:nvSpPr>
          <p:cNvPr id="4" name="TextBox 3"/>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576276"/>
                </a:solidFill>
                <a:latin typeface="Aptos"/>
              </a:rPr>
              <a:t>10</a:t>
            </a:r>
          </a:p>
        </p:txBody>
      </p:sp>
      <p:sp>
        <p:nvSpPr>
          <p:cNvPr id="5" name="TextBox 4"/>
          <p:cNvSpPr txBox="1"/>
          <p:nvPr/>
        </p:nvSpPr>
        <p:spPr>
          <a:xfrm>
            <a:off x="749808" y="1417320"/>
            <a:ext cx="10058400" cy="276999"/>
          </a:xfrm>
          <a:prstGeom prst="rect">
            <a:avLst/>
          </a:prstGeom>
          <a:noFill/>
        </p:spPr>
        <p:txBody>
          <a:bodyPr wrap="square" lIns="0" tIns="0" rIns="0" bIns="0" anchor="t">
            <a:spAutoFit/>
          </a:bodyPr>
          <a:lstStyle/>
          <a:p>
            <a:pPr algn="l"/>
            <a:r>
              <a:rPr sz="1800" b="1" dirty="0">
                <a:solidFill>
                  <a:schemeClr val="bg2"/>
                </a:solidFill>
                <a:latin typeface="Aptos"/>
              </a:rPr>
              <a:t>The description is routing logic</a:t>
            </a:r>
            <a:r>
              <a:rPr lang="en-US" b="1" dirty="0">
                <a:solidFill>
                  <a:schemeClr val="bg2"/>
                </a:solidFill>
                <a:latin typeface="Aptos"/>
              </a:rPr>
              <a:t>. Skills are triggered based on the description itself.</a:t>
            </a:r>
            <a:endParaRPr sz="1800" b="1" dirty="0">
              <a:solidFill>
                <a:schemeClr val="bg2"/>
              </a:solidFill>
              <a:latin typeface="Aptos"/>
            </a:endParaRPr>
          </a:p>
        </p:txBody>
      </p:sp>
      <p:sp>
        <p:nvSpPr>
          <p:cNvPr id="8" name="TextBox 7"/>
          <p:cNvSpPr txBox="1"/>
          <p:nvPr/>
        </p:nvSpPr>
        <p:spPr>
          <a:xfrm>
            <a:off x="1024128" y="2770632"/>
            <a:ext cx="1051560" cy="169277"/>
          </a:xfrm>
          <a:prstGeom prst="rect">
            <a:avLst/>
          </a:prstGeom>
          <a:noFill/>
        </p:spPr>
        <p:txBody>
          <a:bodyPr wrap="square" lIns="0" tIns="0" rIns="0" bIns="0" anchor="t">
            <a:spAutoFit/>
          </a:bodyPr>
          <a:lstStyle/>
          <a:p>
            <a:pPr algn="l"/>
            <a:r>
              <a:rPr lang="en-US" sz="1100" b="1" dirty="0">
                <a:solidFill>
                  <a:srgbClr val="7E41E8"/>
                </a:solidFill>
                <a:latin typeface="Aptos Mono"/>
              </a:rPr>
              <a:t>N</a:t>
            </a:r>
            <a:r>
              <a:rPr sz="1100" b="1" dirty="0">
                <a:solidFill>
                  <a:srgbClr val="7E41E8"/>
                </a:solidFill>
                <a:latin typeface="Aptos Mono"/>
              </a:rPr>
              <a:t>ame:</a:t>
            </a:r>
          </a:p>
        </p:txBody>
      </p:sp>
      <p:sp>
        <p:nvSpPr>
          <p:cNvPr id="9" name="TextBox 8"/>
          <p:cNvSpPr txBox="1"/>
          <p:nvPr/>
        </p:nvSpPr>
        <p:spPr>
          <a:xfrm>
            <a:off x="2148840" y="2770632"/>
            <a:ext cx="3383280" cy="256032"/>
          </a:xfrm>
          <a:prstGeom prst="rect">
            <a:avLst/>
          </a:prstGeom>
          <a:noFill/>
        </p:spPr>
        <p:txBody>
          <a:bodyPr wrap="square" lIns="0" tIns="0" rIns="0" bIns="0" anchor="t">
            <a:spAutoFit/>
          </a:bodyPr>
          <a:lstStyle/>
          <a:p>
            <a:pPr algn="l"/>
            <a:r>
              <a:rPr sz="1100" b="1">
                <a:solidFill>
                  <a:srgbClr val="FFFFFF"/>
                </a:solidFill>
                <a:latin typeface="Aptos Mono"/>
              </a:rPr>
              <a:t>security-review</a:t>
            </a:r>
          </a:p>
        </p:txBody>
      </p:sp>
      <p:sp>
        <p:nvSpPr>
          <p:cNvPr id="10" name="TextBox 9"/>
          <p:cNvSpPr txBox="1"/>
          <p:nvPr/>
        </p:nvSpPr>
        <p:spPr>
          <a:xfrm>
            <a:off x="1024128" y="3227832"/>
            <a:ext cx="1051560" cy="169277"/>
          </a:xfrm>
          <a:prstGeom prst="rect">
            <a:avLst/>
          </a:prstGeom>
          <a:noFill/>
        </p:spPr>
        <p:txBody>
          <a:bodyPr wrap="square" lIns="0" tIns="0" rIns="0" bIns="0" anchor="t">
            <a:spAutoFit/>
          </a:bodyPr>
          <a:lstStyle/>
          <a:p>
            <a:pPr algn="l"/>
            <a:r>
              <a:rPr lang="en-US" sz="1100" b="1" dirty="0">
                <a:solidFill>
                  <a:srgbClr val="7E41E8"/>
                </a:solidFill>
                <a:latin typeface="Aptos Mono"/>
              </a:rPr>
              <a:t>Description</a:t>
            </a:r>
            <a:r>
              <a:rPr sz="1100" b="1" dirty="0">
                <a:solidFill>
                  <a:srgbClr val="7E41E8"/>
                </a:solidFill>
                <a:latin typeface="Aptos Mono"/>
              </a:rPr>
              <a:t>:</a:t>
            </a:r>
          </a:p>
        </p:txBody>
      </p:sp>
      <p:sp>
        <p:nvSpPr>
          <p:cNvPr id="11" name="TextBox 10"/>
          <p:cNvSpPr txBox="1"/>
          <p:nvPr/>
        </p:nvSpPr>
        <p:spPr>
          <a:xfrm>
            <a:off x="2148840" y="3191256"/>
            <a:ext cx="8138160" cy="1692771"/>
          </a:xfrm>
          <a:prstGeom prst="rect">
            <a:avLst/>
          </a:prstGeom>
          <a:noFill/>
        </p:spPr>
        <p:txBody>
          <a:bodyPr wrap="square" lIns="0" tIns="0" rIns="0" bIns="0" anchor="t">
            <a:spAutoFit/>
          </a:bodyPr>
          <a:lstStyle/>
          <a:p>
            <a:pPr algn="l"/>
            <a:r>
              <a:rPr lang="en-US" sz="1100" b="0" dirty="0">
                <a:solidFill>
                  <a:srgbClr val="FFFFFF"/>
                </a:solidFill>
                <a:latin typeface="Aptos Mono"/>
              </a:rPr>
              <a:t>Review software and technical artifacts for security risks in accordance with applicable SFI standards. Trigger when a user </a:t>
            </a:r>
            <a:r>
              <a:rPr lang="en-US" sz="1100" dirty="0">
                <a:solidFill>
                  <a:srgbClr val="FFFFFF"/>
                </a:solidFill>
                <a:latin typeface="Aptos Mono"/>
              </a:rPr>
              <a:t>opens a pull request, asks</a:t>
            </a:r>
            <a:r>
              <a:rPr lang="en-US" sz="1100" b="0" dirty="0">
                <a:solidFill>
                  <a:srgbClr val="FFFFFF"/>
                </a:solidFill>
                <a:latin typeface="Aptos Mono"/>
              </a:rPr>
              <a:t> for a security review or assessment, threat analysis, vulnerability review, secure code or design review, security posture evaluation, or help determining whether code, configuration, architecture, or a proposed change is secure. Accept repositories, diffs, pull requests, pasted code, configuration, design documents, and prior security reports. Trace assets, entry points, data flows, privilege transitions, dependencies, and trust boundaries; identify and prioritize credible risks; and report supporting evidence, review coverage, affected components, and specific remediation steps. Do not use for routine code review, feature development, reformatting, or non-security documentation work.</a:t>
            </a:r>
            <a:endParaRPr sz="1100" b="0" dirty="0">
              <a:solidFill>
                <a:srgbClr val="FFFFFF"/>
              </a:solidFill>
              <a:latin typeface="Aptos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667512"/>
            <a:ext cx="1074420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a:ln>
                  <a:noFill/>
                </a:ln>
                <a:solidFill>
                  <a:srgbClr val="F8FFFD"/>
                </a:solidFill>
                <a:effectLst/>
                <a:uLnTx/>
                <a:uFillTx/>
                <a:latin typeface="Aptos"/>
                <a:ea typeface="+mn-ea"/>
                <a:cs typeface="+mn-cs"/>
              </a:rPr>
              <a:t>Best practice #3: </a:t>
            </a:r>
            <a:r>
              <a:rPr kumimoji="0" lang="en-US" sz="2800" b="1" i="0" u="none" strike="noStrike" kern="1200" cap="none" spc="0" normalizeH="0" baseline="0" noProof="0" dirty="0">
                <a:ln>
                  <a:noFill/>
                </a:ln>
                <a:solidFill>
                  <a:srgbClr val="F8FFFD"/>
                </a:solidFill>
                <a:effectLst/>
                <a:uLnTx/>
                <a:uFillTx/>
                <a:latin typeface="Aptos"/>
                <a:ea typeface="+mn-ea"/>
                <a:cs typeface="+mn-cs"/>
              </a:rPr>
              <a:t>Focused scope</a:t>
            </a:r>
            <a:endParaRPr kumimoji="0" sz="2800" b="1" i="0" u="none" strike="noStrike" kern="1200" cap="none" spc="0" normalizeH="0" baseline="0" noProof="0" dirty="0">
              <a:ln>
                <a:noFill/>
              </a:ln>
              <a:solidFill>
                <a:srgbClr val="F8FFFD"/>
              </a:solidFill>
              <a:effectLst/>
              <a:uLnTx/>
              <a:uFillTx/>
              <a:latin typeface="Aptos"/>
              <a:ea typeface="+mn-ea"/>
              <a:cs typeface="+mn-cs"/>
            </a:endParaRPr>
          </a:p>
        </p:txBody>
      </p:sp>
      <p:sp>
        <p:nvSpPr>
          <p:cNvPr id="4" name="TextBox 3"/>
          <p:cNvSpPr txBox="1"/>
          <p:nvPr/>
        </p:nvSpPr>
        <p:spPr>
          <a:xfrm>
            <a:off x="11091672" y="6473952"/>
            <a:ext cx="438912" cy="164592"/>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576276"/>
                </a:solidFill>
                <a:effectLst/>
                <a:uLnTx/>
                <a:uFillTx/>
                <a:latin typeface="Aptos"/>
                <a:ea typeface="+mn-ea"/>
                <a:cs typeface="+mn-cs"/>
              </a:rPr>
              <a:t>11</a:t>
            </a:r>
          </a:p>
        </p:txBody>
      </p:sp>
      <p:sp>
        <p:nvSpPr>
          <p:cNvPr id="5" name="TextBox 4"/>
          <p:cNvSpPr txBox="1"/>
          <p:nvPr/>
        </p:nvSpPr>
        <p:spPr>
          <a:xfrm>
            <a:off x="749808" y="1371600"/>
            <a:ext cx="10195560" cy="2616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dirty="0">
                <a:ln>
                  <a:noFill/>
                </a:ln>
                <a:solidFill>
                  <a:srgbClr val="F8FFFD"/>
                </a:solidFill>
                <a:effectLst/>
                <a:uLnTx/>
                <a:uFillTx/>
                <a:latin typeface="Aptos"/>
                <a:ea typeface="+mn-ea"/>
                <a:cs typeface="+mn-cs"/>
              </a:rPr>
              <a:t>Keep the skill </a:t>
            </a:r>
            <a:r>
              <a:rPr kumimoji="0" lang="en-US" sz="1700" b="1" i="0" u="none" strike="noStrike" kern="1200" cap="none" spc="0" normalizeH="0" baseline="0" noProof="0" dirty="0">
                <a:ln>
                  <a:noFill/>
                </a:ln>
                <a:solidFill>
                  <a:srgbClr val="F8FFFD"/>
                </a:solidFill>
                <a:effectLst/>
                <a:uLnTx/>
                <a:uFillTx/>
                <a:latin typeface="Aptos"/>
                <a:ea typeface="+mn-ea"/>
                <a:cs typeface="+mn-cs"/>
              </a:rPr>
              <a:t>focused</a:t>
            </a:r>
            <a:r>
              <a:rPr kumimoji="0" sz="1700" b="1" i="0" u="none" strike="noStrike" kern="1200" cap="none" spc="0" normalizeH="0" baseline="0" noProof="0" dirty="0">
                <a:ln>
                  <a:noFill/>
                </a:ln>
                <a:solidFill>
                  <a:srgbClr val="F8FFFD"/>
                </a:solidFill>
                <a:effectLst/>
                <a:uLnTx/>
                <a:uFillTx/>
                <a:latin typeface="Aptos"/>
                <a:ea typeface="+mn-ea"/>
                <a:cs typeface="+mn-cs"/>
              </a:rPr>
              <a:t>. </a:t>
            </a:r>
            <a:r>
              <a:rPr kumimoji="0" lang="en-US" sz="1700" b="1" i="0" u="none" strike="noStrike" kern="1200" cap="none" spc="0" normalizeH="0" baseline="0" noProof="0" dirty="0">
                <a:ln>
                  <a:noFill/>
                </a:ln>
                <a:solidFill>
                  <a:srgbClr val="F8FFFD"/>
                </a:solidFill>
                <a:effectLst/>
                <a:uLnTx/>
                <a:uFillTx/>
                <a:latin typeface="Aptos"/>
                <a:ea typeface="+mn-ea"/>
                <a:cs typeface="+mn-cs"/>
              </a:rPr>
              <a:t>No more than 500 lines. </a:t>
            </a:r>
            <a:r>
              <a:rPr kumimoji="0" sz="1700" b="1" i="0" u="none" strike="noStrike" kern="1200" cap="none" spc="0" normalizeH="0" baseline="0" noProof="0" dirty="0">
                <a:ln>
                  <a:noFill/>
                </a:ln>
                <a:solidFill>
                  <a:srgbClr val="F8FFFD"/>
                </a:solidFill>
                <a:effectLst/>
                <a:uLnTx/>
                <a:uFillTx/>
                <a:latin typeface="Aptos"/>
                <a:ea typeface="+mn-ea"/>
                <a:cs typeface="+mn-cs"/>
              </a:rPr>
              <a:t>Load deeper material only when the workflow needs it.</a:t>
            </a:r>
          </a:p>
        </p:txBody>
      </p:sp>
      <p:sp>
        <p:nvSpPr>
          <p:cNvPr id="6" name="Rectangle 5"/>
          <p:cNvSpPr/>
          <p:nvPr/>
        </p:nvSpPr>
        <p:spPr>
          <a:xfrm>
            <a:off x="749808" y="2136463"/>
            <a:ext cx="4160520" cy="3273552"/>
          </a:xfrm>
          <a:prstGeom prst="rect">
            <a:avLst/>
          </a:prstGeom>
          <a:solidFill>
            <a:srgbClr val="EBF5FB"/>
          </a:solidFill>
          <a:ln>
            <a:solidFill>
              <a:srgbClr val="00B1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7" name="TextBox 6"/>
          <p:cNvSpPr txBox="1"/>
          <p:nvPr/>
        </p:nvSpPr>
        <p:spPr>
          <a:xfrm>
            <a:off x="1024128" y="2359152"/>
            <a:ext cx="3474720" cy="2769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00B1D9"/>
                </a:solidFill>
                <a:effectLst/>
                <a:uLnTx/>
                <a:uFillTx/>
                <a:latin typeface="Aptos"/>
                <a:ea typeface="+mn-ea"/>
                <a:cs typeface="+mn-cs"/>
              </a:rPr>
              <a:t>S</a:t>
            </a:r>
            <a:r>
              <a:rPr kumimoji="0" lang="en-US" sz="1800" b="1" i="0" u="none" strike="noStrike" kern="1200" cap="none" spc="0" normalizeH="0" baseline="0" noProof="0" dirty="0">
                <a:ln>
                  <a:noFill/>
                </a:ln>
                <a:solidFill>
                  <a:srgbClr val="00B1D9"/>
                </a:solidFill>
                <a:effectLst/>
                <a:uLnTx/>
                <a:uFillTx/>
                <a:latin typeface="Aptos"/>
                <a:ea typeface="+mn-ea"/>
                <a:cs typeface="+mn-cs"/>
              </a:rPr>
              <a:t>kill body</a:t>
            </a:r>
            <a:endParaRPr kumimoji="0" sz="1800" b="1" i="0" u="none" strike="noStrike" kern="1200" cap="none" spc="0" normalizeH="0" baseline="0" noProof="0" dirty="0">
              <a:ln>
                <a:noFill/>
              </a:ln>
              <a:solidFill>
                <a:srgbClr val="00B1D9"/>
              </a:solidFill>
              <a:effectLst/>
              <a:uLnTx/>
              <a:uFillTx/>
              <a:latin typeface="Aptos"/>
              <a:ea typeface="+mn-ea"/>
              <a:cs typeface="+mn-cs"/>
            </a:endParaRPr>
          </a:p>
        </p:txBody>
      </p:sp>
      <p:sp>
        <p:nvSpPr>
          <p:cNvPr id="10" name="TextBox 9"/>
          <p:cNvSpPr txBox="1"/>
          <p:nvPr/>
        </p:nvSpPr>
        <p:spPr>
          <a:xfrm>
            <a:off x="1074420" y="3047854"/>
            <a:ext cx="274320"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F3281"/>
                </a:solidFill>
                <a:effectLst/>
                <a:uLnTx/>
                <a:uFillTx/>
                <a:latin typeface="Aptos"/>
                <a:ea typeface="+mn-ea"/>
                <a:cs typeface="+mn-cs"/>
              </a:rPr>
              <a:t>—</a:t>
            </a:r>
          </a:p>
        </p:txBody>
      </p:sp>
      <p:sp>
        <p:nvSpPr>
          <p:cNvPr id="11" name="TextBox 10"/>
          <p:cNvSpPr txBox="1"/>
          <p:nvPr/>
        </p:nvSpPr>
        <p:spPr>
          <a:xfrm>
            <a:off x="1417320" y="3047854"/>
            <a:ext cx="3063240" cy="2926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dirty="0">
                <a:ln>
                  <a:noFill/>
                </a:ln>
                <a:solidFill>
                  <a:srgbClr val="0D162B"/>
                </a:solidFill>
                <a:effectLst/>
                <a:uLnTx/>
                <a:uFillTx/>
                <a:latin typeface="Aptos"/>
                <a:ea typeface="+mn-ea"/>
                <a:cs typeface="+mn-cs"/>
              </a:rPr>
              <a:t>Required inputs</a:t>
            </a:r>
          </a:p>
        </p:txBody>
      </p:sp>
      <p:sp>
        <p:nvSpPr>
          <p:cNvPr id="12" name="TextBox 11"/>
          <p:cNvSpPr txBox="1"/>
          <p:nvPr/>
        </p:nvSpPr>
        <p:spPr>
          <a:xfrm>
            <a:off x="1115568" y="3544639"/>
            <a:ext cx="274320"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F3281"/>
                </a:solidFill>
                <a:effectLst/>
                <a:uLnTx/>
                <a:uFillTx/>
                <a:latin typeface="Aptos"/>
                <a:ea typeface="+mn-ea"/>
                <a:cs typeface="+mn-cs"/>
              </a:rPr>
              <a:t>—</a:t>
            </a:r>
          </a:p>
        </p:txBody>
      </p:sp>
      <p:sp>
        <p:nvSpPr>
          <p:cNvPr id="13" name="TextBox 12"/>
          <p:cNvSpPr txBox="1"/>
          <p:nvPr/>
        </p:nvSpPr>
        <p:spPr>
          <a:xfrm>
            <a:off x="1417320" y="3489579"/>
            <a:ext cx="3063240" cy="2926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0D162B"/>
                </a:solidFill>
                <a:effectLst/>
                <a:uLnTx/>
                <a:uFillTx/>
                <a:latin typeface="Aptos"/>
                <a:ea typeface="+mn-ea"/>
                <a:cs typeface="+mn-cs"/>
              </a:rPr>
              <a:t>Procedure</a:t>
            </a:r>
          </a:p>
        </p:txBody>
      </p:sp>
      <p:sp>
        <p:nvSpPr>
          <p:cNvPr id="14" name="TextBox 13"/>
          <p:cNvSpPr txBox="1"/>
          <p:nvPr/>
        </p:nvSpPr>
        <p:spPr>
          <a:xfrm>
            <a:off x="1086651" y="4055950"/>
            <a:ext cx="274320"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F3281"/>
                </a:solidFill>
                <a:effectLst/>
                <a:uLnTx/>
                <a:uFillTx/>
                <a:latin typeface="Aptos"/>
                <a:ea typeface="+mn-ea"/>
                <a:cs typeface="+mn-cs"/>
              </a:rPr>
              <a:t>—</a:t>
            </a:r>
          </a:p>
        </p:txBody>
      </p:sp>
      <p:sp>
        <p:nvSpPr>
          <p:cNvPr id="15" name="TextBox 14"/>
          <p:cNvSpPr txBox="1"/>
          <p:nvPr/>
        </p:nvSpPr>
        <p:spPr>
          <a:xfrm>
            <a:off x="1348740" y="4055950"/>
            <a:ext cx="3063240" cy="2926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dirty="0">
                <a:ln>
                  <a:noFill/>
                </a:ln>
                <a:solidFill>
                  <a:srgbClr val="0D162B"/>
                </a:solidFill>
                <a:effectLst/>
                <a:uLnTx/>
                <a:uFillTx/>
                <a:latin typeface="Aptos"/>
                <a:ea typeface="+mn-ea"/>
                <a:cs typeface="+mn-cs"/>
              </a:rPr>
              <a:t>Output contract</a:t>
            </a:r>
          </a:p>
        </p:txBody>
      </p:sp>
      <p:sp>
        <p:nvSpPr>
          <p:cNvPr id="16" name="TextBox 15"/>
          <p:cNvSpPr txBox="1"/>
          <p:nvPr/>
        </p:nvSpPr>
        <p:spPr>
          <a:xfrm>
            <a:off x="1076686" y="4534671"/>
            <a:ext cx="274320"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EF3281"/>
                </a:solidFill>
                <a:effectLst/>
                <a:uLnTx/>
                <a:uFillTx/>
                <a:latin typeface="Aptos"/>
                <a:ea typeface="+mn-ea"/>
                <a:cs typeface="+mn-cs"/>
              </a:rPr>
              <a:t>—</a:t>
            </a:r>
          </a:p>
        </p:txBody>
      </p:sp>
      <p:sp>
        <p:nvSpPr>
          <p:cNvPr id="17" name="TextBox 16"/>
          <p:cNvSpPr txBox="1"/>
          <p:nvPr/>
        </p:nvSpPr>
        <p:spPr>
          <a:xfrm>
            <a:off x="1417319" y="4546991"/>
            <a:ext cx="3063240" cy="2926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dirty="0">
                <a:ln>
                  <a:noFill/>
                </a:ln>
                <a:solidFill>
                  <a:srgbClr val="0D162B"/>
                </a:solidFill>
                <a:effectLst/>
                <a:uLnTx/>
                <a:uFillTx/>
                <a:latin typeface="Aptos"/>
                <a:ea typeface="+mn-ea"/>
                <a:cs typeface="+mn-cs"/>
              </a:rPr>
              <a:t>Approval + stop conditions</a:t>
            </a:r>
          </a:p>
        </p:txBody>
      </p:sp>
      <p:sp>
        <p:nvSpPr>
          <p:cNvPr id="18" name="TextBox 17"/>
          <p:cNvSpPr txBox="1"/>
          <p:nvPr/>
        </p:nvSpPr>
        <p:spPr>
          <a:xfrm>
            <a:off x="5074920" y="3337560"/>
            <a:ext cx="1938528" cy="461665"/>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dirty="0">
                <a:ln>
                  <a:noFill/>
                </a:ln>
                <a:solidFill>
                  <a:srgbClr val="F8FFFD"/>
                </a:solidFill>
                <a:effectLst/>
                <a:uLnTx/>
                <a:uFillTx/>
                <a:latin typeface="Aptos"/>
                <a:ea typeface="+mn-ea"/>
                <a:cs typeface="+mn-cs"/>
              </a:rPr>
              <a:t>loads only when needed →</a:t>
            </a:r>
          </a:p>
        </p:txBody>
      </p:sp>
      <p:sp>
        <p:nvSpPr>
          <p:cNvPr id="19" name="Rectangle 18"/>
          <p:cNvSpPr/>
          <p:nvPr/>
        </p:nvSpPr>
        <p:spPr>
          <a:xfrm>
            <a:off x="7150608" y="2084831"/>
            <a:ext cx="3977639" cy="3273552"/>
          </a:xfrm>
          <a:prstGeom prst="rect">
            <a:avLst/>
          </a:prstGeom>
          <a:solidFill>
            <a:srgbClr val="E8F7F1"/>
          </a:solidFill>
          <a:ln>
            <a:solidFill>
              <a:srgbClr val="00AA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0" name="TextBox 19"/>
          <p:cNvSpPr txBox="1"/>
          <p:nvPr/>
        </p:nvSpPr>
        <p:spPr>
          <a:xfrm>
            <a:off x="7424927" y="2359152"/>
            <a:ext cx="3429000"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00AA80"/>
                </a:solidFill>
                <a:effectLst/>
                <a:uLnTx/>
                <a:uFillTx/>
                <a:latin typeface="Aptos"/>
                <a:ea typeface="+mn-ea"/>
                <a:cs typeface="+mn-cs"/>
              </a:rPr>
              <a:t>references/</a:t>
            </a:r>
          </a:p>
        </p:txBody>
      </p:sp>
      <p:sp>
        <p:nvSpPr>
          <p:cNvPr id="21" name="TextBox 20"/>
          <p:cNvSpPr txBox="1"/>
          <p:nvPr/>
        </p:nvSpPr>
        <p:spPr>
          <a:xfrm>
            <a:off x="7443216" y="2926080"/>
            <a:ext cx="274320"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EF3281"/>
                </a:solidFill>
                <a:effectLst/>
                <a:uLnTx/>
                <a:uFillTx/>
                <a:latin typeface="Aptos"/>
                <a:ea typeface="+mn-ea"/>
                <a:cs typeface="+mn-cs"/>
              </a:rPr>
              <a:t>—</a:t>
            </a:r>
          </a:p>
        </p:txBody>
      </p:sp>
      <p:sp>
        <p:nvSpPr>
          <p:cNvPr id="22" name="TextBox 21"/>
          <p:cNvSpPr txBox="1"/>
          <p:nvPr/>
        </p:nvSpPr>
        <p:spPr>
          <a:xfrm>
            <a:off x="7818120" y="2889504"/>
            <a:ext cx="2834640" cy="2926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0D162B"/>
                </a:solidFill>
                <a:effectLst/>
                <a:uLnTx/>
                <a:uFillTx/>
                <a:latin typeface="Aptos"/>
                <a:ea typeface="+mn-ea"/>
                <a:cs typeface="+mn-cs"/>
              </a:rPr>
              <a:t>Detailed methodology</a:t>
            </a:r>
          </a:p>
        </p:txBody>
      </p:sp>
      <p:sp>
        <p:nvSpPr>
          <p:cNvPr id="23" name="TextBox 22"/>
          <p:cNvSpPr txBox="1"/>
          <p:nvPr/>
        </p:nvSpPr>
        <p:spPr>
          <a:xfrm>
            <a:off x="7443216" y="3374136"/>
            <a:ext cx="274320"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EF3281"/>
                </a:solidFill>
                <a:effectLst/>
                <a:uLnTx/>
                <a:uFillTx/>
                <a:latin typeface="Aptos"/>
                <a:ea typeface="+mn-ea"/>
                <a:cs typeface="+mn-cs"/>
              </a:rPr>
              <a:t>—</a:t>
            </a:r>
          </a:p>
        </p:txBody>
      </p:sp>
      <p:sp>
        <p:nvSpPr>
          <p:cNvPr id="24" name="TextBox 23"/>
          <p:cNvSpPr txBox="1"/>
          <p:nvPr/>
        </p:nvSpPr>
        <p:spPr>
          <a:xfrm>
            <a:off x="7818120" y="3337560"/>
            <a:ext cx="2834640" cy="2926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0D162B"/>
                </a:solidFill>
                <a:effectLst/>
                <a:uLnTx/>
                <a:uFillTx/>
                <a:latin typeface="Aptos"/>
                <a:ea typeface="+mn-ea"/>
                <a:cs typeface="+mn-cs"/>
              </a:rPr>
              <a:t>Long checklists</a:t>
            </a:r>
          </a:p>
        </p:txBody>
      </p:sp>
      <p:sp>
        <p:nvSpPr>
          <p:cNvPr id="25" name="TextBox 24"/>
          <p:cNvSpPr txBox="1"/>
          <p:nvPr/>
        </p:nvSpPr>
        <p:spPr>
          <a:xfrm>
            <a:off x="7443216" y="3822191"/>
            <a:ext cx="274320"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EF3281"/>
                </a:solidFill>
                <a:effectLst/>
                <a:uLnTx/>
                <a:uFillTx/>
                <a:latin typeface="Aptos"/>
                <a:ea typeface="+mn-ea"/>
                <a:cs typeface="+mn-cs"/>
              </a:rPr>
              <a:t>—</a:t>
            </a:r>
          </a:p>
        </p:txBody>
      </p:sp>
      <p:sp>
        <p:nvSpPr>
          <p:cNvPr id="26" name="TextBox 25"/>
          <p:cNvSpPr txBox="1"/>
          <p:nvPr/>
        </p:nvSpPr>
        <p:spPr>
          <a:xfrm>
            <a:off x="7818120" y="3785616"/>
            <a:ext cx="2834640" cy="2926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0D162B"/>
                </a:solidFill>
                <a:effectLst/>
                <a:uLnTx/>
                <a:uFillTx/>
                <a:latin typeface="Aptos"/>
                <a:ea typeface="+mn-ea"/>
                <a:cs typeface="+mn-cs"/>
              </a:rPr>
              <a:t>Examples + templates</a:t>
            </a:r>
          </a:p>
        </p:txBody>
      </p:sp>
      <p:sp>
        <p:nvSpPr>
          <p:cNvPr id="27" name="TextBox 26"/>
          <p:cNvSpPr txBox="1"/>
          <p:nvPr/>
        </p:nvSpPr>
        <p:spPr>
          <a:xfrm>
            <a:off x="7443216" y="4270248"/>
            <a:ext cx="274320"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EF3281"/>
                </a:solidFill>
                <a:effectLst/>
                <a:uLnTx/>
                <a:uFillTx/>
                <a:latin typeface="Aptos"/>
                <a:ea typeface="+mn-ea"/>
                <a:cs typeface="+mn-cs"/>
              </a:rPr>
              <a:t>—</a:t>
            </a:r>
          </a:p>
        </p:txBody>
      </p:sp>
      <p:sp>
        <p:nvSpPr>
          <p:cNvPr id="28" name="TextBox 27"/>
          <p:cNvSpPr txBox="1"/>
          <p:nvPr/>
        </p:nvSpPr>
        <p:spPr>
          <a:xfrm>
            <a:off x="7818120" y="4233672"/>
            <a:ext cx="2834640" cy="2926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0D162B"/>
                </a:solidFill>
                <a:effectLst/>
                <a:uLnTx/>
                <a:uFillTx/>
                <a:latin typeface="Aptos"/>
                <a:ea typeface="+mn-ea"/>
                <a:cs typeface="+mn-cs"/>
              </a:rPr>
              <a:t>Product documentation</a:t>
            </a:r>
          </a:p>
        </p:txBody>
      </p:sp>
      <p:sp>
        <p:nvSpPr>
          <p:cNvPr id="29" name="TextBox 28"/>
          <p:cNvSpPr txBox="1"/>
          <p:nvPr/>
        </p:nvSpPr>
        <p:spPr>
          <a:xfrm>
            <a:off x="7443216" y="4718304"/>
            <a:ext cx="274320"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EF3281"/>
                </a:solidFill>
                <a:effectLst/>
                <a:uLnTx/>
                <a:uFillTx/>
                <a:latin typeface="Aptos"/>
                <a:ea typeface="+mn-ea"/>
                <a:cs typeface="+mn-cs"/>
              </a:rPr>
              <a:t>—</a:t>
            </a:r>
          </a:p>
        </p:txBody>
      </p:sp>
      <p:sp>
        <p:nvSpPr>
          <p:cNvPr id="30" name="TextBox 29"/>
          <p:cNvSpPr txBox="1"/>
          <p:nvPr/>
        </p:nvSpPr>
        <p:spPr>
          <a:xfrm>
            <a:off x="7818120" y="4681728"/>
            <a:ext cx="2834640" cy="29260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0D162B"/>
                </a:solidFill>
                <a:effectLst/>
                <a:uLnTx/>
                <a:uFillTx/>
                <a:latin typeface="Aptos"/>
                <a:ea typeface="+mn-ea"/>
                <a:cs typeface="+mn-cs"/>
              </a:rPr>
              <a:t>Severity rubric</a:t>
            </a:r>
          </a:p>
        </p:txBody>
      </p:sp>
      <p:sp>
        <p:nvSpPr>
          <p:cNvPr id="31" name="TextBox 30"/>
          <p:cNvSpPr txBox="1"/>
          <p:nvPr/>
        </p:nvSpPr>
        <p:spPr>
          <a:xfrm>
            <a:off x="749808" y="5824728"/>
            <a:ext cx="10378440" cy="3200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00B1D9"/>
                </a:solidFill>
                <a:effectLst/>
                <a:uLnTx/>
                <a:uFillTx/>
                <a:latin typeface="Aptos"/>
                <a:ea typeface="+mn-ea"/>
                <a:cs typeface="+mn-cs"/>
              </a:rPr>
              <a:t>If the skill needs to know everything, it is not scoped tightly enough.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84F90-667C-20D3-1508-CA00A6E64A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6C298A-85D5-1B65-D2FA-F252CDD853AF}"/>
              </a:ext>
            </a:extLst>
          </p:cNvPr>
          <p:cNvSpPr txBox="1"/>
          <p:nvPr/>
        </p:nvSpPr>
        <p:spPr>
          <a:xfrm>
            <a:off x="658368" y="667512"/>
            <a:ext cx="1074420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a:ln>
                  <a:noFill/>
                </a:ln>
                <a:solidFill>
                  <a:srgbClr val="F8FFFD"/>
                </a:solidFill>
                <a:effectLst/>
                <a:uLnTx/>
                <a:uFillTx/>
                <a:latin typeface="Aptos"/>
                <a:ea typeface="+mn-ea"/>
                <a:cs typeface="+mn-cs"/>
              </a:rPr>
              <a:t>Best practice #3: </a:t>
            </a:r>
            <a:r>
              <a:rPr kumimoji="0" lang="en-US" sz="2800" b="1" i="0" u="none" strike="noStrike" kern="1200" cap="none" spc="0" normalizeH="0" baseline="0" noProof="0" dirty="0">
                <a:ln>
                  <a:noFill/>
                </a:ln>
                <a:solidFill>
                  <a:srgbClr val="F8FFFD"/>
                </a:solidFill>
                <a:effectLst/>
                <a:uLnTx/>
                <a:uFillTx/>
                <a:latin typeface="Aptos"/>
                <a:ea typeface="+mn-ea"/>
                <a:cs typeface="+mn-cs"/>
              </a:rPr>
              <a:t>security-review example </a:t>
            </a:r>
            <a:endParaRPr kumimoji="0" sz="2800" b="1" i="0" u="none" strike="noStrike" kern="1200" cap="none" spc="0" normalizeH="0" baseline="0" noProof="0" dirty="0">
              <a:ln>
                <a:noFill/>
              </a:ln>
              <a:solidFill>
                <a:srgbClr val="F8FFFD"/>
              </a:solidFill>
              <a:effectLst/>
              <a:uLnTx/>
              <a:uFillTx/>
              <a:latin typeface="Aptos"/>
              <a:ea typeface="+mn-ea"/>
              <a:cs typeface="+mn-cs"/>
            </a:endParaRPr>
          </a:p>
        </p:txBody>
      </p:sp>
      <p:sp>
        <p:nvSpPr>
          <p:cNvPr id="4" name="TextBox 3">
            <a:extLst>
              <a:ext uri="{FF2B5EF4-FFF2-40B4-BE49-F238E27FC236}">
                <a16:creationId xmlns:a16="http://schemas.microsoft.com/office/drawing/2014/main" id="{185F5190-3350-288D-68FA-4C38E46DFB1F}"/>
              </a:ext>
            </a:extLst>
          </p:cNvPr>
          <p:cNvSpPr txBox="1"/>
          <p:nvPr/>
        </p:nvSpPr>
        <p:spPr>
          <a:xfrm>
            <a:off x="11091672" y="6473952"/>
            <a:ext cx="438912" cy="164592"/>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576276"/>
                </a:solidFill>
                <a:effectLst/>
                <a:uLnTx/>
                <a:uFillTx/>
                <a:latin typeface="Aptos"/>
                <a:ea typeface="+mn-ea"/>
                <a:cs typeface="+mn-cs"/>
              </a:rPr>
              <a:t>11</a:t>
            </a:r>
          </a:p>
        </p:txBody>
      </p:sp>
      <p:sp>
        <p:nvSpPr>
          <p:cNvPr id="5" name="TextBox 4">
            <a:extLst>
              <a:ext uri="{FF2B5EF4-FFF2-40B4-BE49-F238E27FC236}">
                <a16:creationId xmlns:a16="http://schemas.microsoft.com/office/drawing/2014/main" id="{1A53C2E0-2687-C821-A6E0-2656439F0F05}"/>
              </a:ext>
            </a:extLst>
          </p:cNvPr>
          <p:cNvSpPr txBox="1"/>
          <p:nvPr/>
        </p:nvSpPr>
        <p:spPr>
          <a:xfrm>
            <a:off x="749808" y="1371600"/>
            <a:ext cx="10195560" cy="5232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dirty="0">
                <a:ln>
                  <a:noFill/>
                </a:ln>
                <a:solidFill>
                  <a:srgbClr val="F8FFFD"/>
                </a:solidFill>
                <a:effectLst/>
                <a:uLnTx/>
                <a:uFillTx/>
                <a:latin typeface="Aptos"/>
                <a:ea typeface="+mn-ea"/>
                <a:cs typeface="+mn-cs"/>
              </a:rPr>
              <a:t>Keep the skill concise. </a:t>
            </a:r>
            <a:r>
              <a:rPr kumimoji="0" lang="en-US" sz="1700" b="1" i="0" u="none" strike="noStrike" kern="1200" cap="none" spc="0" normalizeH="0" baseline="0" noProof="0" dirty="0">
                <a:ln>
                  <a:noFill/>
                </a:ln>
                <a:solidFill>
                  <a:srgbClr val="F8FFFD"/>
                </a:solidFill>
                <a:effectLst/>
                <a:uLnTx/>
                <a:uFillTx/>
                <a:latin typeface="Aptos"/>
                <a:ea typeface="+mn-ea"/>
                <a:cs typeface="+mn-cs"/>
              </a:rPr>
              <a:t>No more than 500 lines. </a:t>
            </a:r>
            <a:r>
              <a:rPr kumimoji="0" sz="1700" b="1" i="0" u="none" strike="noStrike" kern="1200" cap="none" spc="0" normalizeH="0" baseline="0" noProof="0" dirty="0">
                <a:ln>
                  <a:noFill/>
                </a:ln>
                <a:solidFill>
                  <a:srgbClr val="F8FFFD"/>
                </a:solidFill>
                <a:effectLst/>
                <a:uLnTx/>
                <a:uFillTx/>
                <a:latin typeface="Aptos"/>
                <a:ea typeface="+mn-ea"/>
                <a:cs typeface="+mn-cs"/>
              </a:rPr>
              <a:t>Load deeper material only when the workflow needs it</a:t>
            </a:r>
            <a:r>
              <a:rPr kumimoji="0" lang="en-US" sz="1700" b="1" i="0" u="none" strike="noStrike" kern="1200" cap="none" spc="0" normalizeH="0" baseline="0" noProof="0" dirty="0">
                <a:ln>
                  <a:noFill/>
                </a:ln>
                <a:solidFill>
                  <a:srgbClr val="F8FFFD"/>
                </a:solidFill>
                <a:effectLst/>
                <a:uLnTx/>
                <a:uFillTx/>
                <a:latin typeface="Aptos"/>
                <a:ea typeface="+mn-ea"/>
                <a:cs typeface="+mn-cs"/>
              </a:rPr>
              <a:t>, with a progressive disclosure.</a:t>
            </a:r>
            <a:endParaRPr kumimoji="0" sz="1700" b="1" i="0" u="none" strike="noStrike" kern="1200" cap="none" spc="0" normalizeH="0" baseline="0" noProof="0" dirty="0">
              <a:ln>
                <a:noFill/>
              </a:ln>
              <a:solidFill>
                <a:srgbClr val="F8FFFD"/>
              </a:solidFill>
              <a:effectLst/>
              <a:uLnTx/>
              <a:uFillTx/>
              <a:latin typeface="Aptos"/>
              <a:ea typeface="+mn-ea"/>
              <a:cs typeface="+mn-cs"/>
            </a:endParaRPr>
          </a:p>
        </p:txBody>
      </p:sp>
      <p:sp>
        <p:nvSpPr>
          <p:cNvPr id="6" name="Rectangle 5">
            <a:extLst>
              <a:ext uri="{FF2B5EF4-FFF2-40B4-BE49-F238E27FC236}">
                <a16:creationId xmlns:a16="http://schemas.microsoft.com/office/drawing/2014/main" id="{85D6AC8B-8205-F0F6-D76C-EB1AE5CAE505}"/>
              </a:ext>
            </a:extLst>
          </p:cNvPr>
          <p:cNvSpPr/>
          <p:nvPr/>
        </p:nvSpPr>
        <p:spPr>
          <a:xfrm>
            <a:off x="658368" y="2328985"/>
            <a:ext cx="7305509" cy="2960932"/>
          </a:xfrm>
          <a:prstGeom prst="rect">
            <a:avLst/>
          </a:prstGeom>
          <a:solidFill>
            <a:srgbClr val="EBF5FB"/>
          </a:solidFill>
          <a:ln>
            <a:solidFill>
              <a:srgbClr val="00B1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31" name="TextBox 30">
            <a:extLst>
              <a:ext uri="{FF2B5EF4-FFF2-40B4-BE49-F238E27FC236}">
                <a16:creationId xmlns:a16="http://schemas.microsoft.com/office/drawing/2014/main" id="{7D9D3B95-0AD9-42DD-E61B-2301628A8ED4}"/>
              </a:ext>
            </a:extLst>
          </p:cNvPr>
          <p:cNvSpPr txBox="1"/>
          <p:nvPr/>
        </p:nvSpPr>
        <p:spPr>
          <a:xfrm>
            <a:off x="566928" y="5583059"/>
            <a:ext cx="10378440" cy="46166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B1D9"/>
                </a:solidFill>
                <a:effectLst/>
                <a:uLnTx/>
                <a:uFillTx/>
                <a:latin typeface="Aptos"/>
                <a:ea typeface="+mn-ea"/>
                <a:cs typeface="+mn-cs"/>
              </a:rPr>
              <a:t>Explicitly state when each resource should be loaded. For example (load references/authorization.md when review performs access control decisions. </a:t>
            </a:r>
            <a:endParaRPr kumimoji="0" sz="1500" b="1" i="0" u="none" strike="noStrike" kern="1200" cap="none" spc="0" normalizeH="0" baseline="0" noProof="0" dirty="0">
              <a:ln>
                <a:noFill/>
              </a:ln>
              <a:solidFill>
                <a:srgbClr val="00B1D9"/>
              </a:solidFill>
              <a:effectLst/>
              <a:uLnTx/>
              <a:uFillTx/>
              <a:latin typeface="Aptos"/>
              <a:ea typeface="+mn-ea"/>
              <a:cs typeface="+mn-cs"/>
            </a:endParaRPr>
          </a:p>
        </p:txBody>
      </p:sp>
      <p:sp>
        <p:nvSpPr>
          <p:cNvPr id="32" name="TextBox 31">
            <a:extLst>
              <a:ext uri="{FF2B5EF4-FFF2-40B4-BE49-F238E27FC236}">
                <a16:creationId xmlns:a16="http://schemas.microsoft.com/office/drawing/2014/main" id="{1BD8BBBE-B378-FAE5-4DC0-1608021F7284}"/>
              </a:ext>
            </a:extLst>
          </p:cNvPr>
          <p:cNvSpPr txBox="1"/>
          <p:nvPr/>
        </p:nvSpPr>
        <p:spPr>
          <a:xfrm>
            <a:off x="658368" y="2564555"/>
            <a:ext cx="7227355" cy="1954381"/>
          </a:xfrm>
          <a:prstGeom prst="rect">
            <a:avLst/>
          </a:prstGeom>
          <a:noFill/>
        </p:spPr>
        <p:txBody>
          <a:bodyPr wrap="square">
            <a:spAutoFit/>
          </a:bodyPr>
          <a:lstStyle/>
          <a:p>
            <a:r>
              <a:rPr lang="en-US" sz="1100" dirty="0">
                <a:solidFill>
                  <a:srgbClr val="000000"/>
                </a:solidFill>
                <a:latin typeface="Consolas" panose="020B0609020204030204" pitchFamily="49" charset="0"/>
              </a:rPr>
              <a:t>Use the &lt;review checklist&gt;. Consider identity and access, input handling and injection, sensitive-data handling, configuration, external interactions, dependencies, state transitions and failure behavior. Mark areas as reviewed, not applicable with a reason, or not assessed with a reason. For each plausible issue, trace the causal path: controlled input or state →relevant operation → missing or ineffective protection → consequence. Look for counterevidence in callers, validation layers, framework behavior and tests. Do not report a dangerous-looking API without checking how it is used. For each plausible issue, trace the causal path: controlled input or state → relevant operation → missing or ineffective protection → consequence. Look for counterevidence in callers, validation layers, framework behavior and tests. Do not report a dangerous-looking API without checking how it is used.</a:t>
            </a:r>
          </a:p>
        </p:txBody>
      </p:sp>
      <p:pic>
        <p:nvPicPr>
          <p:cNvPr id="34" name="Picture 33" descr="The image appears to be a structured outline or diagram showcasing various components related to a software security review, including skills, references, types of injections, a severity rubric, scripts, and a JSON file for finding templates.&#10;&#10;AI-generated content may be incorrect.">
            <a:extLst>
              <a:ext uri="{FF2B5EF4-FFF2-40B4-BE49-F238E27FC236}">
                <a16:creationId xmlns:a16="http://schemas.microsoft.com/office/drawing/2014/main" id="{1B648CA2-9E42-D8EA-3F95-658413EECDF8}"/>
              </a:ext>
            </a:extLst>
          </p:cNvPr>
          <p:cNvPicPr>
            <a:picLocks noChangeAspect="1"/>
          </p:cNvPicPr>
          <p:nvPr/>
        </p:nvPicPr>
        <p:blipFill>
          <a:blip r:embed="rId3"/>
          <a:stretch>
            <a:fillRect/>
          </a:stretch>
        </p:blipFill>
        <p:spPr>
          <a:xfrm>
            <a:off x="8158263" y="2766858"/>
            <a:ext cx="3372321" cy="2038635"/>
          </a:xfrm>
          <a:prstGeom prst="rect">
            <a:avLst/>
          </a:prstGeom>
        </p:spPr>
      </p:pic>
    </p:spTree>
    <p:extLst>
      <p:ext uri="{BB962C8B-B14F-4D97-AF65-F5344CB8AC3E}">
        <p14:creationId xmlns:p14="http://schemas.microsoft.com/office/powerpoint/2010/main" val="2434001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1436"/>
        </a:solidFill>
        <a:effectLst/>
      </p:bgPr>
    </p:bg>
    <p:spTree>
      <p:nvGrpSpPr>
        <p:cNvPr id="1" name=""/>
        <p:cNvGrpSpPr/>
        <p:nvPr/>
      </p:nvGrpSpPr>
      <p:grpSpPr>
        <a:xfrm>
          <a:off x="0" y="0"/>
          <a:ext cx="0" cy="0"/>
          <a:chOff x="0" y="0"/>
          <a:chExt cx="0" cy="0"/>
        </a:xfrm>
      </p:grpSpPr>
      <p:sp>
        <p:nvSpPr>
          <p:cNvPr id="2" name="TextBox 1"/>
          <p:cNvSpPr txBox="1"/>
          <p:nvPr/>
        </p:nvSpPr>
        <p:spPr>
          <a:xfrm>
            <a:off x="658368" y="667512"/>
            <a:ext cx="10744200" cy="430887"/>
          </a:xfrm>
          <a:prstGeom prst="rect">
            <a:avLst/>
          </a:prstGeom>
          <a:noFill/>
        </p:spPr>
        <p:txBody>
          <a:bodyPr wrap="square" lIns="0" tIns="0" rIns="0" bIns="0" anchor="t">
            <a:spAutoFit/>
          </a:bodyPr>
          <a:lstStyle/>
          <a:p>
            <a:pPr algn="l"/>
            <a:r>
              <a:rPr sz="2800" b="1" dirty="0">
                <a:solidFill>
                  <a:srgbClr val="FFFFFF"/>
                </a:solidFill>
                <a:latin typeface="Aptos"/>
              </a:rPr>
              <a:t>Best practice #4: Use deterministic </a:t>
            </a:r>
            <a:r>
              <a:rPr lang="en-US" sz="2800" b="1" dirty="0">
                <a:solidFill>
                  <a:srgbClr val="FFFFFF"/>
                </a:solidFill>
                <a:latin typeface="Aptos"/>
              </a:rPr>
              <a:t>helpers</a:t>
            </a:r>
            <a:endParaRPr sz="2800" b="1" dirty="0">
              <a:solidFill>
                <a:srgbClr val="FFFFFF"/>
              </a:solidFill>
              <a:latin typeface="Aptos"/>
            </a:endParaRPr>
          </a:p>
        </p:txBody>
      </p:sp>
      <p:sp>
        <p:nvSpPr>
          <p:cNvPr id="3" name="TextBox 2"/>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4" name="TextBox 3"/>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B2BCD3"/>
                </a:solidFill>
                <a:latin typeface="Aptos"/>
              </a:rPr>
              <a:t>12</a:t>
            </a:r>
          </a:p>
        </p:txBody>
      </p:sp>
      <p:sp>
        <p:nvSpPr>
          <p:cNvPr id="5" name="TextBox 4"/>
          <p:cNvSpPr txBox="1"/>
          <p:nvPr/>
        </p:nvSpPr>
        <p:spPr>
          <a:xfrm>
            <a:off x="749808" y="1536192"/>
            <a:ext cx="4572000" cy="320040"/>
          </a:xfrm>
          <a:prstGeom prst="rect">
            <a:avLst/>
          </a:prstGeom>
          <a:noFill/>
        </p:spPr>
        <p:txBody>
          <a:bodyPr wrap="square" lIns="0" tIns="0" rIns="0" bIns="0" anchor="t">
            <a:spAutoFit/>
          </a:bodyPr>
          <a:lstStyle/>
          <a:p>
            <a:pPr algn="l"/>
            <a:r>
              <a:rPr sz="1800" b="1">
                <a:solidFill>
                  <a:srgbClr val="00B1D9"/>
                </a:solidFill>
                <a:latin typeface="Aptos"/>
              </a:rPr>
              <a:t>LET THE MODEL</a:t>
            </a:r>
          </a:p>
        </p:txBody>
      </p:sp>
      <p:sp>
        <p:nvSpPr>
          <p:cNvPr id="6" name="TextBox 5"/>
          <p:cNvSpPr txBox="1"/>
          <p:nvPr/>
        </p:nvSpPr>
        <p:spPr>
          <a:xfrm>
            <a:off x="6419088" y="1536192"/>
            <a:ext cx="4572000" cy="320040"/>
          </a:xfrm>
          <a:prstGeom prst="rect">
            <a:avLst/>
          </a:prstGeom>
          <a:noFill/>
        </p:spPr>
        <p:txBody>
          <a:bodyPr wrap="square" lIns="0" tIns="0" rIns="0" bIns="0" anchor="t">
            <a:spAutoFit/>
          </a:bodyPr>
          <a:lstStyle/>
          <a:p>
            <a:pPr algn="l"/>
            <a:r>
              <a:rPr sz="1800" b="1">
                <a:solidFill>
                  <a:srgbClr val="00AA80"/>
                </a:solidFill>
                <a:latin typeface="Aptos"/>
              </a:rPr>
              <a:t>LET THE SCRIPT</a:t>
            </a:r>
          </a:p>
        </p:txBody>
      </p:sp>
      <p:sp>
        <p:nvSpPr>
          <p:cNvPr id="7" name="TextBox 6"/>
          <p:cNvSpPr txBox="1"/>
          <p:nvPr/>
        </p:nvSpPr>
        <p:spPr>
          <a:xfrm>
            <a:off x="777240" y="2194560"/>
            <a:ext cx="320040" cy="256032"/>
          </a:xfrm>
          <a:prstGeom prst="rect">
            <a:avLst/>
          </a:prstGeom>
          <a:noFill/>
        </p:spPr>
        <p:txBody>
          <a:bodyPr wrap="square" lIns="0" tIns="0" rIns="0" bIns="0" anchor="t">
            <a:spAutoFit/>
          </a:bodyPr>
          <a:lstStyle/>
          <a:p>
            <a:pPr algn="l"/>
            <a:r>
              <a:rPr sz="1100" b="1">
                <a:solidFill>
                  <a:srgbClr val="EF3281"/>
                </a:solidFill>
                <a:latin typeface="Aptos"/>
              </a:rPr>
              <a:t>1</a:t>
            </a:r>
          </a:p>
        </p:txBody>
      </p:sp>
      <p:sp>
        <p:nvSpPr>
          <p:cNvPr id="8" name="TextBox 7"/>
          <p:cNvSpPr txBox="1"/>
          <p:nvPr/>
        </p:nvSpPr>
        <p:spPr>
          <a:xfrm>
            <a:off x="1234440" y="2167128"/>
            <a:ext cx="4023360" cy="329184"/>
          </a:xfrm>
          <a:prstGeom prst="rect">
            <a:avLst/>
          </a:prstGeom>
          <a:noFill/>
        </p:spPr>
        <p:txBody>
          <a:bodyPr wrap="square" lIns="0" tIns="0" rIns="0" bIns="0" anchor="t">
            <a:spAutoFit/>
          </a:bodyPr>
          <a:lstStyle/>
          <a:p>
            <a:pPr algn="l"/>
            <a:r>
              <a:rPr sz="1500" b="0">
                <a:solidFill>
                  <a:srgbClr val="FFFFFF"/>
                </a:solidFill>
                <a:latin typeface="Aptos"/>
              </a:rPr>
              <a:t>Understand the request</a:t>
            </a:r>
          </a:p>
        </p:txBody>
      </p:sp>
      <p:sp>
        <p:nvSpPr>
          <p:cNvPr id="9" name="TextBox 8"/>
          <p:cNvSpPr txBox="1"/>
          <p:nvPr/>
        </p:nvSpPr>
        <p:spPr>
          <a:xfrm>
            <a:off x="777240" y="2761488"/>
            <a:ext cx="320040" cy="256032"/>
          </a:xfrm>
          <a:prstGeom prst="rect">
            <a:avLst/>
          </a:prstGeom>
          <a:noFill/>
        </p:spPr>
        <p:txBody>
          <a:bodyPr wrap="square" lIns="0" tIns="0" rIns="0" bIns="0" anchor="t">
            <a:spAutoFit/>
          </a:bodyPr>
          <a:lstStyle/>
          <a:p>
            <a:pPr algn="l"/>
            <a:r>
              <a:rPr sz="1100" b="1">
                <a:solidFill>
                  <a:srgbClr val="EF3281"/>
                </a:solidFill>
                <a:latin typeface="Aptos"/>
              </a:rPr>
              <a:t>2</a:t>
            </a:r>
          </a:p>
        </p:txBody>
      </p:sp>
      <p:sp>
        <p:nvSpPr>
          <p:cNvPr id="10" name="TextBox 9"/>
          <p:cNvSpPr txBox="1"/>
          <p:nvPr/>
        </p:nvSpPr>
        <p:spPr>
          <a:xfrm>
            <a:off x="1234440" y="2734056"/>
            <a:ext cx="4023360" cy="329184"/>
          </a:xfrm>
          <a:prstGeom prst="rect">
            <a:avLst/>
          </a:prstGeom>
          <a:noFill/>
        </p:spPr>
        <p:txBody>
          <a:bodyPr wrap="square" lIns="0" tIns="0" rIns="0" bIns="0" anchor="t">
            <a:spAutoFit/>
          </a:bodyPr>
          <a:lstStyle/>
          <a:p>
            <a:pPr algn="l"/>
            <a:r>
              <a:rPr sz="1500" b="0">
                <a:solidFill>
                  <a:srgbClr val="FFFFFF"/>
                </a:solidFill>
                <a:latin typeface="Aptos"/>
              </a:rPr>
              <a:t>Select the approved workflow</a:t>
            </a:r>
          </a:p>
        </p:txBody>
      </p:sp>
      <p:sp>
        <p:nvSpPr>
          <p:cNvPr id="11" name="TextBox 10"/>
          <p:cNvSpPr txBox="1"/>
          <p:nvPr/>
        </p:nvSpPr>
        <p:spPr>
          <a:xfrm>
            <a:off x="777240" y="3328415"/>
            <a:ext cx="320040" cy="256032"/>
          </a:xfrm>
          <a:prstGeom prst="rect">
            <a:avLst/>
          </a:prstGeom>
          <a:noFill/>
        </p:spPr>
        <p:txBody>
          <a:bodyPr wrap="square" lIns="0" tIns="0" rIns="0" bIns="0" anchor="t">
            <a:spAutoFit/>
          </a:bodyPr>
          <a:lstStyle/>
          <a:p>
            <a:pPr algn="l"/>
            <a:r>
              <a:rPr sz="1100" b="1">
                <a:solidFill>
                  <a:srgbClr val="EF3281"/>
                </a:solidFill>
                <a:latin typeface="Aptos"/>
              </a:rPr>
              <a:t>3</a:t>
            </a:r>
          </a:p>
        </p:txBody>
      </p:sp>
      <p:sp>
        <p:nvSpPr>
          <p:cNvPr id="12" name="TextBox 11"/>
          <p:cNvSpPr txBox="1"/>
          <p:nvPr/>
        </p:nvSpPr>
        <p:spPr>
          <a:xfrm>
            <a:off x="1234440" y="3300984"/>
            <a:ext cx="4023360" cy="329184"/>
          </a:xfrm>
          <a:prstGeom prst="rect">
            <a:avLst/>
          </a:prstGeom>
          <a:noFill/>
        </p:spPr>
        <p:txBody>
          <a:bodyPr wrap="square" lIns="0" tIns="0" rIns="0" bIns="0" anchor="t">
            <a:spAutoFit/>
          </a:bodyPr>
          <a:lstStyle/>
          <a:p>
            <a:pPr algn="l"/>
            <a:r>
              <a:rPr sz="1500" b="0">
                <a:solidFill>
                  <a:srgbClr val="FFFFFF"/>
                </a:solidFill>
                <a:latin typeface="Aptos"/>
              </a:rPr>
              <a:t>Interpret evidence</a:t>
            </a:r>
          </a:p>
        </p:txBody>
      </p:sp>
      <p:sp>
        <p:nvSpPr>
          <p:cNvPr id="13" name="TextBox 12"/>
          <p:cNvSpPr txBox="1"/>
          <p:nvPr/>
        </p:nvSpPr>
        <p:spPr>
          <a:xfrm>
            <a:off x="777240" y="3895344"/>
            <a:ext cx="320040" cy="256032"/>
          </a:xfrm>
          <a:prstGeom prst="rect">
            <a:avLst/>
          </a:prstGeom>
          <a:noFill/>
        </p:spPr>
        <p:txBody>
          <a:bodyPr wrap="square" lIns="0" tIns="0" rIns="0" bIns="0" anchor="t">
            <a:spAutoFit/>
          </a:bodyPr>
          <a:lstStyle/>
          <a:p>
            <a:pPr algn="l"/>
            <a:r>
              <a:rPr sz="1100" b="1">
                <a:solidFill>
                  <a:srgbClr val="EF3281"/>
                </a:solidFill>
                <a:latin typeface="Aptos"/>
              </a:rPr>
              <a:t>4</a:t>
            </a:r>
          </a:p>
        </p:txBody>
      </p:sp>
      <p:sp>
        <p:nvSpPr>
          <p:cNvPr id="14" name="TextBox 13"/>
          <p:cNvSpPr txBox="1"/>
          <p:nvPr/>
        </p:nvSpPr>
        <p:spPr>
          <a:xfrm>
            <a:off x="1234440" y="3867911"/>
            <a:ext cx="4023360" cy="329184"/>
          </a:xfrm>
          <a:prstGeom prst="rect">
            <a:avLst/>
          </a:prstGeom>
          <a:noFill/>
        </p:spPr>
        <p:txBody>
          <a:bodyPr wrap="square" lIns="0" tIns="0" rIns="0" bIns="0" anchor="t">
            <a:spAutoFit/>
          </a:bodyPr>
          <a:lstStyle/>
          <a:p>
            <a:pPr algn="l"/>
            <a:r>
              <a:rPr sz="1500" b="0">
                <a:solidFill>
                  <a:srgbClr val="FFFFFF"/>
                </a:solidFill>
                <a:latin typeface="Aptos"/>
              </a:rPr>
              <a:t>Explain the result</a:t>
            </a:r>
          </a:p>
        </p:txBody>
      </p:sp>
      <p:sp>
        <p:nvSpPr>
          <p:cNvPr id="15" name="TextBox 14"/>
          <p:cNvSpPr txBox="1"/>
          <p:nvPr/>
        </p:nvSpPr>
        <p:spPr>
          <a:xfrm>
            <a:off x="6446520" y="2194560"/>
            <a:ext cx="320040" cy="256032"/>
          </a:xfrm>
          <a:prstGeom prst="rect">
            <a:avLst/>
          </a:prstGeom>
          <a:noFill/>
        </p:spPr>
        <p:txBody>
          <a:bodyPr wrap="square" lIns="0" tIns="0" rIns="0" bIns="0" anchor="t">
            <a:spAutoFit/>
          </a:bodyPr>
          <a:lstStyle/>
          <a:p>
            <a:pPr algn="l"/>
            <a:r>
              <a:rPr sz="1100" b="1">
                <a:solidFill>
                  <a:srgbClr val="EF3281"/>
                </a:solidFill>
                <a:latin typeface="Aptos"/>
              </a:rPr>
              <a:t>1</a:t>
            </a:r>
          </a:p>
        </p:txBody>
      </p:sp>
      <p:sp>
        <p:nvSpPr>
          <p:cNvPr id="16" name="TextBox 15"/>
          <p:cNvSpPr txBox="1"/>
          <p:nvPr/>
        </p:nvSpPr>
        <p:spPr>
          <a:xfrm>
            <a:off x="6903720" y="2167128"/>
            <a:ext cx="4114800" cy="329184"/>
          </a:xfrm>
          <a:prstGeom prst="rect">
            <a:avLst/>
          </a:prstGeom>
          <a:noFill/>
        </p:spPr>
        <p:txBody>
          <a:bodyPr wrap="square" lIns="0" tIns="0" rIns="0" bIns="0" anchor="t">
            <a:spAutoFit/>
          </a:bodyPr>
          <a:lstStyle/>
          <a:p>
            <a:pPr algn="l"/>
            <a:r>
              <a:rPr sz="1500" b="0">
                <a:solidFill>
                  <a:srgbClr val="FFFFFF"/>
                </a:solidFill>
                <a:latin typeface="Aptos"/>
              </a:rPr>
              <a:t>Validate inputs</a:t>
            </a:r>
          </a:p>
        </p:txBody>
      </p:sp>
      <p:sp>
        <p:nvSpPr>
          <p:cNvPr id="17" name="TextBox 16"/>
          <p:cNvSpPr txBox="1"/>
          <p:nvPr/>
        </p:nvSpPr>
        <p:spPr>
          <a:xfrm>
            <a:off x="6446520" y="2761488"/>
            <a:ext cx="320040" cy="256032"/>
          </a:xfrm>
          <a:prstGeom prst="rect">
            <a:avLst/>
          </a:prstGeom>
          <a:noFill/>
        </p:spPr>
        <p:txBody>
          <a:bodyPr wrap="square" lIns="0" tIns="0" rIns="0" bIns="0" anchor="t">
            <a:spAutoFit/>
          </a:bodyPr>
          <a:lstStyle/>
          <a:p>
            <a:pPr algn="l"/>
            <a:r>
              <a:rPr sz="1100" b="1">
                <a:solidFill>
                  <a:srgbClr val="EF3281"/>
                </a:solidFill>
                <a:latin typeface="Aptos"/>
              </a:rPr>
              <a:t>2</a:t>
            </a:r>
          </a:p>
        </p:txBody>
      </p:sp>
      <p:sp>
        <p:nvSpPr>
          <p:cNvPr id="18" name="TextBox 17"/>
          <p:cNvSpPr txBox="1"/>
          <p:nvPr/>
        </p:nvSpPr>
        <p:spPr>
          <a:xfrm>
            <a:off x="6903720" y="2734056"/>
            <a:ext cx="4114800" cy="329184"/>
          </a:xfrm>
          <a:prstGeom prst="rect">
            <a:avLst/>
          </a:prstGeom>
          <a:noFill/>
        </p:spPr>
        <p:txBody>
          <a:bodyPr wrap="square" lIns="0" tIns="0" rIns="0" bIns="0" anchor="t">
            <a:spAutoFit/>
          </a:bodyPr>
          <a:lstStyle/>
          <a:p>
            <a:pPr algn="l"/>
            <a:r>
              <a:rPr sz="1500" b="0">
                <a:solidFill>
                  <a:srgbClr val="FFFFFF"/>
                </a:solidFill>
                <a:latin typeface="Aptos"/>
              </a:rPr>
              <a:t>Apply fixed rules</a:t>
            </a:r>
          </a:p>
        </p:txBody>
      </p:sp>
      <p:sp>
        <p:nvSpPr>
          <p:cNvPr id="19" name="TextBox 18"/>
          <p:cNvSpPr txBox="1"/>
          <p:nvPr/>
        </p:nvSpPr>
        <p:spPr>
          <a:xfrm>
            <a:off x="6446520" y="3328415"/>
            <a:ext cx="320040" cy="256032"/>
          </a:xfrm>
          <a:prstGeom prst="rect">
            <a:avLst/>
          </a:prstGeom>
          <a:noFill/>
        </p:spPr>
        <p:txBody>
          <a:bodyPr wrap="square" lIns="0" tIns="0" rIns="0" bIns="0" anchor="t">
            <a:spAutoFit/>
          </a:bodyPr>
          <a:lstStyle/>
          <a:p>
            <a:pPr algn="l"/>
            <a:r>
              <a:rPr sz="1100" b="1">
                <a:solidFill>
                  <a:srgbClr val="EF3281"/>
                </a:solidFill>
                <a:latin typeface="Aptos"/>
              </a:rPr>
              <a:t>3</a:t>
            </a:r>
          </a:p>
        </p:txBody>
      </p:sp>
      <p:sp>
        <p:nvSpPr>
          <p:cNvPr id="20" name="TextBox 19"/>
          <p:cNvSpPr txBox="1"/>
          <p:nvPr/>
        </p:nvSpPr>
        <p:spPr>
          <a:xfrm>
            <a:off x="6903720" y="3300984"/>
            <a:ext cx="4114800" cy="329184"/>
          </a:xfrm>
          <a:prstGeom prst="rect">
            <a:avLst/>
          </a:prstGeom>
          <a:noFill/>
        </p:spPr>
        <p:txBody>
          <a:bodyPr wrap="square" lIns="0" tIns="0" rIns="0" bIns="0" anchor="t">
            <a:spAutoFit/>
          </a:bodyPr>
          <a:lstStyle/>
          <a:p>
            <a:pPr algn="l"/>
            <a:r>
              <a:rPr sz="1500" b="0">
                <a:solidFill>
                  <a:srgbClr val="FFFFFF"/>
                </a:solidFill>
                <a:latin typeface="Aptos"/>
              </a:rPr>
              <a:t>Run approved commands</a:t>
            </a:r>
          </a:p>
        </p:txBody>
      </p:sp>
      <p:sp>
        <p:nvSpPr>
          <p:cNvPr id="21" name="TextBox 20"/>
          <p:cNvSpPr txBox="1"/>
          <p:nvPr/>
        </p:nvSpPr>
        <p:spPr>
          <a:xfrm>
            <a:off x="6446520" y="3895344"/>
            <a:ext cx="320040" cy="256032"/>
          </a:xfrm>
          <a:prstGeom prst="rect">
            <a:avLst/>
          </a:prstGeom>
          <a:noFill/>
        </p:spPr>
        <p:txBody>
          <a:bodyPr wrap="square" lIns="0" tIns="0" rIns="0" bIns="0" anchor="t">
            <a:spAutoFit/>
          </a:bodyPr>
          <a:lstStyle/>
          <a:p>
            <a:pPr algn="l"/>
            <a:r>
              <a:rPr sz="1100" b="1">
                <a:solidFill>
                  <a:srgbClr val="EF3281"/>
                </a:solidFill>
                <a:latin typeface="Aptos"/>
              </a:rPr>
              <a:t>4</a:t>
            </a:r>
          </a:p>
        </p:txBody>
      </p:sp>
      <p:sp>
        <p:nvSpPr>
          <p:cNvPr id="22" name="TextBox 21"/>
          <p:cNvSpPr txBox="1"/>
          <p:nvPr/>
        </p:nvSpPr>
        <p:spPr>
          <a:xfrm>
            <a:off x="6903720" y="3867911"/>
            <a:ext cx="4114800" cy="329184"/>
          </a:xfrm>
          <a:prstGeom prst="rect">
            <a:avLst/>
          </a:prstGeom>
          <a:noFill/>
        </p:spPr>
        <p:txBody>
          <a:bodyPr wrap="square" lIns="0" tIns="0" rIns="0" bIns="0" anchor="t">
            <a:spAutoFit/>
          </a:bodyPr>
          <a:lstStyle/>
          <a:p>
            <a:pPr algn="l"/>
            <a:r>
              <a:rPr sz="1500" b="0">
                <a:solidFill>
                  <a:srgbClr val="FFFFFF"/>
                </a:solidFill>
                <a:latin typeface="Aptos"/>
              </a:rPr>
              <a:t>Enforce limits + structure output</a:t>
            </a:r>
          </a:p>
        </p:txBody>
      </p:sp>
      <p:sp>
        <p:nvSpPr>
          <p:cNvPr id="23" name="Rectangle 22"/>
          <p:cNvSpPr/>
          <p:nvPr/>
        </p:nvSpPr>
        <p:spPr>
          <a:xfrm>
            <a:off x="749808" y="4754880"/>
            <a:ext cx="10378440" cy="18288"/>
          </a:xfrm>
          <a:prstGeom prst="rect">
            <a:avLst/>
          </a:prstGeom>
          <a:solidFill>
            <a:srgbClr val="33405E"/>
          </a:solidFill>
          <a:ln>
            <a:solidFill>
              <a:srgbClr val="334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5074920"/>
            <a:ext cx="1097280" cy="256032"/>
          </a:xfrm>
          <a:prstGeom prst="rect">
            <a:avLst/>
          </a:prstGeom>
          <a:noFill/>
        </p:spPr>
        <p:txBody>
          <a:bodyPr wrap="square" lIns="0" tIns="0" rIns="0" bIns="0" anchor="t">
            <a:spAutoFit/>
          </a:bodyPr>
          <a:lstStyle/>
          <a:p>
            <a:pPr algn="l"/>
            <a:r>
              <a:rPr sz="1000" b="1">
                <a:solidFill>
                  <a:srgbClr val="7E41E8"/>
                </a:solidFill>
                <a:latin typeface="Aptos"/>
              </a:rPr>
              <a:t>Example</a:t>
            </a:r>
          </a:p>
        </p:txBody>
      </p:sp>
      <p:sp>
        <p:nvSpPr>
          <p:cNvPr id="25" name="TextBox 24"/>
          <p:cNvSpPr txBox="1"/>
          <p:nvPr/>
        </p:nvSpPr>
        <p:spPr>
          <a:xfrm>
            <a:off x="1828800" y="5047488"/>
            <a:ext cx="4206240" cy="329184"/>
          </a:xfrm>
          <a:prstGeom prst="rect">
            <a:avLst/>
          </a:prstGeom>
          <a:noFill/>
        </p:spPr>
        <p:txBody>
          <a:bodyPr wrap="square" lIns="0" tIns="0" rIns="0" bIns="0" anchor="t">
            <a:spAutoFit/>
          </a:bodyPr>
          <a:lstStyle/>
          <a:p>
            <a:pPr algn="l"/>
            <a:r>
              <a:rPr sz="1300" b="1">
                <a:solidFill>
                  <a:srgbClr val="FFFFFF"/>
                </a:solidFill>
                <a:latin typeface="Aptos"/>
              </a:rPr>
              <a:t>Model: identify the files in the defined change set</a:t>
            </a:r>
          </a:p>
        </p:txBody>
      </p:sp>
      <p:sp>
        <p:nvSpPr>
          <p:cNvPr id="26" name="TextBox 25"/>
          <p:cNvSpPr txBox="1"/>
          <p:nvPr/>
        </p:nvSpPr>
        <p:spPr>
          <a:xfrm>
            <a:off x="6172200" y="5047488"/>
            <a:ext cx="4937760" cy="329184"/>
          </a:xfrm>
          <a:prstGeom prst="rect">
            <a:avLst/>
          </a:prstGeom>
          <a:noFill/>
        </p:spPr>
        <p:txBody>
          <a:bodyPr wrap="square" lIns="0" tIns="0" rIns="0" bIns="0" anchor="t">
            <a:spAutoFit/>
          </a:bodyPr>
          <a:lstStyle/>
          <a:p>
            <a:pPr algn="l"/>
            <a:r>
              <a:rPr sz="1300" b="1">
                <a:solidFill>
                  <a:srgbClr val="FFFFFF"/>
                </a:solidFill>
                <a:latin typeface="Aptos"/>
              </a:rPr>
              <a:t>Script: run the approved scanner against only those files</a:t>
            </a:r>
          </a:p>
        </p:txBody>
      </p:sp>
      <p:sp>
        <p:nvSpPr>
          <p:cNvPr id="27" name="TextBox 26"/>
          <p:cNvSpPr txBox="1"/>
          <p:nvPr/>
        </p:nvSpPr>
        <p:spPr>
          <a:xfrm>
            <a:off x="914400" y="5870448"/>
            <a:ext cx="10058400" cy="310896"/>
          </a:xfrm>
          <a:prstGeom prst="rect">
            <a:avLst/>
          </a:prstGeom>
          <a:noFill/>
        </p:spPr>
        <p:txBody>
          <a:bodyPr wrap="square" lIns="0" tIns="0" rIns="0" bIns="0" anchor="t">
            <a:spAutoFit/>
          </a:bodyPr>
          <a:lstStyle/>
          <a:p>
            <a:pPr algn="ctr"/>
            <a:r>
              <a:rPr sz="1300" b="1">
                <a:solidFill>
                  <a:srgbClr val="BEC9E1"/>
                </a:solidFill>
                <a:latin typeface="Aptos"/>
              </a:rPr>
              <a:t>Scripts still require review, constraints, and minimum necessary privileges.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61C9F-02DD-062B-37A5-83793840FD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9E998C-EBAB-AF6A-3E39-B9047AC22EE6}"/>
              </a:ext>
            </a:extLst>
          </p:cNvPr>
          <p:cNvSpPr txBox="1"/>
          <p:nvPr/>
        </p:nvSpPr>
        <p:spPr>
          <a:xfrm>
            <a:off x="658368" y="667512"/>
            <a:ext cx="10744200" cy="430887"/>
          </a:xfrm>
          <a:prstGeom prst="rect">
            <a:avLst/>
          </a:prstGeom>
          <a:noFill/>
        </p:spPr>
        <p:txBody>
          <a:bodyPr wrap="square" lIns="0" tIns="0" rIns="0" bIns="0" anchor="t">
            <a:spAutoFit/>
          </a:bodyPr>
          <a:lstStyle/>
          <a:p>
            <a:pPr algn="l"/>
            <a:r>
              <a:rPr sz="2800" b="1" dirty="0">
                <a:solidFill>
                  <a:schemeClr val="bg2"/>
                </a:solidFill>
                <a:latin typeface="Aptos"/>
              </a:rPr>
              <a:t>Best practice #</a:t>
            </a:r>
            <a:r>
              <a:rPr lang="en-US" sz="2800" b="1" dirty="0">
                <a:solidFill>
                  <a:schemeClr val="bg2"/>
                </a:solidFill>
                <a:latin typeface="Aptos"/>
              </a:rPr>
              <a:t>4 example</a:t>
            </a:r>
            <a:r>
              <a:rPr sz="2800" b="1" dirty="0">
                <a:solidFill>
                  <a:schemeClr val="bg2"/>
                </a:solidFill>
                <a:latin typeface="Aptos"/>
              </a:rPr>
              <a:t>: </a:t>
            </a:r>
            <a:r>
              <a:rPr lang="en-US" sz="2800" b="1" dirty="0">
                <a:solidFill>
                  <a:schemeClr val="bg2"/>
                </a:solidFill>
                <a:latin typeface="Aptos"/>
              </a:rPr>
              <a:t>Use deterministic helpers</a:t>
            </a:r>
            <a:endParaRPr sz="2800" b="1" dirty="0">
              <a:solidFill>
                <a:schemeClr val="bg2"/>
              </a:solidFill>
              <a:latin typeface="Aptos"/>
            </a:endParaRPr>
          </a:p>
        </p:txBody>
      </p:sp>
      <p:sp>
        <p:nvSpPr>
          <p:cNvPr id="4" name="TextBox 3">
            <a:extLst>
              <a:ext uri="{FF2B5EF4-FFF2-40B4-BE49-F238E27FC236}">
                <a16:creationId xmlns:a16="http://schemas.microsoft.com/office/drawing/2014/main" id="{65FF59B5-8806-0023-148A-20AF4C77420B}"/>
              </a:ext>
            </a:extLst>
          </p:cNvPr>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576276"/>
                </a:solidFill>
                <a:latin typeface="Aptos"/>
              </a:rPr>
              <a:t>10</a:t>
            </a:r>
          </a:p>
        </p:txBody>
      </p:sp>
      <p:sp>
        <p:nvSpPr>
          <p:cNvPr id="6" name="TextBox 5">
            <a:extLst>
              <a:ext uri="{FF2B5EF4-FFF2-40B4-BE49-F238E27FC236}">
                <a16:creationId xmlns:a16="http://schemas.microsoft.com/office/drawing/2014/main" id="{0C7D92B0-CF9C-8F68-52C7-00F4D0EC0736}"/>
              </a:ext>
            </a:extLst>
          </p:cNvPr>
          <p:cNvSpPr txBox="1"/>
          <p:nvPr/>
        </p:nvSpPr>
        <p:spPr>
          <a:xfrm>
            <a:off x="2334846" y="1515239"/>
            <a:ext cx="6138984" cy="3970318"/>
          </a:xfrm>
          <a:prstGeom prst="rect">
            <a:avLst/>
          </a:prstGeom>
          <a:noFill/>
        </p:spPr>
        <p:txBody>
          <a:bodyPr wrap="square">
            <a:spAutoFit/>
          </a:bodyPr>
          <a:lstStyle/>
          <a:p>
            <a:r>
              <a:rPr lang="en-US" dirty="0">
                <a:solidFill>
                  <a:schemeClr val="bg1"/>
                </a:solidFill>
              </a:rPr>
              <a:t>## Score confirmed vulnerabilities</a:t>
            </a:r>
          </a:p>
          <a:p>
            <a:r>
              <a:rPr lang="en-US" dirty="0">
                <a:solidFill>
                  <a:schemeClr val="bg1"/>
                </a:solidFill>
              </a:rPr>
              <a:t>CVSS (Common Vulnerability Scoring System) measures a vulnerability’s technical severity based on exploitability and impact. It does not measure complete organizational risk.</a:t>
            </a:r>
          </a:p>
          <a:p>
            <a:endParaRPr lang="en-US" dirty="0">
              <a:solidFill>
                <a:schemeClr val="bg1"/>
              </a:solidFill>
            </a:endParaRPr>
          </a:p>
          <a:p>
            <a:r>
              <a:rPr lang="en-US" dirty="0">
                <a:solidFill>
                  <a:schemeClr val="bg1"/>
                </a:solidFill>
              </a:rPr>
              <a:t>For each confirmed vulnerability:</a:t>
            </a:r>
          </a:p>
          <a:p>
            <a:pPr marL="342900" indent="-342900">
              <a:buAutoNum type="arabicPeriod"/>
            </a:pPr>
            <a:r>
              <a:rPr lang="en-US" dirty="0">
                <a:solidFill>
                  <a:schemeClr val="bg1"/>
                </a:solidFill>
              </a:rPr>
              <a:t>Load `references/cvss-v4-metrics.md`.</a:t>
            </a:r>
          </a:p>
          <a:p>
            <a:pPr marL="342900" indent="-342900">
              <a:buAutoNum type="arabicPeriod"/>
            </a:pPr>
            <a:r>
              <a:rPr lang="en-US" dirty="0">
                <a:solidFill>
                  <a:schemeClr val="bg1"/>
                </a:solidFill>
              </a:rPr>
              <a:t>Select only metrics supported by code evidence.</a:t>
            </a:r>
          </a:p>
          <a:p>
            <a:pPr marL="342900" indent="-342900">
              <a:buAutoNum type="arabicPeriod"/>
            </a:pPr>
            <a:r>
              <a:rPr lang="en-US" dirty="0">
                <a:solidFill>
                  <a:schemeClr val="bg1"/>
                </a:solidFill>
              </a:rPr>
              <a:t>Run `scripts/score_cvss.py --vector "&lt;vector&gt;"`.</a:t>
            </a:r>
          </a:p>
          <a:p>
            <a:pPr marL="342900" indent="-342900">
              <a:buAutoNum type="arabicPeriod"/>
            </a:pPr>
            <a:r>
              <a:rPr lang="en-US" dirty="0">
                <a:solidFill>
                  <a:schemeClr val="bg1"/>
                </a:solidFill>
              </a:rPr>
              <a:t>Report the returned vector, score, and rating.</a:t>
            </a:r>
          </a:p>
          <a:p>
            <a:pPr marL="342900" indent="-342900">
              <a:buAutoNum type="arabicPeriod"/>
            </a:pPr>
            <a:endParaRPr lang="en-US" dirty="0">
              <a:solidFill>
                <a:schemeClr val="bg1"/>
              </a:solidFill>
            </a:endParaRPr>
          </a:p>
          <a:p>
            <a:r>
              <a:rPr lang="en-US" dirty="0">
                <a:solidFill>
                  <a:schemeClr val="bg1"/>
                </a:solidFill>
              </a:rPr>
              <a:t>Never calculate the score manually. If a required metric is uncertain, identify the missing evidence and do not assign a score.</a:t>
            </a:r>
          </a:p>
        </p:txBody>
      </p:sp>
    </p:spTree>
    <p:extLst>
      <p:ext uri="{BB962C8B-B14F-4D97-AF65-F5344CB8AC3E}">
        <p14:creationId xmlns:p14="http://schemas.microsoft.com/office/powerpoint/2010/main" val="3390780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667512"/>
            <a:ext cx="1074420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a:ln>
                  <a:noFill/>
                </a:ln>
                <a:solidFill>
                  <a:srgbClr val="F8FFFD"/>
                </a:solidFill>
                <a:effectLst/>
                <a:uLnTx/>
                <a:uFillTx/>
                <a:latin typeface="Aptos"/>
                <a:ea typeface="+mn-ea"/>
                <a:cs typeface="+mn-cs"/>
              </a:rPr>
              <a:t>Best practice #5: </a:t>
            </a:r>
            <a:r>
              <a:rPr kumimoji="0" lang="en-US" sz="2800" b="1" i="0" u="none" strike="noStrike" kern="1200" cap="none" spc="0" normalizeH="0" baseline="0" noProof="0" dirty="0">
                <a:ln>
                  <a:noFill/>
                </a:ln>
                <a:solidFill>
                  <a:srgbClr val="F8FFFD"/>
                </a:solidFill>
                <a:effectLst/>
                <a:uLnTx/>
                <a:uFillTx/>
                <a:latin typeface="Aptos"/>
                <a:ea typeface="+mn-ea"/>
                <a:cs typeface="+mn-cs"/>
              </a:rPr>
              <a:t>Enforce access and security</a:t>
            </a:r>
            <a:endParaRPr kumimoji="0" sz="2800" b="1" i="0" u="none" strike="noStrike" kern="1200" cap="none" spc="0" normalizeH="0" baseline="0" noProof="0" dirty="0">
              <a:ln>
                <a:noFill/>
              </a:ln>
              <a:solidFill>
                <a:srgbClr val="F8FFFD"/>
              </a:solidFill>
              <a:effectLst/>
              <a:uLnTx/>
              <a:uFillTx/>
              <a:latin typeface="Aptos"/>
              <a:ea typeface="+mn-ea"/>
              <a:cs typeface="+mn-cs"/>
            </a:endParaRPr>
          </a:p>
        </p:txBody>
      </p:sp>
      <p:sp>
        <p:nvSpPr>
          <p:cNvPr id="3" name="TextBox 2"/>
          <p:cNvSpPr txBox="1"/>
          <p:nvPr/>
        </p:nvSpPr>
        <p:spPr>
          <a:xfrm>
            <a:off x="502920" y="6519672"/>
            <a:ext cx="5760720" cy="12801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20" b="1" i="0" u="none" strike="noStrike" kern="1200" cap="none" spc="0" normalizeH="0" baseline="0" noProof="0">
                <a:ln>
                  <a:noFill/>
                </a:ln>
                <a:solidFill>
                  <a:srgbClr val="576276"/>
                </a:solidFill>
                <a:effectLst/>
                <a:uLnTx/>
                <a:uFillTx/>
                <a:latin typeface="Aptos"/>
                <a:ea typeface="+mn-ea"/>
                <a:cs typeface="+mn-cs"/>
              </a:rPr>
              <a:t>INFOSEC WORLD 2026  /  USEFUL + SECURE AI SKILLS</a:t>
            </a:r>
          </a:p>
        </p:txBody>
      </p:sp>
      <p:sp>
        <p:nvSpPr>
          <p:cNvPr id="4" name="TextBox 3"/>
          <p:cNvSpPr txBox="1"/>
          <p:nvPr/>
        </p:nvSpPr>
        <p:spPr>
          <a:xfrm>
            <a:off x="11091672" y="6473952"/>
            <a:ext cx="438912" cy="164592"/>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576276"/>
                </a:solidFill>
                <a:effectLst/>
                <a:uLnTx/>
                <a:uFillTx/>
                <a:latin typeface="Aptos"/>
                <a:ea typeface="+mn-ea"/>
                <a:cs typeface="+mn-cs"/>
              </a:rPr>
              <a:t>13</a:t>
            </a:r>
          </a:p>
        </p:txBody>
      </p:sp>
      <p:sp>
        <p:nvSpPr>
          <p:cNvPr id="5" name="TextBox 4"/>
          <p:cNvSpPr txBox="1"/>
          <p:nvPr/>
        </p:nvSpPr>
        <p:spPr>
          <a:xfrm>
            <a:off x="749808" y="1353312"/>
            <a:ext cx="10195560" cy="26161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dirty="0">
                <a:ln>
                  <a:noFill/>
                </a:ln>
                <a:solidFill>
                  <a:srgbClr val="F8FFFD"/>
                </a:solidFill>
                <a:effectLst/>
                <a:uLnTx/>
                <a:uFillTx/>
                <a:latin typeface="Aptos"/>
                <a:ea typeface="+mn-ea"/>
                <a:cs typeface="+mn-cs"/>
              </a:rPr>
              <a:t>Define read, write, execute, credential, and external-send permissions separately.</a:t>
            </a:r>
          </a:p>
        </p:txBody>
      </p:sp>
      <p:sp>
        <p:nvSpPr>
          <p:cNvPr id="6" name="TextBox 5"/>
          <p:cNvSpPr txBox="1"/>
          <p:nvPr/>
        </p:nvSpPr>
        <p:spPr>
          <a:xfrm>
            <a:off x="685800" y="2048256"/>
            <a:ext cx="1920240" cy="27432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B1D9"/>
                </a:solidFill>
                <a:effectLst/>
                <a:uLnTx/>
                <a:uFillTx/>
                <a:latin typeface="Aptos"/>
                <a:ea typeface="+mn-ea"/>
                <a:cs typeface="+mn-cs"/>
              </a:rPr>
              <a:t>FILES</a:t>
            </a:r>
          </a:p>
        </p:txBody>
      </p:sp>
      <p:sp>
        <p:nvSpPr>
          <p:cNvPr id="7" name="Rectangle 6"/>
          <p:cNvSpPr/>
          <p:nvPr/>
        </p:nvSpPr>
        <p:spPr>
          <a:xfrm>
            <a:off x="1545336" y="2487168"/>
            <a:ext cx="146304" cy="146304"/>
          </a:xfrm>
          <a:prstGeom prst="rect">
            <a:avLst/>
          </a:prstGeom>
          <a:solidFill>
            <a:srgbClr val="00B1D9"/>
          </a:solidFill>
          <a:ln>
            <a:solidFill>
              <a:srgbClr val="00B1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8" name="TextBox 7"/>
          <p:cNvSpPr txBox="1"/>
          <p:nvPr/>
        </p:nvSpPr>
        <p:spPr>
          <a:xfrm>
            <a:off x="685800" y="2852928"/>
            <a:ext cx="1920240" cy="3693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8FFFD"/>
                </a:solidFill>
                <a:effectLst/>
                <a:uLnTx/>
                <a:uFillTx/>
                <a:latin typeface="Aptos"/>
                <a:ea typeface="+mn-ea"/>
                <a:cs typeface="+mn-cs"/>
              </a:rPr>
              <a:t>What may it read
or modify?</a:t>
            </a:r>
          </a:p>
        </p:txBody>
      </p:sp>
      <p:sp>
        <p:nvSpPr>
          <p:cNvPr id="9" name="TextBox 8"/>
          <p:cNvSpPr txBox="1"/>
          <p:nvPr/>
        </p:nvSpPr>
        <p:spPr>
          <a:xfrm>
            <a:off x="2953512" y="2048256"/>
            <a:ext cx="1920240" cy="27432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3361E1"/>
                </a:solidFill>
                <a:effectLst/>
                <a:uLnTx/>
                <a:uFillTx/>
                <a:latin typeface="Aptos"/>
                <a:ea typeface="+mn-ea"/>
                <a:cs typeface="+mn-cs"/>
              </a:rPr>
              <a:t>TOOLS</a:t>
            </a:r>
          </a:p>
        </p:txBody>
      </p:sp>
      <p:sp>
        <p:nvSpPr>
          <p:cNvPr id="10" name="Rectangle 9"/>
          <p:cNvSpPr/>
          <p:nvPr/>
        </p:nvSpPr>
        <p:spPr>
          <a:xfrm>
            <a:off x="3813048" y="2487168"/>
            <a:ext cx="146304" cy="146304"/>
          </a:xfrm>
          <a:prstGeom prst="rect">
            <a:avLst/>
          </a:prstGeom>
          <a:solidFill>
            <a:srgbClr val="3361E1"/>
          </a:solidFill>
          <a:ln>
            <a:solidFill>
              <a:srgbClr val="3361E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TextBox 10"/>
          <p:cNvSpPr txBox="1"/>
          <p:nvPr/>
        </p:nvSpPr>
        <p:spPr>
          <a:xfrm>
            <a:off x="2953512" y="2852928"/>
            <a:ext cx="1920240" cy="3693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8FFFD"/>
                </a:solidFill>
                <a:effectLst/>
                <a:uLnTx/>
                <a:uFillTx/>
                <a:latin typeface="Aptos"/>
                <a:ea typeface="+mn-ea"/>
                <a:cs typeface="+mn-cs"/>
              </a:rPr>
              <a:t>What may it invoke—
and with which arguments?</a:t>
            </a:r>
          </a:p>
        </p:txBody>
      </p:sp>
      <p:sp>
        <p:nvSpPr>
          <p:cNvPr id="12" name="TextBox 11"/>
          <p:cNvSpPr txBox="1"/>
          <p:nvPr/>
        </p:nvSpPr>
        <p:spPr>
          <a:xfrm>
            <a:off x="5221224" y="2048256"/>
            <a:ext cx="1920240" cy="27432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7E41E8"/>
                </a:solidFill>
                <a:effectLst/>
                <a:uLnTx/>
                <a:uFillTx/>
                <a:latin typeface="Aptos"/>
                <a:ea typeface="+mn-ea"/>
                <a:cs typeface="+mn-cs"/>
              </a:rPr>
              <a:t>IDENTITY</a:t>
            </a:r>
          </a:p>
        </p:txBody>
      </p:sp>
      <p:sp>
        <p:nvSpPr>
          <p:cNvPr id="13" name="Rectangle 12"/>
          <p:cNvSpPr/>
          <p:nvPr/>
        </p:nvSpPr>
        <p:spPr>
          <a:xfrm>
            <a:off x="6080760" y="2487168"/>
            <a:ext cx="146304" cy="146304"/>
          </a:xfrm>
          <a:prstGeom prst="rect">
            <a:avLst/>
          </a:prstGeom>
          <a:solidFill>
            <a:srgbClr val="7E41E8"/>
          </a:solidFill>
          <a:ln>
            <a:solidFill>
              <a:srgbClr val="7E41E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4" name="TextBox 13"/>
          <p:cNvSpPr txBox="1"/>
          <p:nvPr/>
        </p:nvSpPr>
        <p:spPr>
          <a:xfrm>
            <a:off x="5221224" y="2852928"/>
            <a:ext cx="1920240" cy="3693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8FFFD"/>
                </a:solidFill>
                <a:effectLst/>
                <a:uLnTx/>
                <a:uFillTx/>
                <a:latin typeface="Aptos"/>
                <a:ea typeface="+mn-ea"/>
                <a:cs typeface="+mn-cs"/>
              </a:rPr>
              <a:t>Which account, token,
or privilege level?</a:t>
            </a:r>
          </a:p>
        </p:txBody>
      </p:sp>
      <p:sp>
        <p:nvSpPr>
          <p:cNvPr id="15" name="TextBox 14"/>
          <p:cNvSpPr txBox="1"/>
          <p:nvPr/>
        </p:nvSpPr>
        <p:spPr>
          <a:xfrm>
            <a:off x="7488936" y="2048256"/>
            <a:ext cx="1920240" cy="27432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E69326"/>
                </a:solidFill>
                <a:effectLst/>
                <a:uLnTx/>
                <a:uFillTx/>
                <a:latin typeface="Aptos"/>
                <a:ea typeface="+mn-ea"/>
                <a:cs typeface="+mn-cs"/>
              </a:rPr>
              <a:t>DESTINATIONS</a:t>
            </a:r>
          </a:p>
        </p:txBody>
      </p:sp>
      <p:sp>
        <p:nvSpPr>
          <p:cNvPr id="16" name="Rectangle 15"/>
          <p:cNvSpPr/>
          <p:nvPr/>
        </p:nvSpPr>
        <p:spPr>
          <a:xfrm>
            <a:off x="8348471" y="2487168"/>
            <a:ext cx="146304" cy="146304"/>
          </a:xfrm>
          <a:prstGeom prst="rect">
            <a:avLst/>
          </a:prstGeom>
          <a:solidFill>
            <a:srgbClr val="E69326"/>
          </a:solidFill>
          <a:ln>
            <a:solidFill>
              <a:srgbClr val="E6932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7" name="TextBox 16"/>
          <p:cNvSpPr txBox="1"/>
          <p:nvPr/>
        </p:nvSpPr>
        <p:spPr>
          <a:xfrm>
            <a:off x="7488936" y="2852928"/>
            <a:ext cx="1920240" cy="3693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8FFFD"/>
                </a:solidFill>
                <a:effectLst/>
                <a:uLnTx/>
                <a:uFillTx/>
                <a:latin typeface="Aptos"/>
                <a:ea typeface="+mn-ea"/>
                <a:cs typeface="+mn-cs"/>
              </a:rPr>
              <a:t>Where may data
or output go?</a:t>
            </a:r>
          </a:p>
        </p:txBody>
      </p:sp>
      <p:sp>
        <p:nvSpPr>
          <p:cNvPr id="18" name="TextBox 17"/>
          <p:cNvSpPr txBox="1"/>
          <p:nvPr/>
        </p:nvSpPr>
        <p:spPr>
          <a:xfrm>
            <a:off x="9756648" y="2048256"/>
            <a:ext cx="1920240" cy="27432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EF3281"/>
                </a:solidFill>
                <a:effectLst/>
                <a:uLnTx/>
                <a:uFillTx/>
                <a:latin typeface="Aptos"/>
                <a:ea typeface="+mn-ea"/>
                <a:cs typeface="+mn-cs"/>
              </a:rPr>
              <a:t>APPROVALS</a:t>
            </a:r>
          </a:p>
        </p:txBody>
      </p:sp>
      <p:sp>
        <p:nvSpPr>
          <p:cNvPr id="19" name="Rectangle 18"/>
          <p:cNvSpPr/>
          <p:nvPr/>
        </p:nvSpPr>
        <p:spPr>
          <a:xfrm>
            <a:off x="10616184" y="2487168"/>
            <a:ext cx="146304" cy="146304"/>
          </a:xfrm>
          <a:prstGeom prst="rect">
            <a:avLst/>
          </a:prstGeom>
          <a:solidFill>
            <a:srgbClr val="EF3281"/>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0" name="TextBox 19"/>
          <p:cNvSpPr txBox="1"/>
          <p:nvPr/>
        </p:nvSpPr>
        <p:spPr>
          <a:xfrm>
            <a:off x="9756648" y="2852928"/>
            <a:ext cx="1920240" cy="369332"/>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8FFFD"/>
                </a:solidFill>
                <a:effectLst/>
                <a:uLnTx/>
                <a:uFillTx/>
                <a:latin typeface="Aptos"/>
                <a:ea typeface="+mn-ea"/>
                <a:cs typeface="+mn-cs"/>
              </a:rPr>
              <a:t>Which actions require
explicit confirmation?</a:t>
            </a:r>
          </a:p>
        </p:txBody>
      </p:sp>
      <p:sp>
        <p:nvSpPr>
          <p:cNvPr id="21" name="Rectangle 20"/>
          <p:cNvSpPr/>
          <p:nvPr/>
        </p:nvSpPr>
        <p:spPr>
          <a:xfrm>
            <a:off x="749808" y="4087368"/>
            <a:ext cx="4892040" cy="1170432"/>
          </a:xfrm>
          <a:prstGeom prst="rect">
            <a:avLst/>
          </a:prstGeom>
          <a:solidFill>
            <a:srgbClr val="E8F7F1"/>
          </a:solidFill>
          <a:ln>
            <a:solidFill>
              <a:srgbClr val="00AA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TextBox 21"/>
          <p:cNvSpPr txBox="1"/>
          <p:nvPr/>
        </p:nvSpPr>
        <p:spPr>
          <a:xfrm>
            <a:off x="1024128" y="4343400"/>
            <a:ext cx="1097280"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00AA80"/>
                </a:solidFill>
                <a:effectLst/>
                <a:uLnTx/>
                <a:uFillTx/>
                <a:latin typeface="Aptos"/>
                <a:ea typeface="+mn-ea"/>
                <a:cs typeface="+mn-cs"/>
              </a:rPr>
              <a:t>ALLOWED</a:t>
            </a:r>
          </a:p>
        </p:txBody>
      </p:sp>
      <p:sp>
        <p:nvSpPr>
          <p:cNvPr id="23" name="TextBox 22"/>
          <p:cNvSpPr txBox="1"/>
          <p:nvPr/>
        </p:nvSpPr>
        <p:spPr>
          <a:xfrm>
            <a:off x="1024128" y="4681728"/>
            <a:ext cx="4297680" cy="3200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D162B"/>
                </a:solidFill>
                <a:effectLst/>
                <a:uLnTx/>
                <a:uFillTx/>
                <a:latin typeface="Aptos"/>
                <a:ea typeface="+mn-ea"/>
                <a:cs typeface="+mn-cs"/>
              </a:rPr>
              <a:t>/repo/src  •  package manifests  •  approved scanner</a:t>
            </a:r>
          </a:p>
        </p:txBody>
      </p:sp>
      <p:sp>
        <p:nvSpPr>
          <p:cNvPr id="24" name="Rectangle 23"/>
          <p:cNvSpPr/>
          <p:nvPr/>
        </p:nvSpPr>
        <p:spPr>
          <a:xfrm>
            <a:off x="6080760" y="4087368"/>
            <a:ext cx="5029200" cy="1170432"/>
          </a:xfrm>
          <a:prstGeom prst="rect">
            <a:avLst/>
          </a:prstGeom>
          <a:solidFill>
            <a:srgbClr val="FCEDF5"/>
          </a:solidFill>
          <a:ln>
            <a:solidFill>
              <a:srgbClr val="D73F4A"/>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5" name="TextBox 24"/>
          <p:cNvSpPr txBox="1"/>
          <p:nvPr/>
        </p:nvSpPr>
        <p:spPr>
          <a:xfrm>
            <a:off x="6355080" y="4343400"/>
            <a:ext cx="1280160"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D73F4A"/>
                </a:solidFill>
                <a:effectLst/>
                <a:uLnTx/>
                <a:uFillTx/>
                <a:latin typeface="Aptos"/>
                <a:ea typeface="+mn-ea"/>
                <a:cs typeface="+mn-cs"/>
              </a:rPr>
              <a:t>PROHIBITED</a:t>
            </a:r>
          </a:p>
        </p:txBody>
      </p:sp>
      <p:sp>
        <p:nvSpPr>
          <p:cNvPr id="26" name="TextBox 25"/>
          <p:cNvSpPr txBox="1"/>
          <p:nvPr/>
        </p:nvSpPr>
        <p:spPr>
          <a:xfrm>
            <a:off x="6355080" y="4681728"/>
            <a:ext cx="4434840" cy="3200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D162B"/>
                </a:solidFill>
                <a:effectLst/>
                <a:uLnTx/>
                <a:uFillTx/>
                <a:latin typeface="Aptos"/>
                <a:ea typeface="+mn-ea"/>
                <a:cs typeface="+mn-cs"/>
              </a:rPr>
              <a:t>.env  •  user profile  •  credential stores  •  unrelated repos</a:t>
            </a:r>
          </a:p>
        </p:txBody>
      </p:sp>
      <p:sp>
        <p:nvSpPr>
          <p:cNvPr id="27" name="TextBox 26"/>
          <p:cNvSpPr txBox="1"/>
          <p:nvPr/>
        </p:nvSpPr>
        <p:spPr>
          <a:xfrm>
            <a:off x="749808" y="5806440"/>
            <a:ext cx="10378440" cy="32004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00B1D9"/>
                </a:solidFill>
                <a:effectLst/>
                <a:uLnTx/>
                <a:uFillTx/>
                <a:latin typeface="Aptos"/>
                <a:ea typeface="+mn-ea"/>
                <a:cs typeface="+mn-cs"/>
              </a:rPr>
              <a:t>The agent cannot misuse access it was never given.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D2DA6-EE7B-AB8A-8182-6E7BD1439E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9227D6-8FB6-226E-7C7F-BCC69D8B3710}"/>
              </a:ext>
            </a:extLst>
          </p:cNvPr>
          <p:cNvSpPr txBox="1"/>
          <p:nvPr/>
        </p:nvSpPr>
        <p:spPr>
          <a:xfrm>
            <a:off x="658368" y="667512"/>
            <a:ext cx="10744200" cy="430887"/>
          </a:xfrm>
          <a:prstGeom prst="rect">
            <a:avLst/>
          </a:prstGeom>
          <a:noFill/>
        </p:spPr>
        <p:txBody>
          <a:bodyPr wrap="square" lIns="0" tIns="0" rIns="0" bIns="0" anchor="t">
            <a:spAutoFit/>
          </a:bodyPr>
          <a:lstStyle/>
          <a:p>
            <a:pPr algn="l"/>
            <a:r>
              <a:rPr sz="2800" b="1" dirty="0">
                <a:solidFill>
                  <a:schemeClr val="bg2"/>
                </a:solidFill>
                <a:latin typeface="Aptos"/>
              </a:rPr>
              <a:t>Best practice #</a:t>
            </a:r>
            <a:r>
              <a:rPr lang="en-US" sz="2800" b="1" dirty="0">
                <a:solidFill>
                  <a:schemeClr val="bg2"/>
                </a:solidFill>
                <a:latin typeface="Aptos"/>
              </a:rPr>
              <a:t>5 example</a:t>
            </a:r>
            <a:r>
              <a:rPr sz="2800" b="1" dirty="0">
                <a:solidFill>
                  <a:schemeClr val="bg2"/>
                </a:solidFill>
                <a:latin typeface="Aptos"/>
              </a:rPr>
              <a:t>: </a:t>
            </a:r>
            <a:r>
              <a:rPr lang="en-US" sz="2800" b="1" dirty="0">
                <a:solidFill>
                  <a:schemeClr val="bg2"/>
                </a:solidFill>
                <a:latin typeface="Aptos"/>
              </a:rPr>
              <a:t>Enforce access and security</a:t>
            </a:r>
            <a:endParaRPr sz="2800" b="1" dirty="0">
              <a:solidFill>
                <a:schemeClr val="bg2"/>
              </a:solidFill>
              <a:latin typeface="Aptos"/>
            </a:endParaRPr>
          </a:p>
        </p:txBody>
      </p:sp>
      <p:sp>
        <p:nvSpPr>
          <p:cNvPr id="4" name="TextBox 3">
            <a:extLst>
              <a:ext uri="{FF2B5EF4-FFF2-40B4-BE49-F238E27FC236}">
                <a16:creationId xmlns:a16="http://schemas.microsoft.com/office/drawing/2014/main" id="{F1736206-C999-360F-8817-EEFD42F258A6}"/>
              </a:ext>
            </a:extLst>
          </p:cNvPr>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576276"/>
                </a:solidFill>
                <a:latin typeface="Aptos"/>
              </a:rPr>
              <a:t>10</a:t>
            </a:r>
          </a:p>
        </p:txBody>
      </p:sp>
      <p:sp>
        <p:nvSpPr>
          <p:cNvPr id="6" name="TextBox 5">
            <a:extLst>
              <a:ext uri="{FF2B5EF4-FFF2-40B4-BE49-F238E27FC236}">
                <a16:creationId xmlns:a16="http://schemas.microsoft.com/office/drawing/2014/main" id="{79D2AF5B-D21E-1873-1339-EAC3C873B637}"/>
              </a:ext>
            </a:extLst>
          </p:cNvPr>
          <p:cNvSpPr txBox="1"/>
          <p:nvPr/>
        </p:nvSpPr>
        <p:spPr>
          <a:xfrm>
            <a:off x="2428630" y="1382377"/>
            <a:ext cx="6138984" cy="3416320"/>
          </a:xfrm>
          <a:prstGeom prst="rect">
            <a:avLst/>
          </a:prstGeom>
          <a:noFill/>
        </p:spPr>
        <p:txBody>
          <a:bodyPr wrap="square">
            <a:spAutoFit/>
          </a:bodyPr>
          <a:lstStyle/>
          <a:p>
            <a:r>
              <a:rPr lang="en-US" dirty="0">
                <a:solidFill>
                  <a:schemeClr val="bg1"/>
                </a:solidFill>
              </a:rPr>
              <a:t>## Access contract</a:t>
            </a:r>
            <a:br>
              <a:rPr lang="en-US" dirty="0">
                <a:solidFill>
                  <a:schemeClr val="bg1"/>
                </a:solidFill>
              </a:rPr>
            </a:br>
            <a:endParaRPr lang="en-US" dirty="0">
              <a:solidFill>
                <a:schemeClr val="bg1"/>
              </a:solidFill>
            </a:endParaRPr>
          </a:p>
          <a:p>
            <a:pPr marL="285750" indent="-285750">
              <a:buFontTx/>
              <a:buChar char="-"/>
            </a:pPr>
            <a:r>
              <a:rPr lang="en-US" dirty="0">
                <a:solidFill>
                  <a:schemeClr val="bg1"/>
                </a:solidFill>
              </a:rPr>
              <a:t>**Read:** Only the requested diff and relevant files under `</a:t>
            </a:r>
            <a:r>
              <a:rPr lang="en-US" dirty="0" err="1">
                <a:solidFill>
                  <a:schemeClr val="bg1"/>
                </a:solidFill>
              </a:rPr>
              <a:t>src</a:t>
            </a:r>
            <a:r>
              <a:rPr lang="en-US" dirty="0">
                <a:solidFill>
                  <a:schemeClr val="bg1"/>
                </a:solidFill>
              </a:rPr>
              <a:t>/` and `tests/`.</a:t>
            </a:r>
          </a:p>
          <a:p>
            <a:pPr marL="285750" indent="-285750">
              <a:buFontTx/>
              <a:buChar char="-"/>
            </a:pPr>
            <a:r>
              <a:rPr lang="en-US" dirty="0">
                <a:solidFill>
                  <a:schemeClr val="bg1"/>
                </a:solidFill>
              </a:rPr>
              <a:t>**Write:** Report in chat. Write to `reports/` only with user approval.</a:t>
            </a:r>
          </a:p>
          <a:p>
            <a:pPr marL="285750" indent="-285750">
              <a:buFontTx/>
              <a:buChar char="-"/>
            </a:pPr>
            <a:r>
              <a:rPr lang="en-US" dirty="0">
                <a:solidFill>
                  <a:schemeClr val="bg1"/>
                </a:solidFill>
              </a:rPr>
              <a:t>**Credentials:** Do not access `.env`, tokens, browser profiles, or credential stores.</a:t>
            </a:r>
          </a:p>
          <a:p>
            <a:pPr marL="285750" indent="-285750">
              <a:buFontTx/>
              <a:buChar char="-"/>
            </a:pPr>
            <a:r>
              <a:rPr lang="en-US" dirty="0">
                <a:solidFill>
                  <a:schemeClr val="bg1"/>
                </a:solidFill>
              </a:rPr>
              <a:t>**External send:** Do not upload code, findings, or file contents to external services.</a:t>
            </a:r>
          </a:p>
          <a:p>
            <a:pPr marL="285750" indent="-285750">
              <a:buFontTx/>
              <a:buChar char="-"/>
            </a:pPr>
            <a:r>
              <a:rPr lang="en-US" dirty="0">
                <a:solidFill>
                  <a:schemeClr val="bg1"/>
                </a:solidFill>
              </a:rPr>
              <a:t>**Commands:** Do not install packages or run repository scripts.</a:t>
            </a:r>
          </a:p>
        </p:txBody>
      </p:sp>
    </p:spTree>
    <p:extLst>
      <p:ext uri="{BB962C8B-B14F-4D97-AF65-F5344CB8AC3E}">
        <p14:creationId xmlns:p14="http://schemas.microsoft.com/office/powerpoint/2010/main" val="1085337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667512"/>
            <a:ext cx="1074420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a:ln>
                  <a:noFill/>
                </a:ln>
                <a:solidFill>
                  <a:srgbClr val="F8FFFD"/>
                </a:solidFill>
                <a:effectLst/>
                <a:uLnTx/>
                <a:uFillTx/>
                <a:latin typeface="Aptos"/>
                <a:ea typeface="+mn-ea"/>
                <a:cs typeface="+mn-cs"/>
              </a:rPr>
              <a:t>Best practice #6: Define failure</a:t>
            </a:r>
            <a:r>
              <a:rPr kumimoji="0" lang="en-US" sz="2800" b="1" i="0" u="none" strike="noStrike" kern="1200" cap="none" spc="0" normalizeH="0" baseline="0" noProof="0" dirty="0">
                <a:ln>
                  <a:noFill/>
                </a:ln>
                <a:solidFill>
                  <a:srgbClr val="F8FFFD"/>
                </a:solidFill>
                <a:effectLst/>
                <a:uLnTx/>
                <a:uFillTx/>
                <a:latin typeface="Aptos"/>
                <a:ea typeface="+mn-ea"/>
                <a:cs typeface="+mn-cs"/>
              </a:rPr>
              <a:t> and approval behavior</a:t>
            </a:r>
            <a:endParaRPr kumimoji="0" sz="2800" b="1" i="0" u="none" strike="noStrike" kern="1200" cap="none" spc="0" normalizeH="0" baseline="0" noProof="0" dirty="0">
              <a:ln>
                <a:noFill/>
              </a:ln>
              <a:solidFill>
                <a:srgbClr val="F8FFFD"/>
              </a:solidFill>
              <a:effectLst/>
              <a:uLnTx/>
              <a:uFillTx/>
              <a:latin typeface="Aptos"/>
              <a:ea typeface="+mn-ea"/>
              <a:cs typeface="+mn-cs"/>
            </a:endParaRPr>
          </a:p>
        </p:txBody>
      </p:sp>
      <p:sp>
        <p:nvSpPr>
          <p:cNvPr id="3" name="TextBox 2"/>
          <p:cNvSpPr txBox="1"/>
          <p:nvPr/>
        </p:nvSpPr>
        <p:spPr>
          <a:xfrm>
            <a:off x="502920" y="6519672"/>
            <a:ext cx="5760720" cy="12801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20" b="1" i="0" u="none" strike="noStrike" kern="1200" cap="none" spc="0" normalizeH="0" baseline="0" noProof="0">
                <a:ln>
                  <a:noFill/>
                </a:ln>
                <a:solidFill>
                  <a:srgbClr val="576276"/>
                </a:solidFill>
                <a:effectLst/>
                <a:uLnTx/>
                <a:uFillTx/>
                <a:latin typeface="Aptos"/>
                <a:ea typeface="+mn-ea"/>
                <a:cs typeface="+mn-cs"/>
              </a:rPr>
              <a:t>INFOSEC WORLD 2026  /  USEFUL + SECURE AI SKILLS</a:t>
            </a:r>
          </a:p>
        </p:txBody>
      </p:sp>
      <p:sp>
        <p:nvSpPr>
          <p:cNvPr id="4" name="TextBox 3"/>
          <p:cNvSpPr txBox="1"/>
          <p:nvPr/>
        </p:nvSpPr>
        <p:spPr>
          <a:xfrm>
            <a:off x="11091672" y="6473952"/>
            <a:ext cx="438912" cy="164592"/>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576276"/>
                </a:solidFill>
                <a:effectLst/>
                <a:uLnTx/>
                <a:uFillTx/>
                <a:latin typeface="Aptos"/>
                <a:ea typeface="+mn-ea"/>
                <a:cs typeface="+mn-cs"/>
              </a:rPr>
              <a:t>14</a:t>
            </a:r>
          </a:p>
        </p:txBody>
      </p:sp>
      <p:sp>
        <p:nvSpPr>
          <p:cNvPr id="5" name="TextBox 4"/>
          <p:cNvSpPr txBox="1"/>
          <p:nvPr/>
        </p:nvSpPr>
        <p:spPr>
          <a:xfrm>
            <a:off x="749808" y="1335024"/>
            <a:ext cx="10241280" cy="29238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900" b="1" i="0" u="none" strike="noStrike" kern="1200" cap="none" spc="0" normalizeH="0" baseline="0" noProof="0" dirty="0">
                <a:ln>
                  <a:noFill/>
                </a:ln>
                <a:solidFill>
                  <a:srgbClr val="F8FFFD"/>
                </a:solidFill>
                <a:effectLst/>
                <a:uLnTx/>
                <a:uFillTx/>
                <a:latin typeface="Aptos"/>
                <a:ea typeface="+mn-ea"/>
                <a:cs typeface="+mn-cs"/>
              </a:rPr>
              <a:t>Do not let the agent interpret obstacles as permission to improvise.</a:t>
            </a:r>
          </a:p>
        </p:txBody>
      </p:sp>
      <p:sp>
        <p:nvSpPr>
          <p:cNvPr id="6" name="Rectangle 5"/>
          <p:cNvSpPr/>
          <p:nvPr/>
        </p:nvSpPr>
        <p:spPr>
          <a:xfrm>
            <a:off x="749808" y="2057400"/>
            <a:ext cx="3246120" cy="2880360"/>
          </a:xfrm>
          <a:prstGeom prst="rect">
            <a:avLst/>
          </a:prstGeom>
          <a:solidFill>
            <a:srgbClr val="FFFFFF"/>
          </a:solidFill>
          <a:ln>
            <a:solidFill>
              <a:srgbClr val="00B1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7" name="TextBox 6"/>
          <p:cNvSpPr txBox="1"/>
          <p:nvPr/>
        </p:nvSpPr>
        <p:spPr>
          <a:xfrm>
            <a:off x="1005840" y="2340864"/>
            <a:ext cx="2743200" cy="32004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00B1D9"/>
                </a:solidFill>
                <a:effectLst/>
                <a:uLnTx/>
                <a:uFillTx/>
                <a:latin typeface="Aptos"/>
                <a:ea typeface="+mn-ea"/>
                <a:cs typeface="+mn-cs"/>
              </a:rPr>
              <a:t>ASK</a:t>
            </a:r>
          </a:p>
        </p:txBody>
      </p:sp>
      <p:sp>
        <p:nvSpPr>
          <p:cNvPr id="8" name="TextBox 7"/>
          <p:cNvSpPr txBox="1"/>
          <p:nvPr/>
        </p:nvSpPr>
        <p:spPr>
          <a:xfrm>
            <a:off x="1042415" y="2962656"/>
            <a:ext cx="256032"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B1D9"/>
                </a:solidFill>
                <a:effectLst/>
                <a:uLnTx/>
                <a:uFillTx/>
                <a:latin typeface="Aptos"/>
                <a:ea typeface="+mn-ea"/>
                <a:cs typeface="+mn-cs"/>
              </a:rPr>
              <a:t>—</a:t>
            </a:r>
          </a:p>
        </p:txBody>
      </p:sp>
      <p:sp>
        <p:nvSpPr>
          <p:cNvPr id="9" name="TextBox 8"/>
          <p:cNvSpPr txBox="1"/>
          <p:nvPr/>
        </p:nvSpPr>
        <p:spPr>
          <a:xfrm>
            <a:off x="1408176" y="2926080"/>
            <a:ext cx="2331720" cy="3931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D162B"/>
                </a:solidFill>
                <a:effectLst/>
                <a:uLnTx/>
                <a:uFillTx/>
                <a:latin typeface="Aptos"/>
                <a:ea typeface="+mn-ea"/>
                <a:cs typeface="+mn-cs"/>
              </a:rPr>
              <a:t>Required input is missing</a:t>
            </a:r>
          </a:p>
        </p:txBody>
      </p:sp>
      <p:sp>
        <p:nvSpPr>
          <p:cNvPr id="10" name="TextBox 9"/>
          <p:cNvSpPr txBox="1"/>
          <p:nvPr/>
        </p:nvSpPr>
        <p:spPr>
          <a:xfrm>
            <a:off x="1042415" y="3465576"/>
            <a:ext cx="256032"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B1D9"/>
                </a:solidFill>
                <a:effectLst/>
                <a:uLnTx/>
                <a:uFillTx/>
                <a:latin typeface="Aptos"/>
                <a:ea typeface="+mn-ea"/>
                <a:cs typeface="+mn-cs"/>
              </a:rPr>
              <a:t>—</a:t>
            </a:r>
          </a:p>
        </p:txBody>
      </p:sp>
      <p:sp>
        <p:nvSpPr>
          <p:cNvPr id="11" name="TextBox 10"/>
          <p:cNvSpPr txBox="1"/>
          <p:nvPr/>
        </p:nvSpPr>
        <p:spPr>
          <a:xfrm>
            <a:off x="1408176" y="3429000"/>
            <a:ext cx="2331720" cy="3931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D162B"/>
                </a:solidFill>
                <a:effectLst/>
                <a:uLnTx/>
                <a:uFillTx/>
                <a:latin typeface="Aptos"/>
                <a:ea typeface="+mn-ea"/>
                <a:cs typeface="+mn-cs"/>
              </a:rPr>
              <a:t>Additional access could complete the task</a:t>
            </a:r>
          </a:p>
        </p:txBody>
      </p:sp>
      <p:sp>
        <p:nvSpPr>
          <p:cNvPr id="12" name="TextBox 11"/>
          <p:cNvSpPr txBox="1"/>
          <p:nvPr/>
        </p:nvSpPr>
        <p:spPr>
          <a:xfrm>
            <a:off x="1042415" y="3968496"/>
            <a:ext cx="256032"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00B1D9"/>
                </a:solidFill>
                <a:effectLst/>
                <a:uLnTx/>
                <a:uFillTx/>
                <a:latin typeface="Aptos"/>
                <a:ea typeface="+mn-ea"/>
                <a:cs typeface="+mn-cs"/>
              </a:rPr>
              <a:t>—</a:t>
            </a:r>
          </a:p>
        </p:txBody>
      </p:sp>
      <p:sp>
        <p:nvSpPr>
          <p:cNvPr id="13" name="TextBox 12"/>
          <p:cNvSpPr txBox="1"/>
          <p:nvPr/>
        </p:nvSpPr>
        <p:spPr>
          <a:xfrm>
            <a:off x="1408176" y="3931920"/>
            <a:ext cx="2331720" cy="3931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D162B"/>
                </a:solidFill>
                <a:effectLst/>
                <a:uLnTx/>
                <a:uFillTx/>
                <a:latin typeface="Aptos"/>
                <a:ea typeface="+mn-ea"/>
                <a:cs typeface="+mn-cs"/>
              </a:rPr>
              <a:t>A consequential action needs approval</a:t>
            </a:r>
          </a:p>
        </p:txBody>
      </p:sp>
      <p:sp>
        <p:nvSpPr>
          <p:cNvPr id="14" name="Rectangle 13"/>
          <p:cNvSpPr/>
          <p:nvPr/>
        </p:nvSpPr>
        <p:spPr>
          <a:xfrm>
            <a:off x="4407408" y="2057400"/>
            <a:ext cx="3246120" cy="2880360"/>
          </a:xfrm>
          <a:prstGeom prst="rect">
            <a:avLst/>
          </a:prstGeom>
          <a:solidFill>
            <a:srgbClr val="FFFFFF"/>
          </a:solidFill>
          <a:ln>
            <a:solidFill>
              <a:srgbClr val="E6932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5" name="TextBox 14"/>
          <p:cNvSpPr txBox="1"/>
          <p:nvPr/>
        </p:nvSpPr>
        <p:spPr>
          <a:xfrm>
            <a:off x="4663440" y="2340864"/>
            <a:ext cx="2743200" cy="32004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E69326"/>
                </a:solidFill>
                <a:effectLst/>
                <a:uLnTx/>
                <a:uFillTx/>
                <a:latin typeface="Aptos"/>
                <a:ea typeface="+mn-ea"/>
                <a:cs typeface="+mn-cs"/>
              </a:rPr>
              <a:t>FAIL SAFELY</a:t>
            </a:r>
          </a:p>
        </p:txBody>
      </p:sp>
      <p:sp>
        <p:nvSpPr>
          <p:cNvPr id="16" name="TextBox 15"/>
          <p:cNvSpPr txBox="1"/>
          <p:nvPr/>
        </p:nvSpPr>
        <p:spPr>
          <a:xfrm>
            <a:off x="4700016" y="2962656"/>
            <a:ext cx="256032"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E69326"/>
                </a:solidFill>
                <a:effectLst/>
                <a:uLnTx/>
                <a:uFillTx/>
                <a:latin typeface="Aptos"/>
                <a:ea typeface="+mn-ea"/>
                <a:cs typeface="+mn-cs"/>
              </a:rPr>
              <a:t>—</a:t>
            </a:r>
          </a:p>
        </p:txBody>
      </p:sp>
      <p:sp>
        <p:nvSpPr>
          <p:cNvPr id="17" name="TextBox 16"/>
          <p:cNvSpPr txBox="1"/>
          <p:nvPr/>
        </p:nvSpPr>
        <p:spPr>
          <a:xfrm>
            <a:off x="5065776" y="2926080"/>
            <a:ext cx="2331720" cy="3931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D162B"/>
                </a:solidFill>
                <a:effectLst/>
                <a:uLnTx/>
                <a:uFillTx/>
                <a:latin typeface="Aptos"/>
                <a:ea typeface="+mn-ea"/>
                <a:cs typeface="+mn-cs"/>
              </a:rPr>
              <a:t>Evidence is unavailable</a:t>
            </a:r>
          </a:p>
        </p:txBody>
      </p:sp>
      <p:sp>
        <p:nvSpPr>
          <p:cNvPr id="18" name="TextBox 17"/>
          <p:cNvSpPr txBox="1"/>
          <p:nvPr/>
        </p:nvSpPr>
        <p:spPr>
          <a:xfrm>
            <a:off x="4700016" y="3465576"/>
            <a:ext cx="256032"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E69326"/>
                </a:solidFill>
                <a:effectLst/>
                <a:uLnTx/>
                <a:uFillTx/>
                <a:latin typeface="Aptos"/>
                <a:ea typeface="+mn-ea"/>
                <a:cs typeface="+mn-cs"/>
              </a:rPr>
              <a:t>—</a:t>
            </a:r>
          </a:p>
        </p:txBody>
      </p:sp>
      <p:sp>
        <p:nvSpPr>
          <p:cNvPr id="19" name="TextBox 18"/>
          <p:cNvSpPr txBox="1"/>
          <p:nvPr/>
        </p:nvSpPr>
        <p:spPr>
          <a:xfrm>
            <a:off x="5065776" y="3429000"/>
            <a:ext cx="2331720" cy="3931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D162B"/>
                </a:solidFill>
                <a:effectLst/>
                <a:uLnTx/>
                <a:uFillTx/>
                <a:latin typeface="Aptos"/>
                <a:ea typeface="+mn-ea"/>
                <a:cs typeface="+mn-cs"/>
              </a:rPr>
              <a:t>An approved tool fails</a:t>
            </a:r>
          </a:p>
        </p:txBody>
      </p:sp>
      <p:sp>
        <p:nvSpPr>
          <p:cNvPr id="20" name="TextBox 19"/>
          <p:cNvSpPr txBox="1"/>
          <p:nvPr/>
        </p:nvSpPr>
        <p:spPr>
          <a:xfrm>
            <a:off x="4700016" y="3968496"/>
            <a:ext cx="256032"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E69326"/>
                </a:solidFill>
                <a:effectLst/>
                <a:uLnTx/>
                <a:uFillTx/>
                <a:latin typeface="Aptos"/>
                <a:ea typeface="+mn-ea"/>
                <a:cs typeface="+mn-cs"/>
              </a:rPr>
              <a:t>—</a:t>
            </a:r>
          </a:p>
        </p:txBody>
      </p:sp>
      <p:sp>
        <p:nvSpPr>
          <p:cNvPr id="21" name="TextBox 20"/>
          <p:cNvSpPr txBox="1"/>
          <p:nvPr/>
        </p:nvSpPr>
        <p:spPr>
          <a:xfrm>
            <a:off x="5065776" y="3931920"/>
            <a:ext cx="2331720" cy="3931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D162B"/>
                </a:solidFill>
                <a:effectLst/>
                <a:uLnTx/>
                <a:uFillTx/>
                <a:latin typeface="Aptos"/>
                <a:ea typeface="+mn-ea"/>
                <a:cs typeface="+mn-cs"/>
              </a:rPr>
              <a:t>A reliable conclusion is not possible</a:t>
            </a:r>
          </a:p>
        </p:txBody>
      </p:sp>
      <p:sp>
        <p:nvSpPr>
          <p:cNvPr id="22" name="Rectangle 21"/>
          <p:cNvSpPr/>
          <p:nvPr/>
        </p:nvSpPr>
        <p:spPr>
          <a:xfrm>
            <a:off x="8065008" y="2057400"/>
            <a:ext cx="3246120" cy="2880360"/>
          </a:xfrm>
          <a:prstGeom prst="rect">
            <a:avLst/>
          </a:prstGeom>
          <a:solidFill>
            <a:srgbClr val="FFFFFF"/>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3" name="TextBox 22"/>
          <p:cNvSpPr txBox="1"/>
          <p:nvPr/>
        </p:nvSpPr>
        <p:spPr>
          <a:xfrm>
            <a:off x="8321040" y="2340864"/>
            <a:ext cx="2743200" cy="32004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EF3281"/>
                </a:solidFill>
                <a:effectLst/>
                <a:uLnTx/>
                <a:uFillTx/>
                <a:latin typeface="Aptos"/>
                <a:ea typeface="+mn-ea"/>
                <a:cs typeface="+mn-cs"/>
              </a:rPr>
              <a:t>STOP</a:t>
            </a:r>
          </a:p>
        </p:txBody>
      </p:sp>
      <p:sp>
        <p:nvSpPr>
          <p:cNvPr id="24" name="TextBox 23"/>
          <p:cNvSpPr txBox="1"/>
          <p:nvPr/>
        </p:nvSpPr>
        <p:spPr>
          <a:xfrm>
            <a:off x="8357616" y="2962656"/>
            <a:ext cx="256032"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EF3281"/>
                </a:solidFill>
                <a:effectLst/>
                <a:uLnTx/>
                <a:uFillTx/>
                <a:latin typeface="Aptos"/>
                <a:ea typeface="+mn-ea"/>
                <a:cs typeface="+mn-cs"/>
              </a:rPr>
              <a:t>—</a:t>
            </a:r>
          </a:p>
        </p:txBody>
      </p:sp>
      <p:sp>
        <p:nvSpPr>
          <p:cNvPr id="25" name="TextBox 24"/>
          <p:cNvSpPr txBox="1"/>
          <p:nvPr/>
        </p:nvSpPr>
        <p:spPr>
          <a:xfrm>
            <a:off x="8723376" y="2926080"/>
            <a:ext cx="2331720" cy="3931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D162B"/>
                </a:solidFill>
                <a:effectLst/>
                <a:uLnTx/>
                <a:uFillTx/>
                <a:latin typeface="Aptos"/>
                <a:ea typeface="+mn-ea"/>
                <a:cs typeface="+mn-cs"/>
              </a:rPr>
              <a:t>Content tries to redefine the task</a:t>
            </a:r>
          </a:p>
        </p:txBody>
      </p:sp>
      <p:sp>
        <p:nvSpPr>
          <p:cNvPr id="26" name="TextBox 25"/>
          <p:cNvSpPr txBox="1"/>
          <p:nvPr/>
        </p:nvSpPr>
        <p:spPr>
          <a:xfrm>
            <a:off x="8357616" y="3465576"/>
            <a:ext cx="256032"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EF3281"/>
                </a:solidFill>
                <a:effectLst/>
                <a:uLnTx/>
                <a:uFillTx/>
                <a:latin typeface="Aptos"/>
                <a:ea typeface="+mn-ea"/>
                <a:cs typeface="+mn-cs"/>
              </a:rPr>
              <a:t>—</a:t>
            </a:r>
          </a:p>
        </p:txBody>
      </p:sp>
      <p:sp>
        <p:nvSpPr>
          <p:cNvPr id="27" name="TextBox 26"/>
          <p:cNvSpPr txBox="1"/>
          <p:nvPr/>
        </p:nvSpPr>
        <p:spPr>
          <a:xfrm>
            <a:off x="8723376" y="3429000"/>
            <a:ext cx="2331720" cy="3931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D162B"/>
                </a:solidFill>
                <a:effectLst/>
                <a:uLnTx/>
                <a:uFillTx/>
                <a:latin typeface="Aptos"/>
                <a:ea typeface="+mn-ea"/>
                <a:cs typeface="+mn-cs"/>
              </a:rPr>
              <a:t>A prohibited resource is required</a:t>
            </a:r>
          </a:p>
        </p:txBody>
      </p:sp>
      <p:sp>
        <p:nvSpPr>
          <p:cNvPr id="28" name="TextBox 27"/>
          <p:cNvSpPr txBox="1"/>
          <p:nvPr/>
        </p:nvSpPr>
        <p:spPr>
          <a:xfrm>
            <a:off x="8357616" y="3968496"/>
            <a:ext cx="256032" cy="2286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EF3281"/>
                </a:solidFill>
                <a:effectLst/>
                <a:uLnTx/>
                <a:uFillTx/>
                <a:latin typeface="Aptos"/>
                <a:ea typeface="+mn-ea"/>
                <a:cs typeface="+mn-cs"/>
              </a:rPr>
              <a:t>—</a:t>
            </a:r>
          </a:p>
        </p:txBody>
      </p:sp>
      <p:sp>
        <p:nvSpPr>
          <p:cNvPr id="29" name="TextBox 28"/>
          <p:cNvSpPr txBox="1"/>
          <p:nvPr/>
        </p:nvSpPr>
        <p:spPr>
          <a:xfrm>
            <a:off x="8723376" y="3931920"/>
            <a:ext cx="2331720" cy="3931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a:ln>
                  <a:noFill/>
                </a:ln>
                <a:solidFill>
                  <a:srgbClr val="0D162B"/>
                </a:solidFill>
                <a:effectLst/>
                <a:uLnTx/>
                <a:uFillTx/>
                <a:latin typeface="Aptos"/>
                <a:ea typeface="+mn-ea"/>
                <a:cs typeface="+mn-cs"/>
              </a:rPr>
              <a:t>The requested artifact is complete</a:t>
            </a:r>
          </a:p>
        </p:txBody>
      </p:sp>
      <p:sp>
        <p:nvSpPr>
          <p:cNvPr id="30" name="TextBox 29"/>
          <p:cNvSpPr txBox="1"/>
          <p:nvPr/>
        </p:nvSpPr>
        <p:spPr>
          <a:xfrm>
            <a:off x="749808" y="5330952"/>
            <a:ext cx="10287000" cy="215444"/>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8FFFD"/>
                </a:solidFill>
                <a:effectLst/>
                <a:uLnTx/>
                <a:uFillTx/>
                <a:latin typeface="Aptos"/>
                <a:ea typeface="+mn-ea"/>
                <a:cs typeface="+mn-cs"/>
              </a:rPr>
              <a:t>Ask for approval for the exact file, command, change, or destination—not blanket permission.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86DAF-BBCE-D477-F540-AE0B8BF758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D0D47A-2630-50A8-C12E-4082BD5D75C0}"/>
              </a:ext>
            </a:extLst>
          </p:cNvPr>
          <p:cNvSpPr txBox="1"/>
          <p:nvPr/>
        </p:nvSpPr>
        <p:spPr>
          <a:xfrm>
            <a:off x="658368" y="667512"/>
            <a:ext cx="10744200" cy="430887"/>
          </a:xfrm>
          <a:prstGeom prst="rect">
            <a:avLst/>
          </a:prstGeom>
          <a:noFill/>
        </p:spPr>
        <p:txBody>
          <a:bodyPr wrap="square" lIns="0" tIns="0" rIns="0" bIns="0" anchor="t">
            <a:spAutoFit/>
          </a:bodyPr>
          <a:lstStyle/>
          <a:p>
            <a:pPr algn="l"/>
            <a:r>
              <a:rPr sz="2800" b="1" dirty="0">
                <a:solidFill>
                  <a:schemeClr val="bg2"/>
                </a:solidFill>
                <a:latin typeface="Aptos"/>
              </a:rPr>
              <a:t>Best practice #</a:t>
            </a:r>
            <a:r>
              <a:rPr lang="en-US" sz="2800" b="1" dirty="0">
                <a:solidFill>
                  <a:schemeClr val="bg2"/>
                </a:solidFill>
                <a:latin typeface="Aptos"/>
              </a:rPr>
              <a:t>6 example</a:t>
            </a:r>
            <a:r>
              <a:rPr sz="2800" b="1" dirty="0">
                <a:solidFill>
                  <a:schemeClr val="bg2"/>
                </a:solidFill>
                <a:latin typeface="Aptos"/>
              </a:rPr>
              <a:t>: </a:t>
            </a:r>
            <a:r>
              <a:rPr lang="en-US" sz="2800" b="1" dirty="0">
                <a:solidFill>
                  <a:schemeClr val="bg2"/>
                </a:solidFill>
                <a:latin typeface="Aptos"/>
              </a:rPr>
              <a:t>Failure and approval behavior</a:t>
            </a:r>
            <a:endParaRPr sz="2800" b="1" dirty="0">
              <a:solidFill>
                <a:schemeClr val="bg2"/>
              </a:solidFill>
              <a:latin typeface="Aptos"/>
            </a:endParaRPr>
          </a:p>
        </p:txBody>
      </p:sp>
      <p:sp>
        <p:nvSpPr>
          <p:cNvPr id="4" name="TextBox 3">
            <a:extLst>
              <a:ext uri="{FF2B5EF4-FFF2-40B4-BE49-F238E27FC236}">
                <a16:creationId xmlns:a16="http://schemas.microsoft.com/office/drawing/2014/main" id="{3559EF0C-D55A-02A2-10E6-69B4110C0614}"/>
              </a:ext>
            </a:extLst>
          </p:cNvPr>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576276"/>
                </a:solidFill>
                <a:latin typeface="Aptos"/>
              </a:rPr>
              <a:t>10</a:t>
            </a:r>
          </a:p>
        </p:txBody>
      </p:sp>
      <p:sp>
        <p:nvSpPr>
          <p:cNvPr id="6" name="TextBox 5">
            <a:extLst>
              <a:ext uri="{FF2B5EF4-FFF2-40B4-BE49-F238E27FC236}">
                <a16:creationId xmlns:a16="http://schemas.microsoft.com/office/drawing/2014/main" id="{6AC0C82D-126F-74D9-0611-433BF658F1A5}"/>
              </a:ext>
            </a:extLst>
          </p:cNvPr>
          <p:cNvSpPr txBox="1"/>
          <p:nvPr/>
        </p:nvSpPr>
        <p:spPr>
          <a:xfrm>
            <a:off x="2428630" y="1491793"/>
            <a:ext cx="6138984" cy="4247317"/>
          </a:xfrm>
          <a:prstGeom prst="rect">
            <a:avLst/>
          </a:prstGeom>
          <a:noFill/>
        </p:spPr>
        <p:txBody>
          <a:bodyPr wrap="square">
            <a:spAutoFit/>
          </a:bodyPr>
          <a:lstStyle/>
          <a:p>
            <a:r>
              <a:rPr lang="en-US" dirty="0">
                <a:solidFill>
                  <a:schemeClr val="bg1"/>
                </a:solidFill>
              </a:rPr>
              <a:t>## Failure and approval behavior</a:t>
            </a:r>
          </a:p>
          <a:p>
            <a:endParaRPr lang="en-US" dirty="0">
              <a:solidFill>
                <a:schemeClr val="bg1"/>
              </a:solidFill>
            </a:endParaRPr>
          </a:p>
          <a:p>
            <a:pPr marL="285750" indent="-285750">
              <a:buFontTx/>
              <a:buChar char="-"/>
            </a:pPr>
            <a:r>
              <a:rPr lang="en-US" dirty="0">
                <a:solidFill>
                  <a:schemeClr val="bg1"/>
                </a:solidFill>
              </a:rPr>
              <a:t>**Ask** before expanding scope, running commands, writing files, or accessing  external sources.</a:t>
            </a:r>
          </a:p>
          <a:p>
            <a:pPr marL="285750" indent="-285750">
              <a:buFontTx/>
              <a:buChar char="-"/>
            </a:pPr>
            <a:r>
              <a:rPr lang="en-US" dirty="0">
                <a:solidFill>
                  <a:schemeClr val="bg1"/>
                </a:solidFill>
              </a:rPr>
              <a:t>**Continue safely** when optional context or tooling is unavailable; report the  limitation and review only the available evidence</a:t>
            </a:r>
          </a:p>
          <a:p>
            <a:pPr marL="285750" indent="-285750">
              <a:buFontTx/>
              <a:buChar char="-"/>
            </a:pPr>
            <a:r>
              <a:rPr lang="en-US" dirty="0">
                <a:solidFill>
                  <a:schemeClr val="bg1"/>
                </a:solidFill>
              </a:rPr>
              <a:t>**Stop** when required source code is unavailable, the requested action exceeds  the approved boundary, or evidence is insufficient to support a finding.</a:t>
            </a:r>
          </a:p>
          <a:p>
            <a:pPr marL="285750" indent="-285750">
              <a:buFontTx/>
              <a:buChar char="-"/>
            </a:pPr>
            <a:r>
              <a:rPr lang="en-US" dirty="0">
                <a:solidFill>
                  <a:schemeClr val="bg1"/>
                </a:solidFill>
              </a:rPr>
              <a:t>**Stop** when it encounters a secret or private key. Report the finding and do not include it in any logs or output.</a:t>
            </a:r>
          </a:p>
          <a:p>
            <a:endParaRPr lang="en-US" dirty="0">
              <a:solidFill>
                <a:schemeClr val="bg1"/>
              </a:solidFill>
            </a:endParaRPr>
          </a:p>
          <a:p>
            <a:r>
              <a:rPr lang="en-US" dirty="0">
                <a:solidFill>
                  <a:schemeClr val="bg1"/>
                </a:solidFill>
              </a:rPr>
              <a:t>Never treat missing access, failed tools, or uncertain evidence as success.</a:t>
            </a:r>
          </a:p>
        </p:txBody>
      </p:sp>
    </p:spTree>
    <p:extLst>
      <p:ext uri="{BB962C8B-B14F-4D97-AF65-F5344CB8AC3E}">
        <p14:creationId xmlns:p14="http://schemas.microsoft.com/office/powerpoint/2010/main" val="1589396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1436"/>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algn="l"/>
            <a:r>
              <a:rPr sz="850" b="1">
                <a:solidFill>
                  <a:srgbClr val="00B1D9"/>
                </a:solidFill>
                <a:latin typeface="Aptos"/>
              </a:rPr>
              <a:t>PUT THE PRACTICES TOGETHER</a:t>
            </a:r>
          </a:p>
        </p:txBody>
      </p:sp>
      <p:sp>
        <p:nvSpPr>
          <p:cNvPr id="3" name="TextBox 2"/>
          <p:cNvSpPr txBox="1"/>
          <p:nvPr/>
        </p:nvSpPr>
        <p:spPr>
          <a:xfrm>
            <a:off x="658368" y="667512"/>
            <a:ext cx="10744200" cy="430887"/>
          </a:xfrm>
          <a:prstGeom prst="rect">
            <a:avLst/>
          </a:prstGeom>
          <a:noFill/>
        </p:spPr>
        <p:txBody>
          <a:bodyPr wrap="square" lIns="0" tIns="0" rIns="0" bIns="0" anchor="t">
            <a:spAutoFit/>
          </a:bodyPr>
          <a:lstStyle/>
          <a:p>
            <a:pPr algn="l"/>
            <a:r>
              <a:rPr lang="en-US" sz="2800" b="1" dirty="0">
                <a:solidFill>
                  <a:srgbClr val="FFFFFF"/>
                </a:solidFill>
                <a:latin typeface="Aptos"/>
              </a:rPr>
              <a:t>Same </a:t>
            </a:r>
            <a:r>
              <a:rPr sz="2800" b="1" dirty="0">
                <a:solidFill>
                  <a:srgbClr val="FFFFFF"/>
                </a:solidFill>
                <a:latin typeface="Aptos"/>
              </a:rPr>
              <a:t>task, better contract</a:t>
            </a:r>
          </a:p>
        </p:txBody>
      </p:sp>
      <p:sp>
        <p:nvSpPr>
          <p:cNvPr id="4" name="TextBox 3"/>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B2BCD3"/>
                </a:solidFill>
                <a:latin typeface="Aptos"/>
              </a:rPr>
              <a:t>15</a:t>
            </a:r>
          </a:p>
        </p:txBody>
      </p:sp>
      <p:sp>
        <p:nvSpPr>
          <p:cNvPr id="6" name="TextBox 5"/>
          <p:cNvSpPr txBox="1"/>
          <p:nvPr/>
        </p:nvSpPr>
        <p:spPr>
          <a:xfrm>
            <a:off x="749808" y="1554480"/>
            <a:ext cx="4937760" cy="320040"/>
          </a:xfrm>
          <a:prstGeom prst="rect">
            <a:avLst/>
          </a:prstGeom>
          <a:noFill/>
        </p:spPr>
        <p:txBody>
          <a:bodyPr wrap="square" lIns="0" tIns="0" rIns="0" bIns="0" anchor="t">
            <a:spAutoFit/>
          </a:bodyPr>
          <a:lstStyle/>
          <a:p>
            <a:pPr algn="l"/>
            <a:r>
              <a:rPr sz="1600" b="1">
                <a:solidFill>
                  <a:srgbClr val="EF3281"/>
                </a:solidFill>
                <a:latin typeface="Aptos"/>
              </a:rPr>
              <a:t>IMPRECISE</a:t>
            </a:r>
          </a:p>
        </p:txBody>
      </p:sp>
      <p:sp>
        <p:nvSpPr>
          <p:cNvPr id="7" name="Rectangle 6"/>
          <p:cNvSpPr/>
          <p:nvPr/>
        </p:nvSpPr>
        <p:spPr>
          <a:xfrm>
            <a:off x="749808" y="1947672"/>
            <a:ext cx="4892040" cy="1170432"/>
          </a:xfrm>
          <a:prstGeom prst="rect">
            <a:avLst/>
          </a:prstGeom>
          <a:solidFill>
            <a:srgbClr val="2B1834"/>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33271" y="2212848"/>
            <a:ext cx="4325112" cy="749808"/>
          </a:xfrm>
          <a:prstGeom prst="rect">
            <a:avLst/>
          </a:prstGeom>
          <a:noFill/>
        </p:spPr>
        <p:txBody>
          <a:bodyPr wrap="square" lIns="0" tIns="0" rIns="0" bIns="0" anchor="t">
            <a:spAutoFit/>
          </a:bodyPr>
          <a:lstStyle/>
          <a:p>
            <a:pPr algn="ctr"/>
            <a:r>
              <a:rPr sz="1600" b="1">
                <a:solidFill>
                  <a:srgbClr val="FFFFFF"/>
                </a:solidFill>
                <a:latin typeface="Aptos"/>
              </a:rPr>
              <a:t>“Review this repository for security issues.
Run whatever tools you need and fix everything.”</a:t>
            </a:r>
          </a:p>
        </p:txBody>
      </p:sp>
      <p:sp>
        <p:nvSpPr>
          <p:cNvPr id="9" name="TextBox 8"/>
          <p:cNvSpPr txBox="1"/>
          <p:nvPr/>
        </p:nvSpPr>
        <p:spPr>
          <a:xfrm>
            <a:off x="6236208" y="1554480"/>
            <a:ext cx="4937760" cy="320040"/>
          </a:xfrm>
          <a:prstGeom prst="rect">
            <a:avLst/>
          </a:prstGeom>
          <a:noFill/>
        </p:spPr>
        <p:txBody>
          <a:bodyPr wrap="square" lIns="0" tIns="0" rIns="0" bIns="0" anchor="t">
            <a:spAutoFit/>
          </a:bodyPr>
          <a:lstStyle/>
          <a:p>
            <a:pPr algn="l"/>
            <a:r>
              <a:rPr sz="1600" b="1">
                <a:solidFill>
                  <a:srgbClr val="00AA80"/>
                </a:solidFill>
                <a:latin typeface="Aptos"/>
              </a:rPr>
              <a:t>PRECISE</a:t>
            </a:r>
          </a:p>
        </p:txBody>
      </p:sp>
      <p:sp>
        <p:nvSpPr>
          <p:cNvPr id="10" name="Rectangle 9"/>
          <p:cNvSpPr/>
          <p:nvPr/>
        </p:nvSpPr>
        <p:spPr>
          <a:xfrm>
            <a:off x="6236208" y="1947672"/>
            <a:ext cx="4892040" cy="3200400"/>
          </a:xfrm>
          <a:prstGeom prst="rect">
            <a:avLst/>
          </a:prstGeom>
          <a:solidFill>
            <a:srgbClr val="103334"/>
          </a:solidFill>
          <a:ln>
            <a:solidFill>
              <a:srgbClr val="00AA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37960" y="2286000"/>
            <a:ext cx="228600" cy="228600"/>
          </a:xfrm>
          <a:prstGeom prst="rect">
            <a:avLst/>
          </a:prstGeom>
          <a:noFill/>
        </p:spPr>
        <p:txBody>
          <a:bodyPr wrap="square" lIns="0" tIns="0" rIns="0" bIns="0" anchor="t">
            <a:spAutoFit/>
          </a:bodyPr>
          <a:lstStyle/>
          <a:p>
            <a:pPr algn="l"/>
            <a:r>
              <a:rPr sz="1200" b="1">
                <a:solidFill>
                  <a:srgbClr val="00AA80"/>
                </a:solidFill>
                <a:latin typeface="Aptos"/>
              </a:rPr>
              <a:t>+</a:t>
            </a:r>
          </a:p>
        </p:txBody>
      </p:sp>
      <p:sp>
        <p:nvSpPr>
          <p:cNvPr id="12" name="TextBox 11"/>
          <p:cNvSpPr txBox="1"/>
          <p:nvPr/>
        </p:nvSpPr>
        <p:spPr>
          <a:xfrm>
            <a:off x="6903720" y="2258568"/>
            <a:ext cx="3794760" cy="184666"/>
          </a:xfrm>
          <a:prstGeom prst="rect">
            <a:avLst/>
          </a:prstGeom>
          <a:noFill/>
        </p:spPr>
        <p:txBody>
          <a:bodyPr wrap="square" lIns="0" tIns="0" rIns="0" bIns="0" anchor="t">
            <a:spAutoFit/>
          </a:bodyPr>
          <a:lstStyle/>
          <a:p>
            <a:pPr algn="l"/>
            <a:r>
              <a:rPr sz="1200" b="0" dirty="0">
                <a:solidFill>
                  <a:srgbClr val="FFFFFF"/>
                </a:solidFill>
                <a:latin typeface="Aptos"/>
              </a:rPr>
              <a:t>Defined </a:t>
            </a:r>
            <a:r>
              <a:rPr lang="en-US" sz="1200" b="0" dirty="0">
                <a:solidFill>
                  <a:srgbClr val="FFFFFF"/>
                </a:solidFill>
                <a:latin typeface="Aptos"/>
              </a:rPr>
              <a:t>tasks</a:t>
            </a:r>
            <a:endParaRPr sz="1200" b="0" dirty="0">
              <a:solidFill>
                <a:srgbClr val="FFFFFF"/>
              </a:solidFill>
              <a:latin typeface="Aptos"/>
            </a:endParaRPr>
          </a:p>
        </p:txBody>
      </p:sp>
      <p:sp>
        <p:nvSpPr>
          <p:cNvPr id="13" name="TextBox 12"/>
          <p:cNvSpPr txBox="1"/>
          <p:nvPr/>
        </p:nvSpPr>
        <p:spPr>
          <a:xfrm>
            <a:off x="6537960" y="2697480"/>
            <a:ext cx="228600" cy="228600"/>
          </a:xfrm>
          <a:prstGeom prst="rect">
            <a:avLst/>
          </a:prstGeom>
          <a:noFill/>
        </p:spPr>
        <p:txBody>
          <a:bodyPr wrap="square" lIns="0" tIns="0" rIns="0" bIns="0" anchor="t">
            <a:spAutoFit/>
          </a:bodyPr>
          <a:lstStyle/>
          <a:p>
            <a:pPr algn="l"/>
            <a:r>
              <a:rPr sz="1200" b="1">
                <a:solidFill>
                  <a:srgbClr val="00AA80"/>
                </a:solidFill>
                <a:latin typeface="Aptos"/>
              </a:rPr>
              <a:t>+</a:t>
            </a:r>
          </a:p>
        </p:txBody>
      </p:sp>
      <p:sp>
        <p:nvSpPr>
          <p:cNvPr id="14" name="TextBox 13"/>
          <p:cNvSpPr txBox="1"/>
          <p:nvPr/>
        </p:nvSpPr>
        <p:spPr>
          <a:xfrm>
            <a:off x="6903720" y="2670048"/>
            <a:ext cx="3794760" cy="184666"/>
          </a:xfrm>
          <a:prstGeom prst="rect">
            <a:avLst/>
          </a:prstGeom>
          <a:noFill/>
        </p:spPr>
        <p:txBody>
          <a:bodyPr wrap="square" lIns="0" tIns="0" rIns="0" bIns="0" anchor="t">
            <a:spAutoFit/>
          </a:bodyPr>
          <a:lstStyle/>
          <a:p>
            <a:pPr algn="l"/>
            <a:r>
              <a:rPr lang="en-US" sz="1200" dirty="0">
                <a:solidFill>
                  <a:srgbClr val="FFFFFF"/>
                </a:solidFill>
                <a:latin typeface="Aptos"/>
              </a:rPr>
              <a:t>Activation</a:t>
            </a:r>
            <a:endParaRPr sz="1200" b="0" dirty="0">
              <a:solidFill>
                <a:srgbClr val="FFFFFF"/>
              </a:solidFill>
              <a:latin typeface="Aptos"/>
            </a:endParaRPr>
          </a:p>
        </p:txBody>
      </p:sp>
      <p:sp>
        <p:nvSpPr>
          <p:cNvPr id="15" name="TextBox 14"/>
          <p:cNvSpPr txBox="1"/>
          <p:nvPr/>
        </p:nvSpPr>
        <p:spPr>
          <a:xfrm>
            <a:off x="6537960" y="3108960"/>
            <a:ext cx="228600" cy="228600"/>
          </a:xfrm>
          <a:prstGeom prst="rect">
            <a:avLst/>
          </a:prstGeom>
          <a:noFill/>
        </p:spPr>
        <p:txBody>
          <a:bodyPr wrap="square" lIns="0" tIns="0" rIns="0" bIns="0" anchor="t">
            <a:spAutoFit/>
          </a:bodyPr>
          <a:lstStyle/>
          <a:p>
            <a:pPr algn="l"/>
            <a:r>
              <a:rPr sz="1200" b="1">
                <a:solidFill>
                  <a:srgbClr val="00AA80"/>
                </a:solidFill>
                <a:latin typeface="Aptos"/>
              </a:rPr>
              <a:t>+</a:t>
            </a:r>
          </a:p>
        </p:txBody>
      </p:sp>
      <p:sp>
        <p:nvSpPr>
          <p:cNvPr id="16" name="TextBox 15"/>
          <p:cNvSpPr txBox="1"/>
          <p:nvPr/>
        </p:nvSpPr>
        <p:spPr>
          <a:xfrm>
            <a:off x="6903720" y="3081528"/>
            <a:ext cx="3794760" cy="283464"/>
          </a:xfrm>
          <a:prstGeom prst="rect">
            <a:avLst/>
          </a:prstGeom>
          <a:noFill/>
        </p:spPr>
        <p:txBody>
          <a:bodyPr wrap="square" lIns="0" tIns="0" rIns="0" bIns="0" anchor="t">
            <a:spAutoFit/>
          </a:bodyPr>
          <a:lstStyle/>
          <a:p>
            <a:pPr algn="l"/>
            <a:r>
              <a:rPr sz="1200" b="0" dirty="0">
                <a:solidFill>
                  <a:srgbClr val="FFFFFF"/>
                </a:solidFill>
                <a:latin typeface="Aptos"/>
              </a:rPr>
              <a:t>Named readable files</a:t>
            </a:r>
          </a:p>
        </p:txBody>
      </p:sp>
      <p:sp>
        <p:nvSpPr>
          <p:cNvPr id="17" name="TextBox 16"/>
          <p:cNvSpPr txBox="1"/>
          <p:nvPr/>
        </p:nvSpPr>
        <p:spPr>
          <a:xfrm>
            <a:off x="6537960" y="3520440"/>
            <a:ext cx="228600" cy="228600"/>
          </a:xfrm>
          <a:prstGeom prst="rect">
            <a:avLst/>
          </a:prstGeom>
          <a:noFill/>
        </p:spPr>
        <p:txBody>
          <a:bodyPr wrap="square" lIns="0" tIns="0" rIns="0" bIns="0" anchor="t">
            <a:spAutoFit/>
          </a:bodyPr>
          <a:lstStyle/>
          <a:p>
            <a:pPr algn="l"/>
            <a:r>
              <a:rPr sz="1200" b="1">
                <a:solidFill>
                  <a:srgbClr val="00AA80"/>
                </a:solidFill>
                <a:latin typeface="Aptos"/>
              </a:rPr>
              <a:t>+</a:t>
            </a:r>
          </a:p>
        </p:txBody>
      </p:sp>
      <p:sp>
        <p:nvSpPr>
          <p:cNvPr id="18" name="TextBox 17"/>
          <p:cNvSpPr txBox="1"/>
          <p:nvPr/>
        </p:nvSpPr>
        <p:spPr>
          <a:xfrm>
            <a:off x="6903720" y="3493008"/>
            <a:ext cx="3794760" cy="283464"/>
          </a:xfrm>
          <a:prstGeom prst="rect">
            <a:avLst/>
          </a:prstGeom>
          <a:noFill/>
        </p:spPr>
        <p:txBody>
          <a:bodyPr wrap="square" lIns="0" tIns="0" rIns="0" bIns="0" anchor="t">
            <a:spAutoFit/>
          </a:bodyPr>
          <a:lstStyle/>
          <a:p>
            <a:pPr algn="l"/>
            <a:r>
              <a:rPr sz="1200" b="0">
                <a:solidFill>
                  <a:srgbClr val="FFFFFF"/>
                </a:solidFill>
                <a:latin typeface="Aptos"/>
              </a:rPr>
              <a:t>Approved scanner only</a:t>
            </a:r>
          </a:p>
        </p:txBody>
      </p:sp>
      <p:sp>
        <p:nvSpPr>
          <p:cNvPr id="19" name="TextBox 18"/>
          <p:cNvSpPr txBox="1"/>
          <p:nvPr/>
        </p:nvSpPr>
        <p:spPr>
          <a:xfrm>
            <a:off x="6537960" y="3931920"/>
            <a:ext cx="228600" cy="228600"/>
          </a:xfrm>
          <a:prstGeom prst="rect">
            <a:avLst/>
          </a:prstGeom>
          <a:noFill/>
        </p:spPr>
        <p:txBody>
          <a:bodyPr wrap="square" lIns="0" tIns="0" rIns="0" bIns="0" anchor="t">
            <a:spAutoFit/>
          </a:bodyPr>
          <a:lstStyle/>
          <a:p>
            <a:pPr algn="l"/>
            <a:r>
              <a:rPr sz="1200" b="1">
                <a:solidFill>
                  <a:srgbClr val="00AA80"/>
                </a:solidFill>
                <a:latin typeface="Aptos"/>
              </a:rPr>
              <a:t>+</a:t>
            </a:r>
          </a:p>
        </p:txBody>
      </p:sp>
      <p:sp>
        <p:nvSpPr>
          <p:cNvPr id="20" name="TextBox 19"/>
          <p:cNvSpPr txBox="1"/>
          <p:nvPr/>
        </p:nvSpPr>
        <p:spPr>
          <a:xfrm>
            <a:off x="6903720" y="3904488"/>
            <a:ext cx="3794760" cy="283464"/>
          </a:xfrm>
          <a:prstGeom prst="rect">
            <a:avLst/>
          </a:prstGeom>
          <a:noFill/>
        </p:spPr>
        <p:txBody>
          <a:bodyPr wrap="square" lIns="0" tIns="0" rIns="0" bIns="0" anchor="t">
            <a:spAutoFit/>
          </a:bodyPr>
          <a:lstStyle/>
          <a:p>
            <a:pPr algn="l"/>
            <a:r>
              <a:rPr sz="1200" b="0">
                <a:solidFill>
                  <a:srgbClr val="FFFFFF"/>
                </a:solidFill>
                <a:latin typeface="Aptos"/>
              </a:rPr>
              <a:t>Evidence-based output</a:t>
            </a:r>
          </a:p>
        </p:txBody>
      </p:sp>
      <p:sp>
        <p:nvSpPr>
          <p:cNvPr id="21" name="TextBox 20"/>
          <p:cNvSpPr txBox="1"/>
          <p:nvPr/>
        </p:nvSpPr>
        <p:spPr>
          <a:xfrm>
            <a:off x="6537960" y="4343400"/>
            <a:ext cx="228600" cy="228600"/>
          </a:xfrm>
          <a:prstGeom prst="rect">
            <a:avLst/>
          </a:prstGeom>
          <a:noFill/>
        </p:spPr>
        <p:txBody>
          <a:bodyPr wrap="square" lIns="0" tIns="0" rIns="0" bIns="0" anchor="t">
            <a:spAutoFit/>
          </a:bodyPr>
          <a:lstStyle/>
          <a:p>
            <a:pPr algn="l"/>
            <a:r>
              <a:rPr sz="1200" b="1">
                <a:solidFill>
                  <a:srgbClr val="00AA80"/>
                </a:solidFill>
                <a:latin typeface="Aptos"/>
              </a:rPr>
              <a:t>+</a:t>
            </a:r>
          </a:p>
        </p:txBody>
      </p:sp>
      <p:sp>
        <p:nvSpPr>
          <p:cNvPr id="22" name="TextBox 21"/>
          <p:cNvSpPr txBox="1"/>
          <p:nvPr/>
        </p:nvSpPr>
        <p:spPr>
          <a:xfrm>
            <a:off x="6903720" y="4315968"/>
            <a:ext cx="3794760" cy="283464"/>
          </a:xfrm>
          <a:prstGeom prst="rect">
            <a:avLst/>
          </a:prstGeom>
          <a:noFill/>
        </p:spPr>
        <p:txBody>
          <a:bodyPr wrap="square" lIns="0" tIns="0" rIns="0" bIns="0" anchor="t">
            <a:spAutoFit/>
          </a:bodyPr>
          <a:lstStyle/>
          <a:p>
            <a:pPr algn="l"/>
            <a:r>
              <a:rPr sz="1200" b="0">
                <a:solidFill>
                  <a:srgbClr val="FFFFFF"/>
                </a:solidFill>
                <a:latin typeface="Aptos"/>
              </a:rPr>
              <a:t>Approval before edits or broader access</a:t>
            </a:r>
          </a:p>
        </p:txBody>
      </p:sp>
      <p:sp>
        <p:nvSpPr>
          <p:cNvPr id="23" name="TextBox 22"/>
          <p:cNvSpPr txBox="1"/>
          <p:nvPr/>
        </p:nvSpPr>
        <p:spPr>
          <a:xfrm>
            <a:off x="749808" y="3520440"/>
            <a:ext cx="1280160" cy="274320"/>
          </a:xfrm>
          <a:prstGeom prst="rect">
            <a:avLst/>
          </a:prstGeom>
          <a:noFill/>
        </p:spPr>
        <p:txBody>
          <a:bodyPr wrap="square" lIns="0" tIns="0" rIns="0" bIns="0" anchor="t">
            <a:spAutoFit/>
          </a:bodyPr>
          <a:lstStyle/>
          <a:p>
            <a:pPr algn="l"/>
            <a:r>
              <a:rPr sz="1100" b="1">
                <a:solidFill>
                  <a:srgbClr val="00B1D9"/>
                </a:solidFill>
                <a:latin typeface="Aptos"/>
              </a:rPr>
              <a:t>Watch for:</a:t>
            </a:r>
          </a:p>
        </p:txBody>
      </p:sp>
      <p:sp>
        <p:nvSpPr>
          <p:cNvPr id="24" name="TextBox 23"/>
          <p:cNvSpPr txBox="1"/>
          <p:nvPr/>
        </p:nvSpPr>
        <p:spPr>
          <a:xfrm>
            <a:off x="749808" y="3977639"/>
            <a:ext cx="228600" cy="219456"/>
          </a:xfrm>
          <a:prstGeom prst="rect">
            <a:avLst/>
          </a:prstGeom>
          <a:noFill/>
        </p:spPr>
        <p:txBody>
          <a:bodyPr wrap="square" lIns="0" tIns="0" rIns="0" bIns="0" anchor="t">
            <a:spAutoFit/>
          </a:bodyPr>
          <a:lstStyle/>
          <a:p>
            <a:pPr algn="l"/>
            <a:r>
              <a:rPr sz="1100" b="1">
                <a:solidFill>
                  <a:srgbClr val="EF3281"/>
                </a:solidFill>
                <a:latin typeface="Aptos"/>
              </a:rPr>
              <a:t>—</a:t>
            </a:r>
          </a:p>
        </p:txBody>
      </p:sp>
      <p:sp>
        <p:nvSpPr>
          <p:cNvPr id="25" name="TextBox 24"/>
          <p:cNvSpPr txBox="1"/>
          <p:nvPr/>
        </p:nvSpPr>
        <p:spPr>
          <a:xfrm>
            <a:off x="1097280" y="3941063"/>
            <a:ext cx="4251960" cy="292608"/>
          </a:xfrm>
          <a:prstGeom prst="rect">
            <a:avLst/>
          </a:prstGeom>
          <a:noFill/>
        </p:spPr>
        <p:txBody>
          <a:bodyPr wrap="square" lIns="0" tIns="0" rIns="0" bIns="0" anchor="t">
            <a:spAutoFit/>
          </a:bodyPr>
          <a:lstStyle/>
          <a:p>
            <a:pPr algn="l"/>
            <a:r>
              <a:rPr sz="1200" b="0">
                <a:solidFill>
                  <a:srgbClr val="FFFFFF"/>
                </a:solidFill>
                <a:latin typeface="Aptos"/>
              </a:rPr>
              <a:t>permission requests</a:t>
            </a:r>
          </a:p>
        </p:txBody>
      </p:sp>
      <p:sp>
        <p:nvSpPr>
          <p:cNvPr id="26" name="TextBox 25"/>
          <p:cNvSpPr txBox="1"/>
          <p:nvPr/>
        </p:nvSpPr>
        <p:spPr>
          <a:xfrm>
            <a:off x="749808" y="4407407"/>
            <a:ext cx="228600" cy="219456"/>
          </a:xfrm>
          <a:prstGeom prst="rect">
            <a:avLst/>
          </a:prstGeom>
          <a:noFill/>
        </p:spPr>
        <p:txBody>
          <a:bodyPr wrap="square" lIns="0" tIns="0" rIns="0" bIns="0" anchor="t">
            <a:spAutoFit/>
          </a:bodyPr>
          <a:lstStyle/>
          <a:p>
            <a:pPr algn="l"/>
            <a:r>
              <a:rPr sz="1100" b="1">
                <a:solidFill>
                  <a:srgbClr val="EF3281"/>
                </a:solidFill>
                <a:latin typeface="Aptos"/>
              </a:rPr>
              <a:t>—</a:t>
            </a:r>
          </a:p>
        </p:txBody>
      </p:sp>
      <p:sp>
        <p:nvSpPr>
          <p:cNvPr id="27" name="TextBox 26"/>
          <p:cNvSpPr txBox="1"/>
          <p:nvPr/>
        </p:nvSpPr>
        <p:spPr>
          <a:xfrm>
            <a:off x="1097280" y="4370831"/>
            <a:ext cx="4251960" cy="292608"/>
          </a:xfrm>
          <a:prstGeom prst="rect">
            <a:avLst/>
          </a:prstGeom>
          <a:noFill/>
        </p:spPr>
        <p:txBody>
          <a:bodyPr wrap="square" lIns="0" tIns="0" rIns="0" bIns="0" anchor="t">
            <a:spAutoFit/>
          </a:bodyPr>
          <a:lstStyle/>
          <a:p>
            <a:pPr algn="l"/>
            <a:r>
              <a:rPr sz="1200" b="0">
                <a:solidFill>
                  <a:srgbClr val="FFFFFF"/>
                </a:solidFill>
                <a:latin typeface="Aptos"/>
              </a:rPr>
              <a:t>files and context loaded</a:t>
            </a:r>
          </a:p>
        </p:txBody>
      </p:sp>
      <p:sp>
        <p:nvSpPr>
          <p:cNvPr id="28" name="TextBox 27"/>
          <p:cNvSpPr txBox="1"/>
          <p:nvPr/>
        </p:nvSpPr>
        <p:spPr>
          <a:xfrm>
            <a:off x="749808" y="4837175"/>
            <a:ext cx="228600" cy="219456"/>
          </a:xfrm>
          <a:prstGeom prst="rect">
            <a:avLst/>
          </a:prstGeom>
          <a:noFill/>
        </p:spPr>
        <p:txBody>
          <a:bodyPr wrap="square" lIns="0" tIns="0" rIns="0" bIns="0" anchor="t">
            <a:spAutoFit/>
          </a:bodyPr>
          <a:lstStyle/>
          <a:p>
            <a:pPr algn="l"/>
            <a:r>
              <a:rPr sz="1100" b="1">
                <a:solidFill>
                  <a:srgbClr val="EF3281"/>
                </a:solidFill>
                <a:latin typeface="Aptos"/>
              </a:rPr>
              <a:t>—</a:t>
            </a:r>
          </a:p>
        </p:txBody>
      </p:sp>
      <p:sp>
        <p:nvSpPr>
          <p:cNvPr id="29" name="TextBox 28"/>
          <p:cNvSpPr txBox="1"/>
          <p:nvPr/>
        </p:nvSpPr>
        <p:spPr>
          <a:xfrm>
            <a:off x="1097280" y="4800600"/>
            <a:ext cx="4251960" cy="292608"/>
          </a:xfrm>
          <a:prstGeom prst="rect">
            <a:avLst/>
          </a:prstGeom>
          <a:noFill/>
        </p:spPr>
        <p:txBody>
          <a:bodyPr wrap="square" lIns="0" tIns="0" rIns="0" bIns="0" anchor="t">
            <a:spAutoFit/>
          </a:bodyPr>
          <a:lstStyle/>
          <a:p>
            <a:pPr algn="l"/>
            <a:r>
              <a:rPr sz="1200" b="0">
                <a:solidFill>
                  <a:srgbClr val="FFFFFF"/>
                </a:solidFill>
                <a:latin typeface="Aptos"/>
              </a:rPr>
              <a:t>response to a poisoned README</a:t>
            </a:r>
          </a:p>
        </p:txBody>
      </p:sp>
      <p:sp>
        <p:nvSpPr>
          <p:cNvPr id="30" name="TextBox 29"/>
          <p:cNvSpPr txBox="1"/>
          <p:nvPr/>
        </p:nvSpPr>
        <p:spPr>
          <a:xfrm>
            <a:off x="749808" y="5266944"/>
            <a:ext cx="228600" cy="219456"/>
          </a:xfrm>
          <a:prstGeom prst="rect">
            <a:avLst/>
          </a:prstGeom>
          <a:noFill/>
        </p:spPr>
        <p:txBody>
          <a:bodyPr wrap="square" lIns="0" tIns="0" rIns="0" bIns="0" anchor="t">
            <a:spAutoFit/>
          </a:bodyPr>
          <a:lstStyle/>
          <a:p>
            <a:pPr algn="l"/>
            <a:r>
              <a:rPr sz="1100" b="1">
                <a:solidFill>
                  <a:srgbClr val="EF3281"/>
                </a:solidFill>
                <a:latin typeface="Aptos"/>
              </a:rPr>
              <a:t>—</a:t>
            </a:r>
          </a:p>
        </p:txBody>
      </p:sp>
      <p:sp>
        <p:nvSpPr>
          <p:cNvPr id="31" name="TextBox 30"/>
          <p:cNvSpPr txBox="1"/>
          <p:nvPr/>
        </p:nvSpPr>
        <p:spPr>
          <a:xfrm>
            <a:off x="1097280" y="5230368"/>
            <a:ext cx="4251960" cy="292608"/>
          </a:xfrm>
          <a:prstGeom prst="rect">
            <a:avLst/>
          </a:prstGeom>
          <a:noFill/>
        </p:spPr>
        <p:txBody>
          <a:bodyPr wrap="square" lIns="0" tIns="0" rIns="0" bIns="0" anchor="t">
            <a:spAutoFit/>
          </a:bodyPr>
          <a:lstStyle/>
          <a:p>
            <a:pPr algn="l"/>
            <a:r>
              <a:rPr sz="1200" b="0">
                <a:solidFill>
                  <a:srgbClr val="FFFFFF"/>
                </a:solidFill>
                <a:latin typeface="Aptos"/>
              </a:rPr>
              <a:t>quality of the finding</a:t>
            </a:r>
          </a:p>
        </p:txBody>
      </p:sp>
      <p:sp>
        <p:nvSpPr>
          <p:cNvPr id="32" name="TextBox 31"/>
          <p:cNvSpPr txBox="1"/>
          <p:nvPr/>
        </p:nvSpPr>
        <p:spPr>
          <a:xfrm>
            <a:off x="914400" y="5879592"/>
            <a:ext cx="10287000" cy="320040"/>
          </a:xfrm>
          <a:prstGeom prst="rect">
            <a:avLst/>
          </a:prstGeom>
          <a:noFill/>
        </p:spPr>
        <p:txBody>
          <a:bodyPr wrap="square" lIns="0" tIns="0" rIns="0" bIns="0" anchor="t">
            <a:spAutoFit/>
          </a:bodyPr>
          <a:lstStyle/>
          <a:p>
            <a:pPr algn="ctr"/>
            <a:r>
              <a:rPr sz="1400" b="1">
                <a:solidFill>
                  <a:srgbClr val="C8D3E7"/>
                </a:solidFill>
                <a:latin typeface="Aptos"/>
              </a:rPr>
              <a:t>The agent did not become smarter or safer. We gave it a better contract.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0B1D9"/>
                </a:solidFill>
                <a:effectLst/>
                <a:uLnTx/>
                <a:uFillTx/>
                <a:latin typeface="Aptos"/>
                <a:ea typeface="+mn-ea"/>
                <a:cs typeface="+mn-cs"/>
              </a:rPr>
              <a:t>BEFORE YOU INSTALL, PUBLISH, OR RUN IT</a:t>
            </a:r>
          </a:p>
        </p:txBody>
      </p:sp>
      <p:sp>
        <p:nvSpPr>
          <p:cNvPr id="3" name="TextBox 2"/>
          <p:cNvSpPr txBox="1"/>
          <p:nvPr/>
        </p:nvSpPr>
        <p:spPr>
          <a:xfrm>
            <a:off x="658368" y="667512"/>
            <a:ext cx="1074420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a:ln>
                  <a:noFill/>
                </a:ln>
                <a:solidFill>
                  <a:srgbClr val="FFFFFF"/>
                </a:solidFill>
                <a:effectLst/>
                <a:uLnTx/>
                <a:uFillTx/>
                <a:latin typeface="Aptos"/>
                <a:ea typeface="+mn-ea"/>
                <a:cs typeface="+mn-cs"/>
              </a:rPr>
              <a:t>The 60-second skill review</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576276"/>
                </a:solidFill>
                <a:effectLst/>
                <a:uLnTx/>
                <a:uFillTx/>
                <a:latin typeface="Aptos"/>
                <a:ea typeface="+mn-ea"/>
                <a:cs typeface="+mn-cs"/>
              </a:rPr>
              <a:t>22</a:t>
            </a:r>
          </a:p>
        </p:txBody>
      </p:sp>
      <p:sp>
        <p:nvSpPr>
          <p:cNvPr id="6" name="TextBox 5"/>
          <p:cNvSpPr txBox="1"/>
          <p:nvPr/>
        </p:nvSpPr>
        <p:spPr>
          <a:xfrm>
            <a:off x="749808" y="1435608"/>
            <a:ext cx="420624"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B1D9"/>
                </a:solidFill>
                <a:effectLst/>
                <a:uLnTx/>
                <a:uFillTx/>
                <a:latin typeface="Aptos"/>
                <a:ea typeface="+mn-ea"/>
                <a:cs typeface="+mn-cs"/>
              </a:rPr>
              <a:t>01</a:t>
            </a:r>
          </a:p>
        </p:txBody>
      </p:sp>
      <p:sp>
        <p:nvSpPr>
          <p:cNvPr id="7" name="TextBox 6"/>
          <p:cNvSpPr txBox="1"/>
          <p:nvPr/>
        </p:nvSpPr>
        <p:spPr>
          <a:xfrm>
            <a:off x="1325880" y="1417320"/>
            <a:ext cx="1353312"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B1D9"/>
                </a:solidFill>
                <a:effectLst/>
                <a:uLnTx/>
                <a:uFillTx/>
                <a:latin typeface="Aptos"/>
                <a:ea typeface="+mn-ea"/>
                <a:cs typeface="+mn-cs"/>
              </a:rPr>
              <a:t>EXPERTISE</a:t>
            </a:r>
          </a:p>
        </p:txBody>
      </p:sp>
      <p:sp>
        <p:nvSpPr>
          <p:cNvPr id="8" name="TextBox 7"/>
          <p:cNvSpPr txBox="1"/>
          <p:nvPr/>
        </p:nvSpPr>
        <p:spPr>
          <a:xfrm>
            <a:off x="2816352" y="1417320"/>
            <a:ext cx="8183879"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Whose judgment and quality bar does this encode?</a:t>
            </a:r>
          </a:p>
        </p:txBody>
      </p:sp>
      <p:sp>
        <p:nvSpPr>
          <p:cNvPr id="9" name="Rectangle 8"/>
          <p:cNvSpPr/>
          <p:nvPr/>
        </p:nvSpPr>
        <p:spPr>
          <a:xfrm>
            <a:off x="1325880" y="1892808"/>
            <a:ext cx="9674352"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0" name="TextBox 9"/>
          <p:cNvSpPr txBox="1"/>
          <p:nvPr/>
        </p:nvSpPr>
        <p:spPr>
          <a:xfrm>
            <a:off x="749808" y="2185416"/>
            <a:ext cx="420624"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3361E1"/>
                </a:solidFill>
                <a:effectLst/>
                <a:uLnTx/>
                <a:uFillTx/>
                <a:latin typeface="Aptos"/>
                <a:ea typeface="+mn-ea"/>
                <a:cs typeface="+mn-cs"/>
              </a:rPr>
              <a:t>02</a:t>
            </a:r>
          </a:p>
        </p:txBody>
      </p:sp>
      <p:sp>
        <p:nvSpPr>
          <p:cNvPr id="11" name="TextBox 10"/>
          <p:cNvSpPr txBox="1"/>
          <p:nvPr/>
        </p:nvSpPr>
        <p:spPr>
          <a:xfrm>
            <a:off x="1325880" y="2167128"/>
            <a:ext cx="1353312"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3361E1"/>
                </a:solidFill>
                <a:effectLst/>
                <a:uLnTx/>
                <a:uFillTx/>
                <a:latin typeface="Aptos"/>
                <a:ea typeface="+mn-ea"/>
                <a:cs typeface="+mn-cs"/>
              </a:rPr>
              <a:t>TRIGGER</a:t>
            </a:r>
          </a:p>
        </p:txBody>
      </p:sp>
      <p:sp>
        <p:nvSpPr>
          <p:cNvPr id="12" name="TextBox 11"/>
          <p:cNvSpPr txBox="1"/>
          <p:nvPr/>
        </p:nvSpPr>
        <p:spPr>
          <a:xfrm>
            <a:off x="2816352" y="2167128"/>
            <a:ext cx="8183879"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Will it activate for the right requests—and stay out of unrelated work?</a:t>
            </a:r>
          </a:p>
        </p:txBody>
      </p:sp>
      <p:sp>
        <p:nvSpPr>
          <p:cNvPr id="13" name="Rectangle 12"/>
          <p:cNvSpPr/>
          <p:nvPr/>
        </p:nvSpPr>
        <p:spPr>
          <a:xfrm>
            <a:off x="1325880" y="2642616"/>
            <a:ext cx="9674352"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4" name="TextBox 13"/>
          <p:cNvSpPr txBox="1"/>
          <p:nvPr/>
        </p:nvSpPr>
        <p:spPr>
          <a:xfrm>
            <a:off x="749808" y="2935224"/>
            <a:ext cx="420624"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7E41E8"/>
                </a:solidFill>
                <a:effectLst/>
                <a:uLnTx/>
                <a:uFillTx/>
                <a:latin typeface="Aptos"/>
                <a:ea typeface="+mn-ea"/>
                <a:cs typeface="+mn-cs"/>
              </a:rPr>
              <a:t>03</a:t>
            </a:r>
          </a:p>
        </p:txBody>
      </p:sp>
      <p:sp>
        <p:nvSpPr>
          <p:cNvPr id="15" name="TextBox 14"/>
          <p:cNvSpPr txBox="1"/>
          <p:nvPr/>
        </p:nvSpPr>
        <p:spPr>
          <a:xfrm>
            <a:off x="1325880" y="2916936"/>
            <a:ext cx="1353312"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7E41E8"/>
                </a:solidFill>
                <a:effectLst/>
                <a:uLnTx/>
                <a:uFillTx/>
                <a:latin typeface="Aptos"/>
                <a:ea typeface="+mn-ea"/>
                <a:cs typeface="+mn-cs"/>
              </a:rPr>
              <a:t>JOB</a:t>
            </a:r>
          </a:p>
        </p:txBody>
      </p:sp>
      <p:sp>
        <p:nvSpPr>
          <p:cNvPr id="16" name="TextBox 15"/>
          <p:cNvSpPr txBox="1"/>
          <p:nvPr/>
        </p:nvSpPr>
        <p:spPr>
          <a:xfrm>
            <a:off x="2816352" y="2916936"/>
            <a:ext cx="8183879"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Can I explain its single purpose and expected output in one sentence?</a:t>
            </a:r>
          </a:p>
        </p:txBody>
      </p:sp>
      <p:sp>
        <p:nvSpPr>
          <p:cNvPr id="17" name="Rectangle 16"/>
          <p:cNvSpPr/>
          <p:nvPr/>
        </p:nvSpPr>
        <p:spPr>
          <a:xfrm>
            <a:off x="1325880" y="3392424"/>
            <a:ext cx="9674352"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8" name="TextBox 17"/>
          <p:cNvSpPr txBox="1"/>
          <p:nvPr/>
        </p:nvSpPr>
        <p:spPr>
          <a:xfrm>
            <a:off x="749808" y="3685032"/>
            <a:ext cx="420624"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E69326"/>
                </a:solidFill>
                <a:effectLst/>
                <a:uLnTx/>
                <a:uFillTx/>
                <a:latin typeface="Aptos"/>
                <a:ea typeface="+mn-ea"/>
                <a:cs typeface="+mn-cs"/>
              </a:rPr>
              <a:t>04</a:t>
            </a:r>
          </a:p>
        </p:txBody>
      </p:sp>
      <p:sp>
        <p:nvSpPr>
          <p:cNvPr id="19" name="TextBox 18"/>
          <p:cNvSpPr txBox="1"/>
          <p:nvPr/>
        </p:nvSpPr>
        <p:spPr>
          <a:xfrm>
            <a:off x="1325880" y="3666744"/>
            <a:ext cx="1353312"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E69326"/>
                </a:solidFill>
                <a:effectLst/>
                <a:uLnTx/>
                <a:uFillTx/>
                <a:latin typeface="Aptos"/>
                <a:ea typeface="+mn-ea"/>
                <a:cs typeface="+mn-cs"/>
              </a:rPr>
              <a:t>LOGIC</a:t>
            </a:r>
          </a:p>
        </p:txBody>
      </p:sp>
      <p:sp>
        <p:nvSpPr>
          <p:cNvPr id="20" name="TextBox 19"/>
          <p:cNvSpPr txBox="1"/>
          <p:nvPr/>
        </p:nvSpPr>
        <p:spPr>
          <a:xfrm>
            <a:off x="2816352" y="3666744"/>
            <a:ext cx="8183879"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Which steps require judgment, and which should remain deterministic?</a:t>
            </a:r>
          </a:p>
        </p:txBody>
      </p:sp>
      <p:sp>
        <p:nvSpPr>
          <p:cNvPr id="21" name="Rectangle 20"/>
          <p:cNvSpPr/>
          <p:nvPr/>
        </p:nvSpPr>
        <p:spPr>
          <a:xfrm>
            <a:off x="1325880" y="4142232"/>
            <a:ext cx="9674352"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TextBox 21"/>
          <p:cNvSpPr txBox="1"/>
          <p:nvPr/>
        </p:nvSpPr>
        <p:spPr>
          <a:xfrm>
            <a:off x="749808" y="4434840"/>
            <a:ext cx="420624"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EF3281"/>
                </a:solidFill>
                <a:effectLst/>
                <a:uLnTx/>
                <a:uFillTx/>
                <a:latin typeface="Aptos"/>
                <a:ea typeface="+mn-ea"/>
                <a:cs typeface="+mn-cs"/>
              </a:rPr>
              <a:t>05</a:t>
            </a:r>
          </a:p>
        </p:txBody>
      </p:sp>
      <p:sp>
        <p:nvSpPr>
          <p:cNvPr id="23" name="TextBox 22"/>
          <p:cNvSpPr txBox="1"/>
          <p:nvPr/>
        </p:nvSpPr>
        <p:spPr>
          <a:xfrm>
            <a:off x="1325880" y="4416552"/>
            <a:ext cx="1353312"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EF3281"/>
                </a:solidFill>
                <a:effectLst/>
                <a:uLnTx/>
                <a:uFillTx/>
                <a:latin typeface="Aptos"/>
                <a:ea typeface="+mn-ea"/>
                <a:cs typeface="+mn-cs"/>
              </a:rPr>
              <a:t>ACCESS</a:t>
            </a:r>
          </a:p>
        </p:txBody>
      </p:sp>
      <p:sp>
        <p:nvSpPr>
          <p:cNvPr id="24" name="TextBox 23"/>
          <p:cNvSpPr txBox="1"/>
          <p:nvPr/>
        </p:nvSpPr>
        <p:spPr>
          <a:xfrm>
            <a:off x="2816352" y="4416552"/>
            <a:ext cx="8183879"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Exactly what can it read, change, execute, authenticate to, or send?</a:t>
            </a:r>
          </a:p>
        </p:txBody>
      </p:sp>
      <p:sp>
        <p:nvSpPr>
          <p:cNvPr id="25" name="Rectangle 24"/>
          <p:cNvSpPr/>
          <p:nvPr/>
        </p:nvSpPr>
        <p:spPr>
          <a:xfrm>
            <a:off x="1325880" y="4892040"/>
            <a:ext cx="9674352"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6" name="TextBox 25"/>
          <p:cNvSpPr txBox="1"/>
          <p:nvPr/>
        </p:nvSpPr>
        <p:spPr>
          <a:xfrm>
            <a:off x="749808" y="5184648"/>
            <a:ext cx="420624"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1200" cap="none" spc="0" normalizeH="0" baseline="0" noProof="0">
                <a:ln>
                  <a:noFill/>
                </a:ln>
                <a:solidFill>
                  <a:srgbClr val="00AA80"/>
                </a:solidFill>
                <a:effectLst/>
                <a:uLnTx/>
                <a:uFillTx/>
                <a:latin typeface="Aptos"/>
                <a:ea typeface="+mn-ea"/>
                <a:cs typeface="+mn-cs"/>
              </a:rPr>
              <a:t>06</a:t>
            </a:r>
          </a:p>
        </p:txBody>
      </p:sp>
      <p:sp>
        <p:nvSpPr>
          <p:cNvPr id="27" name="TextBox 26"/>
          <p:cNvSpPr txBox="1"/>
          <p:nvPr/>
        </p:nvSpPr>
        <p:spPr>
          <a:xfrm>
            <a:off x="1325880" y="5166360"/>
            <a:ext cx="1353312"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0AA80"/>
                </a:solidFill>
                <a:effectLst/>
                <a:uLnTx/>
                <a:uFillTx/>
                <a:latin typeface="Aptos"/>
                <a:ea typeface="+mn-ea"/>
                <a:cs typeface="+mn-cs"/>
              </a:rPr>
              <a:t>EXIT</a:t>
            </a:r>
          </a:p>
        </p:txBody>
      </p:sp>
      <p:sp>
        <p:nvSpPr>
          <p:cNvPr id="28" name="TextBox 27"/>
          <p:cNvSpPr txBox="1"/>
          <p:nvPr/>
        </p:nvSpPr>
        <p:spPr>
          <a:xfrm>
            <a:off x="2816352" y="5166360"/>
            <a:ext cx="8183879"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When must it ask, fail safely, stop, or request approval?</a:t>
            </a:r>
          </a:p>
        </p:txBody>
      </p:sp>
      <p:sp>
        <p:nvSpPr>
          <p:cNvPr id="29" name="Rectangle 28"/>
          <p:cNvSpPr/>
          <p:nvPr/>
        </p:nvSpPr>
        <p:spPr>
          <a:xfrm>
            <a:off x="1325880" y="5641848"/>
            <a:ext cx="9674352"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Rectangle 29"/>
          <p:cNvSpPr/>
          <p:nvPr/>
        </p:nvSpPr>
        <p:spPr>
          <a:xfrm>
            <a:off x="960120" y="5907024"/>
            <a:ext cx="10058400" cy="384048"/>
          </a:xfrm>
          <a:prstGeom prst="rect">
            <a:avLst/>
          </a:prstGeom>
          <a:solidFill>
            <a:srgbClr val="0D162B"/>
          </a:solidFill>
          <a:ln>
            <a:solidFill>
              <a:srgbClr val="0D162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31" name="TextBox 30"/>
          <p:cNvSpPr txBox="1"/>
          <p:nvPr/>
        </p:nvSpPr>
        <p:spPr>
          <a:xfrm>
            <a:off x="1188720" y="5998464"/>
            <a:ext cx="9601200" cy="201168"/>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ptos"/>
                <a:ea typeface="+mn-ea"/>
                <a:cs typeface="+mn-cs"/>
              </a:rPr>
              <a:t>If the answers are vague, the skill is not ready.</a:t>
            </a:r>
          </a:p>
        </p:txBody>
      </p:sp>
    </p:spTree>
    <p:extLst>
      <p:ext uri="{BB962C8B-B14F-4D97-AF65-F5344CB8AC3E}">
        <p14:creationId xmlns:p14="http://schemas.microsoft.com/office/powerpoint/2010/main" val="625756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e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4" name="TextBox 3"/>
          <p:cNvSpPr txBox="1"/>
          <p:nvPr/>
        </p:nvSpPr>
        <p:spPr>
          <a:xfrm>
            <a:off x="11091672" y="6473952"/>
            <a:ext cx="438912" cy="123111"/>
          </a:xfrm>
          <a:prstGeom prst="rect">
            <a:avLst/>
          </a:prstGeom>
          <a:noFill/>
        </p:spPr>
        <p:txBody>
          <a:bodyPr wrap="square" lIns="0" tIns="0" rIns="0" bIns="0" anchor="t">
            <a:spAutoFit/>
          </a:bodyPr>
          <a:lstStyle/>
          <a:p>
            <a:pPr algn="r"/>
            <a:r>
              <a:rPr lang="en-US" sz="800" b="1">
                <a:solidFill>
                  <a:srgbClr val="B2BCD3"/>
                </a:solidFill>
                <a:latin typeface="Aptos"/>
              </a:rPr>
              <a:t>23</a:t>
            </a:r>
            <a:endParaRPr sz="800" b="1">
              <a:solidFill>
                <a:srgbClr val="B2BCD3"/>
              </a:solidFill>
              <a:latin typeface="Aptos"/>
            </a:endParaRPr>
          </a:p>
        </p:txBody>
      </p:sp>
      <p:sp>
        <p:nvSpPr>
          <p:cNvPr id="5" name="TextBox 4"/>
          <p:cNvSpPr txBox="1"/>
          <p:nvPr/>
        </p:nvSpPr>
        <p:spPr>
          <a:xfrm>
            <a:off x="694944" y="1188720"/>
            <a:ext cx="6217920" cy="569387"/>
          </a:xfrm>
          <a:prstGeom prst="rect">
            <a:avLst/>
          </a:prstGeom>
          <a:noFill/>
        </p:spPr>
        <p:txBody>
          <a:bodyPr wrap="square" lIns="0" tIns="0" rIns="0" bIns="0" anchor="t">
            <a:spAutoFit/>
          </a:bodyPr>
          <a:lstStyle/>
          <a:p>
            <a:pPr algn="l"/>
            <a:r>
              <a:rPr lang="en-US" sz="3700" b="1" dirty="0">
                <a:solidFill>
                  <a:srgbClr val="FFFFFF"/>
                </a:solidFill>
                <a:latin typeface="Aptos"/>
              </a:rPr>
              <a:t>Safely Enable AI</a:t>
            </a:r>
            <a:endParaRPr sz="3700" b="1" dirty="0">
              <a:solidFill>
                <a:srgbClr val="FFFFFF"/>
              </a:solidFill>
              <a:latin typeface="Aptos"/>
            </a:endParaRPr>
          </a:p>
        </p:txBody>
      </p:sp>
      <p:sp>
        <p:nvSpPr>
          <p:cNvPr id="6" name="TextBox 5"/>
          <p:cNvSpPr txBox="1"/>
          <p:nvPr/>
        </p:nvSpPr>
        <p:spPr>
          <a:xfrm>
            <a:off x="694944" y="2039112"/>
            <a:ext cx="6217920" cy="569387"/>
          </a:xfrm>
          <a:prstGeom prst="rect">
            <a:avLst/>
          </a:prstGeom>
          <a:noFill/>
        </p:spPr>
        <p:txBody>
          <a:bodyPr wrap="square" lIns="0" tIns="0" rIns="0" bIns="0" anchor="t">
            <a:spAutoFit/>
          </a:bodyPr>
          <a:lstStyle/>
          <a:p>
            <a:pPr algn="l"/>
            <a:r>
              <a:rPr lang="en-US" sz="3700" b="1" dirty="0">
                <a:solidFill>
                  <a:srgbClr val="00B1D9"/>
                </a:solidFill>
                <a:latin typeface="Aptos"/>
              </a:rPr>
              <a:t>Enterprise Vision</a:t>
            </a:r>
            <a:endParaRPr sz="3700" b="1" dirty="0">
              <a:solidFill>
                <a:srgbClr val="00B1D9"/>
              </a:solidFill>
              <a:latin typeface="Aptos"/>
            </a:endParaRPr>
          </a:p>
        </p:txBody>
      </p:sp>
      <p:sp>
        <p:nvSpPr>
          <p:cNvPr id="7" name="Rectangle 6"/>
          <p:cNvSpPr/>
          <p:nvPr/>
        </p:nvSpPr>
        <p:spPr>
          <a:xfrm>
            <a:off x="713232" y="3054096"/>
            <a:ext cx="1115568" cy="73152"/>
          </a:xfrm>
          <a:prstGeom prst="rect">
            <a:avLst/>
          </a:prstGeom>
          <a:solidFill>
            <a:srgbClr val="EF3281"/>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58368" y="667512"/>
            <a:ext cx="10744200" cy="430887"/>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B0F0"/>
                </a:solidFill>
                <a:effectLst/>
                <a:uLnTx/>
                <a:uFillTx/>
                <a:latin typeface="Aptos"/>
                <a:ea typeface="+mn-ea"/>
                <a:cs typeface="+mn-cs"/>
              </a:rPr>
              <a:t>Microsoft’s Vision: Safely Enable AI</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B2BCD3"/>
                </a:solidFill>
                <a:effectLst/>
                <a:uLnTx/>
                <a:uFillTx/>
                <a:latin typeface="Aptos"/>
                <a:ea typeface="+mn-ea"/>
                <a:cs typeface="+mn-cs"/>
              </a:rPr>
              <a:t>17</a:t>
            </a:r>
          </a:p>
        </p:txBody>
      </p:sp>
      <p:sp>
        <p:nvSpPr>
          <p:cNvPr id="6" name="TextBox 5"/>
          <p:cNvSpPr txBox="1"/>
          <p:nvPr/>
        </p:nvSpPr>
        <p:spPr>
          <a:xfrm>
            <a:off x="749808" y="1490472"/>
            <a:ext cx="2148840" cy="256032"/>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B1D9"/>
                </a:solidFill>
                <a:effectLst/>
                <a:uLnTx/>
                <a:uFillTx/>
                <a:latin typeface="Aptos"/>
                <a:ea typeface="+mn-ea"/>
                <a:cs typeface="+mn-cs"/>
              </a:rPr>
              <a:t>END USER</a:t>
            </a:r>
            <a:endParaRPr kumimoji="0" sz="1600" b="1" i="0" u="none" strike="noStrike" kern="1200" cap="none" spc="0" normalizeH="0" baseline="0" noProof="0" dirty="0">
              <a:ln>
                <a:noFill/>
              </a:ln>
              <a:solidFill>
                <a:srgbClr val="00B1D9"/>
              </a:solidFill>
              <a:effectLst/>
              <a:uLnTx/>
              <a:uFillTx/>
              <a:latin typeface="Aptos"/>
              <a:ea typeface="+mn-ea"/>
              <a:cs typeface="+mn-cs"/>
            </a:endParaRPr>
          </a:p>
        </p:txBody>
      </p:sp>
      <p:sp>
        <p:nvSpPr>
          <p:cNvPr id="7" name="TextBox 6"/>
          <p:cNvSpPr txBox="1"/>
          <p:nvPr/>
        </p:nvSpPr>
        <p:spPr>
          <a:xfrm>
            <a:off x="749808" y="1874519"/>
            <a:ext cx="2880360" cy="615553"/>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dirty="0">
                <a:ln>
                  <a:noFill/>
                </a:ln>
                <a:solidFill>
                  <a:srgbClr val="FFFFFF"/>
                </a:solidFill>
                <a:effectLst/>
                <a:uLnTx/>
                <a:uFillTx/>
                <a:latin typeface="Aptos"/>
                <a:ea typeface="+mn-ea"/>
                <a:cs typeface="+mn-cs"/>
              </a:rPr>
              <a:t>Build a precise</a:t>
            </a:r>
            <a:r>
              <a:rPr kumimoji="0" lang="en-US" sz="2000" b="1" i="0" u="none" strike="noStrike" kern="1200" cap="none" spc="0" normalizeH="0" baseline="0" noProof="0" dirty="0">
                <a:ln>
                  <a:noFill/>
                </a:ln>
                <a:solidFill>
                  <a:srgbClr val="FFFFFF"/>
                </a:solidFill>
                <a:effectLst/>
                <a:uLnTx/>
                <a:uFillTx/>
                <a:latin typeface="Aptos"/>
                <a:ea typeface="+mn-ea"/>
                <a:cs typeface="+mn-cs"/>
              </a:rPr>
              <a:t>, secure</a:t>
            </a:r>
            <a:r>
              <a:rPr kumimoji="0" sz="2000" b="1" i="0" u="none" strike="noStrike" kern="1200" cap="none" spc="0" normalizeH="0" baseline="0" noProof="0" dirty="0">
                <a:ln>
                  <a:noFill/>
                </a:ln>
                <a:solidFill>
                  <a:srgbClr val="FFFFFF"/>
                </a:solidFill>
                <a:effectLst/>
                <a:uLnTx/>
                <a:uFillTx/>
                <a:latin typeface="Aptos"/>
                <a:ea typeface="+mn-ea"/>
                <a:cs typeface="+mn-cs"/>
              </a:rPr>
              <a:t> skill</a:t>
            </a:r>
          </a:p>
        </p:txBody>
      </p:sp>
      <p:sp>
        <p:nvSpPr>
          <p:cNvPr id="8" name="TextBox 7"/>
          <p:cNvSpPr txBox="1"/>
          <p:nvPr/>
        </p:nvSpPr>
        <p:spPr>
          <a:xfrm>
            <a:off x="704088" y="2504337"/>
            <a:ext cx="3017520" cy="430887"/>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chemeClr val="bg1"/>
                </a:solidFill>
                <a:effectLst/>
                <a:uLnTx/>
                <a:uFillTx/>
                <a:latin typeface="Aptos"/>
                <a:ea typeface="+mn-ea"/>
                <a:cs typeface="+mn-cs"/>
              </a:rPr>
              <a:t>Define </a:t>
            </a:r>
            <a:r>
              <a:rPr kumimoji="0" lang="en-US" sz="1400" b="0" i="0" u="none" strike="noStrike" kern="1200" cap="none" spc="0" normalizeH="0" baseline="0" noProof="0" dirty="0">
                <a:ln>
                  <a:noFill/>
                </a:ln>
                <a:solidFill>
                  <a:schemeClr val="bg1"/>
                </a:solidFill>
                <a:effectLst/>
                <a:uLnTx/>
                <a:uFillTx/>
                <a:latin typeface="Aptos"/>
                <a:ea typeface="+mn-ea"/>
                <a:cs typeface="+mn-cs"/>
              </a:rPr>
              <a:t>agent’s</a:t>
            </a:r>
            <a:r>
              <a:rPr kumimoji="0" sz="1400" b="0" i="0" u="none" strike="noStrike" kern="1200" cap="none" spc="0" normalizeH="0" baseline="0" noProof="0" dirty="0">
                <a:ln>
                  <a:noFill/>
                </a:ln>
                <a:solidFill>
                  <a:schemeClr val="bg1"/>
                </a:solidFill>
                <a:effectLst/>
                <a:uLnTx/>
                <a:uFillTx/>
                <a:latin typeface="Aptos"/>
                <a:ea typeface="+mn-ea"/>
                <a:cs typeface="+mn-cs"/>
              </a:rPr>
              <a:t> job, context, access,
approvals, failure, and stopping.</a:t>
            </a:r>
          </a:p>
        </p:txBody>
      </p:sp>
      <p:sp>
        <p:nvSpPr>
          <p:cNvPr id="9" name="TextBox 8"/>
          <p:cNvSpPr txBox="1"/>
          <p:nvPr/>
        </p:nvSpPr>
        <p:spPr>
          <a:xfrm>
            <a:off x="3950208" y="2212848"/>
            <a:ext cx="594360" cy="502920"/>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a:ln>
                  <a:noFill/>
                </a:ln>
                <a:solidFill>
                  <a:srgbClr val="EF3281"/>
                </a:solidFill>
                <a:effectLst/>
                <a:uLnTx/>
                <a:uFillTx/>
                <a:latin typeface="Aptos"/>
                <a:ea typeface="+mn-ea"/>
                <a:cs typeface="+mn-cs"/>
              </a:rPr>
              <a:t>→</a:t>
            </a:r>
          </a:p>
        </p:txBody>
      </p:sp>
      <p:sp>
        <p:nvSpPr>
          <p:cNvPr id="10" name="TextBox 9"/>
          <p:cNvSpPr txBox="1"/>
          <p:nvPr/>
        </p:nvSpPr>
        <p:spPr>
          <a:xfrm>
            <a:off x="4773168" y="1490472"/>
            <a:ext cx="2148840" cy="256032"/>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EF3281"/>
                </a:solidFill>
                <a:effectLst/>
                <a:uLnTx/>
                <a:uFillTx/>
                <a:latin typeface="Aptos"/>
                <a:ea typeface="+mn-ea"/>
                <a:cs typeface="+mn-cs"/>
              </a:rPr>
              <a:t>ENTERPRISE</a:t>
            </a:r>
          </a:p>
        </p:txBody>
      </p:sp>
      <p:sp>
        <p:nvSpPr>
          <p:cNvPr id="11" name="TextBox 10"/>
          <p:cNvSpPr txBox="1"/>
          <p:nvPr/>
        </p:nvSpPr>
        <p:spPr>
          <a:xfrm>
            <a:off x="4773168" y="1874519"/>
            <a:ext cx="3154680" cy="384048"/>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FFFFFF"/>
                </a:solidFill>
                <a:effectLst/>
                <a:uLnTx/>
                <a:uFillTx/>
                <a:latin typeface="Aptos"/>
                <a:ea typeface="+mn-ea"/>
                <a:cs typeface="+mn-cs"/>
              </a:rPr>
              <a:t>Enforce the boundary</a:t>
            </a:r>
          </a:p>
        </p:txBody>
      </p:sp>
      <p:sp>
        <p:nvSpPr>
          <p:cNvPr id="12" name="TextBox 11"/>
          <p:cNvSpPr txBox="1"/>
          <p:nvPr/>
        </p:nvSpPr>
        <p:spPr>
          <a:xfrm>
            <a:off x="4773168" y="2395728"/>
            <a:ext cx="3520440" cy="430887"/>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chemeClr val="bg1"/>
                </a:solidFill>
                <a:effectLst/>
                <a:uLnTx/>
                <a:uFillTx/>
                <a:latin typeface="Aptos"/>
                <a:ea typeface="+mn-ea"/>
                <a:cs typeface="+mn-cs"/>
              </a:rPr>
              <a:t>Discover agents, govern their lifecycle,
and make access decisions at runtime.</a:t>
            </a:r>
          </a:p>
        </p:txBody>
      </p:sp>
      <p:sp>
        <p:nvSpPr>
          <p:cNvPr id="13" name="Rectangle 12"/>
          <p:cNvSpPr/>
          <p:nvPr/>
        </p:nvSpPr>
        <p:spPr>
          <a:xfrm>
            <a:off x="749808" y="3950208"/>
            <a:ext cx="3246120" cy="1325880"/>
          </a:xfrm>
          <a:prstGeom prst="rect">
            <a:avLst/>
          </a:prstGeom>
          <a:solidFill>
            <a:srgbClr val="0E1436"/>
          </a:solidFill>
          <a:ln>
            <a:solidFill>
              <a:srgbClr val="00B1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sz="1765" b="0" i="0" u="none" strike="noStrike" kern="1200" cap="none" spc="0" normalizeH="0" baseline="0" noProof="0">
              <a:ln>
                <a:noFill/>
              </a:ln>
              <a:solidFill>
                <a:srgbClr val="FFFFFF"/>
              </a:solidFill>
              <a:effectLst/>
              <a:uLnTx/>
              <a:uFillTx/>
              <a:latin typeface="Calibri"/>
              <a:ea typeface="+mn-ea"/>
              <a:cs typeface="+mn-cs"/>
            </a:endParaRPr>
          </a:p>
        </p:txBody>
      </p:sp>
      <p:sp>
        <p:nvSpPr>
          <p:cNvPr id="14" name="TextBox 13"/>
          <p:cNvSpPr txBox="1"/>
          <p:nvPr/>
        </p:nvSpPr>
        <p:spPr>
          <a:xfrm>
            <a:off x="969264" y="4215384"/>
            <a:ext cx="2788920" cy="274320"/>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00B1D9"/>
                </a:solidFill>
                <a:effectLst/>
                <a:uLnTx/>
                <a:uFillTx/>
                <a:latin typeface="Aptos"/>
                <a:ea typeface="+mn-ea"/>
                <a:cs typeface="+mn-cs"/>
              </a:rPr>
              <a:t>OBSERVE</a:t>
            </a:r>
          </a:p>
        </p:txBody>
      </p:sp>
      <p:sp>
        <p:nvSpPr>
          <p:cNvPr id="15" name="TextBox 14"/>
          <p:cNvSpPr txBox="1"/>
          <p:nvPr/>
        </p:nvSpPr>
        <p:spPr>
          <a:xfrm>
            <a:off x="978407" y="4636008"/>
            <a:ext cx="2788920" cy="475488"/>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FFFFFF"/>
                </a:solidFill>
                <a:effectLst/>
                <a:uLnTx/>
                <a:uFillTx/>
                <a:latin typeface="Aptos"/>
                <a:ea typeface="+mn-ea"/>
                <a:cs typeface="+mn-cs"/>
              </a:rPr>
              <a:t>Know which agents exist,
who owns them, and what they do.</a:t>
            </a:r>
          </a:p>
        </p:txBody>
      </p:sp>
      <p:sp>
        <p:nvSpPr>
          <p:cNvPr id="16" name="Rectangle 15"/>
          <p:cNvSpPr/>
          <p:nvPr/>
        </p:nvSpPr>
        <p:spPr>
          <a:xfrm>
            <a:off x="4407408" y="3950208"/>
            <a:ext cx="3246120" cy="1325880"/>
          </a:xfrm>
          <a:prstGeom prst="rect">
            <a:avLst/>
          </a:prstGeom>
          <a:solidFill>
            <a:srgbClr val="0E1436"/>
          </a:solidFill>
          <a:ln>
            <a:solidFill>
              <a:srgbClr val="7E41E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sz="1765" b="0" i="0" u="none" strike="noStrike" kern="1200" cap="none" spc="0" normalizeH="0" baseline="0" noProof="0">
              <a:ln>
                <a:noFill/>
              </a:ln>
              <a:solidFill>
                <a:srgbClr val="FFFFFF"/>
              </a:solidFill>
              <a:effectLst/>
              <a:uLnTx/>
              <a:uFillTx/>
              <a:latin typeface="Calibri"/>
              <a:ea typeface="+mn-ea"/>
              <a:cs typeface="+mn-cs"/>
            </a:endParaRPr>
          </a:p>
        </p:txBody>
      </p:sp>
      <p:sp>
        <p:nvSpPr>
          <p:cNvPr id="17" name="TextBox 16"/>
          <p:cNvSpPr txBox="1"/>
          <p:nvPr/>
        </p:nvSpPr>
        <p:spPr>
          <a:xfrm>
            <a:off x="4626864" y="4215384"/>
            <a:ext cx="2788920" cy="274320"/>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7E41E8"/>
                </a:solidFill>
                <a:effectLst/>
                <a:uLnTx/>
                <a:uFillTx/>
                <a:latin typeface="Aptos"/>
                <a:ea typeface="+mn-ea"/>
                <a:cs typeface="+mn-cs"/>
              </a:rPr>
              <a:t>GOVERN</a:t>
            </a:r>
          </a:p>
        </p:txBody>
      </p:sp>
      <p:sp>
        <p:nvSpPr>
          <p:cNvPr id="18" name="TextBox 17"/>
          <p:cNvSpPr txBox="1"/>
          <p:nvPr/>
        </p:nvSpPr>
        <p:spPr>
          <a:xfrm>
            <a:off x="4636008" y="4636008"/>
            <a:ext cx="2788920" cy="475488"/>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FFFFFF"/>
                </a:solidFill>
                <a:effectLst/>
                <a:uLnTx/>
                <a:uFillTx/>
                <a:latin typeface="Aptos"/>
                <a:ea typeface="+mn-ea"/>
                <a:cs typeface="+mn-cs"/>
              </a:rPr>
              <a:t>Control identity, access,
ownership, and lifecycle.</a:t>
            </a:r>
          </a:p>
        </p:txBody>
      </p:sp>
      <p:sp>
        <p:nvSpPr>
          <p:cNvPr id="19" name="Rectangle 18"/>
          <p:cNvSpPr/>
          <p:nvPr/>
        </p:nvSpPr>
        <p:spPr>
          <a:xfrm>
            <a:off x="8065008" y="3950208"/>
            <a:ext cx="3246120" cy="1325880"/>
          </a:xfrm>
          <a:prstGeom prst="rect">
            <a:avLst/>
          </a:prstGeom>
          <a:solidFill>
            <a:srgbClr val="0E1436"/>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sz="1765" b="0" i="0" u="none" strike="noStrike" kern="1200" cap="none" spc="0" normalizeH="0" baseline="0" noProof="0">
              <a:ln>
                <a:noFill/>
              </a:ln>
              <a:solidFill>
                <a:srgbClr val="FFFFFF"/>
              </a:solidFill>
              <a:effectLst/>
              <a:uLnTx/>
              <a:uFillTx/>
              <a:latin typeface="Calibri"/>
              <a:ea typeface="+mn-ea"/>
              <a:cs typeface="+mn-cs"/>
            </a:endParaRPr>
          </a:p>
        </p:txBody>
      </p:sp>
      <p:sp>
        <p:nvSpPr>
          <p:cNvPr id="20" name="TextBox 19"/>
          <p:cNvSpPr txBox="1"/>
          <p:nvPr/>
        </p:nvSpPr>
        <p:spPr>
          <a:xfrm>
            <a:off x="8284464" y="4215384"/>
            <a:ext cx="2788920" cy="274320"/>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1500" b="1" i="0" u="none" strike="noStrike" kern="1200" cap="none" spc="0" normalizeH="0" baseline="0" noProof="0">
                <a:ln>
                  <a:noFill/>
                </a:ln>
                <a:solidFill>
                  <a:srgbClr val="EF3281"/>
                </a:solidFill>
                <a:effectLst/>
                <a:uLnTx/>
                <a:uFillTx/>
                <a:latin typeface="Aptos"/>
                <a:ea typeface="+mn-ea"/>
                <a:cs typeface="+mn-cs"/>
              </a:rPr>
              <a:t>SECURE</a:t>
            </a:r>
          </a:p>
        </p:txBody>
      </p:sp>
      <p:sp>
        <p:nvSpPr>
          <p:cNvPr id="21" name="TextBox 20"/>
          <p:cNvSpPr txBox="1"/>
          <p:nvPr/>
        </p:nvSpPr>
        <p:spPr>
          <a:xfrm>
            <a:off x="8293608" y="4636008"/>
            <a:ext cx="2788920" cy="475488"/>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FFFFFF"/>
                </a:solidFill>
                <a:effectLst/>
                <a:uLnTx/>
                <a:uFillTx/>
                <a:latin typeface="Aptos"/>
                <a:ea typeface="+mn-ea"/>
                <a:cs typeface="+mn-cs"/>
              </a:rPr>
              <a:t>Apply identity, data, threat,
and network controls.</a:t>
            </a:r>
          </a:p>
        </p:txBody>
      </p:sp>
      <p:sp>
        <p:nvSpPr>
          <p:cNvPr id="22" name="TextBox 21"/>
          <p:cNvSpPr txBox="1"/>
          <p:nvPr/>
        </p:nvSpPr>
        <p:spPr>
          <a:xfrm>
            <a:off x="822960" y="5797296"/>
            <a:ext cx="10515600" cy="329184"/>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Aptos"/>
                <a:ea typeface="+mn-ea"/>
                <a:cs typeface="+mn-cs"/>
              </a:rPr>
              <a:t>Microsoft Agent 365 extends existing Microsoft security and management controls to agents.</a:t>
            </a:r>
          </a:p>
        </p:txBody>
      </p:sp>
    </p:spTree>
    <p:extLst>
      <p:ext uri="{BB962C8B-B14F-4D97-AF65-F5344CB8AC3E}">
        <p14:creationId xmlns:p14="http://schemas.microsoft.com/office/powerpoint/2010/main" val="3494356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illustrating the steps to manage and secure IT agents, including observation, governance, secure operation, detection, monitoring, investigation, remediation, and recovery.&#10;&#10;AI-generated content may be incorrect.">
            <a:extLst>
              <a:ext uri="{FF2B5EF4-FFF2-40B4-BE49-F238E27FC236}">
                <a16:creationId xmlns:a16="http://schemas.microsoft.com/office/drawing/2014/main" id="{8A144671-EA6C-9F7C-2F4E-DF4D92399AA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2523" y="-28373"/>
            <a:ext cx="12363937" cy="6940591"/>
          </a:xfrm>
          <a:prstGeom prst="rect">
            <a:avLst/>
          </a:prstGeom>
        </p:spPr>
      </p:pic>
    </p:spTree>
    <p:extLst>
      <p:ext uri="{BB962C8B-B14F-4D97-AF65-F5344CB8AC3E}">
        <p14:creationId xmlns:p14="http://schemas.microsoft.com/office/powerpoint/2010/main" val="2903546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diagram illustrates the lifecycle management of security agents, detailing steps such as discovery, governance, detection, investigation, remediation, and recovery, emphasizing the importance of authorization, risk assessment, and continuous monitoring to ensure data protection and compliance.&#10;&#10;AI-generated content may be incorrect.">
            <a:extLst>
              <a:ext uri="{FF2B5EF4-FFF2-40B4-BE49-F238E27FC236}">
                <a16:creationId xmlns:a16="http://schemas.microsoft.com/office/drawing/2014/main" id="{7428A7D7-248D-02E5-09DF-AC1960F27ED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 y="-33216"/>
            <a:ext cx="12254522" cy="6893169"/>
          </a:xfrm>
          <a:prstGeom prst="rect">
            <a:avLst/>
          </a:prstGeom>
        </p:spPr>
      </p:pic>
    </p:spTree>
    <p:extLst>
      <p:ext uri="{BB962C8B-B14F-4D97-AF65-F5344CB8AC3E}">
        <p14:creationId xmlns:p14="http://schemas.microsoft.com/office/powerpoint/2010/main" val="1468099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algn="l"/>
            <a:r>
              <a:rPr sz="850" b="1">
                <a:solidFill>
                  <a:srgbClr val="00B1D9"/>
                </a:solidFill>
                <a:latin typeface="Aptos"/>
              </a:rPr>
              <a:t>AGENT 365 + MICROSOFT ENTRA AGENT ID</a:t>
            </a:r>
          </a:p>
        </p:txBody>
      </p:sp>
      <p:sp>
        <p:nvSpPr>
          <p:cNvPr id="3" name="TextBox 2"/>
          <p:cNvSpPr txBox="1"/>
          <p:nvPr/>
        </p:nvSpPr>
        <p:spPr>
          <a:xfrm>
            <a:off x="658368" y="667512"/>
            <a:ext cx="10744200" cy="430887"/>
          </a:xfrm>
          <a:prstGeom prst="rect">
            <a:avLst/>
          </a:prstGeom>
          <a:noFill/>
        </p:spPr>
        <p:txBody>
          <a:bodyPr wrap="square" lIns="0" tIns="0" rIns="0" bIns="0" anchor="t">
            <a:spAutoFit/>
          </a:bodyPr>
          <a:lstStyle/>
          <a:p>
            <a:pPr algn="l"/>
            <a:r>
              <a:rPr sz="2800" b="1" dirty="0">
                <a:solidFill>
                  <a:schemeClr val="bg2"/>
                </a:solidFill>
                <a:latin typeface="Aptos"/>
              </a:rPr>
              <a:t>Observe: discover agents and give them identity</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576276"/>
                </a:solidFill>
                <a:latin typeface="Aptos"/>
              </a:rPr>
              <a:t>18</a:t>
            </a:r>
          </a:p>
        </p:txBody>
      </p:sp>
      <p:sp>
        <p:nvSpPr>
          <p:cNvPr id="6" name="TextBox 5"/>
          <p:cNvSpPr txBox="1"/>
          <p:nvPr/>
        </p:nvSpPr>
        <p:spPr>
          <a:xfrm>
            <a:off x="749808" y="1335024"/>
            <a:ext cx="10241280" cy="261610"/>
          </a:xfrm>
          <a:prstGeom prst="rect">
            <a:avLst/>
          </a:prstGeom>
          <a:noFill/>
        </p:spPr>
        <p:txBody>
          <a:bodyPr wrap="square" lIns="0" tIns="0" rIns="0" bIns="0" anchor="t">
            <a:spAutoFit/>
          </a:bodyPr>
          <a:lstStyle/>
          <a:p>
            <a:pPr algn="l"/>
            <a:r>
              <a:rPr sz="1700" b="1" dirty="0">
                <a:solidFill>
                  <a:schemeClr val="bg2"/>
                </a:solidFill>
                <a:latin typeface="Aptos"/>
              </a:rPr>
              <a:t>You cannot govern an agent you cannot see—or distinguish from the user invoking it.</a:t>
            </a:r>
          </a:p>
        </p:txBody>
      </p:sp>
      <p:sp>
        <p:nvSpPr>
          <p:cNvPr id="7" name="Rectangle 6"/>
          <p:cNvSpPr/>
          <p:nvPr/>
        </p:nvSpPr>
        <p:spPr>
          <a:xfrm>
            <a:off x="749808" y="1965960"/>
            <a:ext cx="4617720" cy="3401568"/>
          </a:xfrm>
          <a:prstGeom prst="rect">
            <a:avLst/>
          </a:prstGeom>
          <a:solidFill>
            <a:srgbClr val="F9FAFC"/>
          </a:solidFill>
          <a:ln>
            <a:solidFill>
              <a:srgbClr val="00B1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2267712"/>
            <a:ext cx="4069080" cy="292608"/>
          </a:xfrm>
          <a:prstGeom prst="rect">
            <a:avLst/>
          </a:prstGeom>
          <a:noFill/>
        </p:spPr>
        <p:txBody>
          <a:bodyPr wrap="square" lIns="0" tIns="0" rIns="0" bIns="0" anchor="t">
            <a:spAutoFit/>
          </a:bodyPr>
          <a:lstStyle/>
          <a:p>
            <a:pPr algn="ctr"/>
            <a:r>
              <a:rPr sz="1600" b="1">
                <a:solidFill>
                  <a:srgbClr val="00B1D9"/>
                </a:solidFill>
                <a:latin typeface="Aptos"/>
              </a:rPr>
              <a:t>AGENT 365</a:t>
            </a:r>
          </a:p>
        </p:txBody>
      </p:sp>
      <p:sp>
        <p:nvSpPr>
          <p:cNvPr id="9" name="TextBox 8"/>
          <p:cNvSpPr txBox="1"/>
          <p:nvPr/>
        </p:nvSpPr>
        <p:spPr>
          <a:xfrm>
            <a:off x="1051560" y="2852928"/>
            <a:ext cx="256032" cy="228600"/>
          </a:xfrm>
          <a:prstGeom prst="rect">
            <a:avLst/>
          </a:prstGeom>
          <a:noFill/>
        </p:spPr>
        <p:txBody>
          <a:bodyPr wrap="square" lIns="0" tIns="0" rIns="0" bIns="0" anchor="t">
            <a:spAutoFit/>
          </a:bodyPr>
          <a:lstStyle/>
          <a:p>
            <a:pPr algn="l"/>
            <a:r>
              <a:rPr sz="1100" b="1">
                <a:solidFill>
                  <a:srgbClr val="EF3281"/>
                </a:solidFill>
                <a:latin typeface="Aptos"/>
              </a:rPr>
              <a:t>—</a:t>
            </a:r>
          </a:p>
        </p:txBody>
      </p:sp>
      <p:sp>
        <p:nvSpPr>
          <p:cNvPr id="10" name="TextBox 9"/>
          <p:cNvSpPr txBox="1"/>
          <p:nvPr/>
        </p:nvSpPr>
        <p:spPr>
          <a:xfrm>
            <a:off x="1417320" y="2816352"/>
            <a:ext cx="3520440" cy="329184"/>
          </a:xfrm>
          <a:prstGeom prst="rect">
            <a:avLst/>
          </a:prstGeom>
          <a:noFill/>
        </p:spPr>
        <p:txBody>
          <a:bodyPr wrap="square" lIns="0" tIns="0" rIns="0" bIns="0" anchor="t">
            <a:spAutoFit/>
          </a:bodyPr>
          <a:lstStyle/>
          <a:p>
            <a:pPr algn="l"/>
            <a:r>
              <a:rPr sz="1300" b="0">
                <a:solidFill>
                  <a:srgbClr val="0D162B"/>
                </a:solidFill>
                <a:latin typeface="Aptos"/>
              </a:rPr>
              <a:t>Centralized Agent 365 overview</a:t>
            </a:r>
          </a:p>
        </p:txBody>
      </p:sp>
      <p:sp>
        <p:nvSpPr>
          <p:cNvPr id="11" name="TextBox 10"/>
          <p:cNvSpPr txBox="1"/>
          <p:nvPr/>
        </p:nvSpPr>
        <p:spPr>
          <a:xfrm>
            <a:off x="1051560" y="3364992"/>
            <a:ext cx="256032" cy="228600"/>
          </a:xfrm>
          <a:prstGeom prst="rect">
            <a:avLst/>
          </a:prstGeom>
          <a:noFill/>
        </p:spPr>
        <p:txBody>
          <a:bodyPr wrap="square" lIns="0" tIns="0" rIns="0" bIns="0" anchor="t">
            <a:spAutoFit/>
          </a:bodyPr>
          <a:lstStyle/>
          <a:p>
            <a:pPr algn="l"/>
            <a:r>
              <a:rPr sz="1100" b="1">
                <a:solidFill>
                  <a:srgbClr val="EF3281"/>
                </a:solidFill>
                <a:latin typeface="Aptos"/>
              </a:rPr>
              <a:t>—</a:t>
            </a:r>
          </a:p>
        </p:txBody>
      </p:sp>
      <p:sp>
        <p:nvSpPr>
          <p:cNvPr id="12" name="TextBox 11"/>
          <p:cNvSpPr txBox="1"/>
          <p:nvPr/>
        </p:nvSpPr>
        <p:spPr>
          <a:xfrm>
            <a:off x="1417320" y="3328416"/>
            <a:ext cx="3520440" cy="329184"/>
          </a:xfrm>
          <a:prstGeom prst="rect">
            <a:avLst/>
          </a:prstGeom>
          <a:noFill/>
        </p:spPr>
        <p:txBody>
          <a:bodyPr wrap="square" lIns="0" tIns="0" rIns="0" bIns="0" anchor="t">
            <a:spAutoFit/>
          </a:bodyPr>
          <a:lstStyle/>
          <a:p>
            <a:pPr algn="l"/>
            <a:r>
              <a:rPr sz="1300" b="0">
                <a:solidFill>
                  <a:srgbClr val="0D162B"/>
                </a:solidFill>
                <a:latin typeface="Aptos"/>
              </a:rPr>
              <a:t>Inventory and usage visibility</a:t>
            </a:r>
          </a:p>
        </p:txBody>
      </p:sp>
      <p:sp>
        <p:nvSpPr>
          <p:cNvPr id="13" name="TextBox 12"/>
          <p:cNvSpPr txBox="1"/>
          <p:nvPr/>
        </p:nvSpPr>
        <p:spPr>
          <a:xfrm>
            <a:off x="1051560" y="3877056"/>
            <a:ext cx="256032" cy="228600"/>
          </a:xfrm>
          <a:prstGeom prst="rect">
            <a:avLst/>
          </a:prstGeom>
          <a:noFill/>
        </p:spPr>
        <p:txBody>
          <a:bodyPr wrap="square" lIns="0" tIns="0" rIns="0" bIns="0" anchor="t">
            <a:spAutoFit/>
          </a:bodyPr>
          <a:lstStyle/>
          <a:p>
            <a:pPr algn="l"/>
            <a:r>
              <a:rPr sz="1100" b="1">
                <a:solidFill>
                  <a:srgbClr val="EF3281"/>
                </a:solidFill>
                <a:latin typeface="Aptos"/>
              </a:rPr>
              <a:t>—</a:t>
            </a:r>
          </a:p>
        </p:txBody>
      </p:sp>
      <p:sp>
        <p:nvSpPr>
          <p:cNvPr id="14" name="TextBox 13"/>
          <p:cNvSpPr txBox="1"/>
          <p:nvPr/>
        </p:nvSpPr>
        <p:spPr>
          <a:xfrm>
            <a:off x="1417320" y="3840480"/>
            <a:ext cx="3520440" cy="329184"/>
          </a:xfrm>
          <a:prstGeom prst="rect">
            <a:avLst/>
          </a:prstGeom>
          <a:noFill/>
        </p:spPr>
        <p:txBody>
          <a:bodyPr wrap="square" lIns="0" tIns="0" rIns="0" bIns="0" anchor="t">
            <a:spAutoFit/>
          </a:bodyPr>
          <a:lstStyle/>
          <a:p>
            <a:pPr algn="l"/>
            <a:r>
              <a:rPr sz="1300" b="0">
                <a:solidFill>
                  <a:srgbClr val="0D162B"/>
                </a:solidFill>
                <a:latin typeface="Aptos"/>
              </a:rPr>
              <a:t>Security signals in one control plane</a:t>
            </a:r>
          </a:p>
        </p:txBody>
      </p:sp>
      <p:sp>
        <p:nvSpPr>
          <p:cNvPr id="15" name="TextBox 14"/>
          <p:cNvSpPr txBox="1"/>
          <p:nvPr/>
        </p:nvSpPr>
        <p:spPr>
          <a:xfrm>
            <a:off x="1051560" y="4389120"/>
            <a:ext cx="256032" cy="228600"/>
          </a:xfrm>
          <a:prstGeom prst="rect">
            <a:avLst/>
          </a:prstGeom>
          <a:noFill/>
        </p:spPr>
        <p:txBody>
          <a:bodyPr wrap="square" lIns="0" tIns="0" rIns="0" bIns="0" anchor="t">
            <a:spAutoFit/>
          </a:bodyPr>
          <a:lstStyle/>
          <a:p>
            <a:pPr algn="l"/>
            <a:r>
              <a:rPr sz="1100" b="1">
                <a:solidFill>
                  <a:srgbClr val="EF3281"/>
                </a:solidFill>
                <a:latin typeface="Aptos"/>
              </a:rPr>
              <a:t>—</a:t>
            </a:r>
          </a:p>
        </p:txBody>
      </p:sp>
      <p:sp>
        <p:nvSpPr>
          <p:cNvPr id="16" name="TextBox 15"/>
          <p:cNvSpPr txBox="1"/>
          <p:nvPr/>
        </p:nvSpPr>
        <p:spPr>
          <a:xfrm>
            <a:off x="1417320" y="4352544"/>
            <a:ext cx="3520440" cy="329184"/>
          </a:xfrm>
          <a:prstGeom prst="rect">
            <a:avLst/>
          </a:prstGeom>
          <a:noFill/>
        </p:spPr>
        <p:txBody>
          <a:bodyPr wrap="square" lIns="0" tIns="0" rIns="0" bIns="0" anchor="t">
            <a:spAutoFit/>
          </a:bodyPr>
          <a:lstStyle/>
          <a:p>
            <a:pPr algn="l"/>
            <a:r>
              <a:rPr sz="1300" b="0">
                <a:solidFill>
                  <a:srgbClr val="0D162B"/>
                </a:solidFill>
                <a:latin typeface="Aptos"/>
              </a:rPr>
              <a:t>Visibility into registered and shadow agents</a:t>
            </a:r>
          </a:p>
        </p:txBody>
      </p:sp>
      <p:sp>
        <p:nvSpPr>
          <p:cNvPr id="17" name="Rectangle 16"/>
          <p:cNvSpPr/>
          <p:nvPr/>
        </p:nvSpPr>
        <p:spPr>
          <a:xfrm>
            <a:off x="5779008" y="1965960"/>
            <a:ext cx="5349240" cy="3401568"/>
          </a:xfrm>
          <a:prstGeom prst="rect">
            <a:avLst/>
          </a:prstGeom>
          <a:solidFill>
            <a:srgbClr val="F9FAFC"/>
          </a:solidFill>
          <a:ln>
            <a:solidFill>
              <a:srgbClr val="7E4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53328" y="2267712"/>
            <a:ext cx="4800600" cy="292608"/>
          </a:xfrm>
          <a:prstGeom prst="rect">
            <a:avLst/>
          </a:prstGeom>
          <a:noFill/>
        </p:spPr>
        <p:txBody>
          <a:bodyPr wrap="square" lIns="0" tIns="0" rIns="0" bIns="0" anchor="t">
            <a:spAutoFit/>
          </a:bodyPr>
          <a:lstStyle/>
          <a:p>
            <a:pPr algn="ctr"/>
            <a:r>
              <a:rPr sz="1600" b="1">
                <a:solidFill>
                  <a:srgbClr val="7E41E8"/>
                </a:solidFill>
                <a:latin typeface="Aptos"/>
              </a:rPr>
              <a:t>USER IDENTITY  ≠  AGENT IDENTITY</a:t>
            </a:r>
          </a:p>
        </p:txBody>
      </p:sp>
      <p:sp>
        <p:nvSpPr>
          <p:cNvPr id="19" name="TextBox 18"/>
          <p:cNvSpPr txBox="1"/>
          <p:nvPr/>
        </p:nvSpPr>
        <p:spPr>
          <a:xfrm>
            <a:off x="6172200" y="2953512"/>
            <a:ext cx="1143000" cy="256032"/>
          </a:xfrm>
          <a:prstGeom prst="rect">
            <a:avLst/>
          </a:prstGeom>
          <a:noFill/>
        </p:spPr>
        <p:txBody>
          <a:bodyPr wrap="square" lIns="0" tIns="0" rIns="0" bIns="0" anchor="t">
            <a:spAutoFit/>
          </a:bodyPr>
          <a:lstStyle/>
          <a:p>
            <a:pPr algn="ctr"/>
            <a:r>
              <a:rPr sz="1100" b="1">
                <a:solidFill>
                  <a:srgbClr val="00B1D9"/>
                </a:solidFill>
                <a:latin typeface="Aptos"/>
              </a:rPr>
              <a:t>USER</a:t>
            </a:r>
          </a:p>
        </p:txBody>
      </p:sp>
      <p:sp>
        <p:nvSpPr>
          <p:cNvPr id="20" name="TextBox 19"/>
          <p:cNvSpPr txBox="1"/>
          <p:nvPr/>
        </p:nvSpPr>
        <p:spPr>
          <a:xfrm>
            <a:off x="5989320" y="3364992"/>
            <a:ext cx="1508760" cy="310896"/>
          </a:xfrm>
          <a:prstGeom prst="rect">
            <a:avLst/>
          </a:prstGeom>
          <a:noFill/>
        </p:spPr>
        <p:txBody>
          <a:bodyPr wrap="square" lIns="0" tIns="0" rIns="0" bIns="0" anchor="t">
            <a:spAutoFit/>
          </a:bodyPr>
          <a:lstStyle/>
          <a:p>
            <a:pPr algn="ctr"/>
            <a:r>
              <a:rPr sz="1200" b="1">
                <a:solidFill>
                  <a:srgbClr val="0D162B"/>
                </a:solidFill>
                <a:latin typeface="Aptos"/>
              </a:rPr>
              <a:t>Intent + approval</a:t>
            </a:r>
          </a:p>
        </p:txBody>
      </p:sp>
      <p:sp>
        <p:nvSpPr>
          <p:cNvPr id="21" name="TextBox 20"/>
          <p:cNvSpPr txBox="1"/>
          <p:nvPr/>
        </p:nvSpPr>
        <p:spPr>
          <a:xfrm>
            <a:off x="7571231" y="3191256"/>
            <a:ext cx="502920" cy="384048"/>
          </a:xfrm>
          <a:prstGeom prst="rect">
            <a:avLst/>
          </a:prstGeom>
          <a:noFill/>
        </p:spPr>
        <p:txBody>
          <a:bodyPr wrap="square" lIns="0" tIns="0" rIns="0" bIns="0" anchor="t">
            <a:spAutoFit/>
          </a:bodyPr>
          <a:lstStyle/>
          <a:p>
            <a:pPr algn="ctr"/>
            <a:r>
              <a:rPr sz="2200" b="1">
                <a:solidFill>
                  <a:srgbClr val="EF3281"/>
                </a:solidFill>
                <a:latin typeface="Aptos"/>
              </a:rPr>
              <a:t>→</a:t>
            </a:r>
          </a:p>
        </p:txBody>
      </p:sp>
      <p:sp>
        <p:nvSpPr>
          <p:cNvPr id="22" name="TextBox 21"/>
          <p:cNvSpPr txBox="1"/>
          <p:nvPr/>
        </p:nvSpPr>
        <p:spPr>
          <a:xfrm>
            <a:off x="8119872" y="2953512"/>
            <a:ext cx="1508760" cy="256032"/>
          </a:xfrm>
          <a:prstGeom prst="rect">
            <a:avLst/>
          </a:prstGeom>
          <a:noFill/>
        </p:spPr>
        <p:txBody>
          <a:bodyPr wrap="square" lIns="0" tIns="0" rIns="0" bIns="0" anchor="t">
            <a:spAutoFit/>
          </a:bodyPr>
          <a:lstStyle/>
          <a:p>
            <a:pPr algn="ctr"/>
            <a:r>
              <a:rPr sz="1100" b="1">
                <a:solidFill>
                  <a:srgbClr val="7E41E8"/>
                </a:solidFill>
                <a:latin typeface="Aptos"/>
              </a:rPr>
              <a:t>AGENT ID</a:t>
            </a:r>
          </a:p>
        </p:txBody>
      </p:sp>
      <p:sp>
        <p:nvSpPr>
          <p:cNvPr id="23" name="TextBox 22"/>
          <p:cNvSpPr txBox="1"/>
          <p:nvPr/>
        </p:nvSpPr>
        <p:spPr>
          <a:xfrm>
            <a:off x="8092440" y="3364992"/>
            <a:ext cx="1600200" cy="310896"/>
          </a:xfrm>
          <a:prstGeom prst="rect">
            <a:avLst/>
          </a:prstGeom>
          <a:noFill/>
        </p:spPr>
        <p:txBody>
          <a:bodyPr wrap="square" lIns="0" tIns="0" rIns="0" bIns="0" anchor="t">
            <a:spAutoFit/>
          </a:bodyPr>
          <a:lstStyle/>
          <a:p>
            <a:pPr algn="ctr"/>
            <a:r>
              <a:rPr sz="1200" b="1">
                <a:solidFill>
                  <a:srgbClr val="0D162B"/>
                </a:solidFill>
                <a:latin typeface="Aptos"/>
              </a:rPr>
              <a:t>Identity + access</a:t>
            </a:r>
          </a:p>
        </p:txBody>
      </p:sp>
      <p:sp>
        <p:nvSpPr>
          <p:cNvPr id="24" name="TextBox 23"/>
          <p:cNvSpPr txBox="1"/>
          <p:nvPr/>
        </p:nvSpPr>
        <p:spPr>
          <a:xfrm>
            <a:off x="9547999" y="3218688"/>
            <a:ext cx="502920" cy="384048"/>
          </a:xfrm>
          <a:prstGeom prst="rect">
            <a:avLst/>
          </a:prstGeom>
          <a:noFill/>
        </p:spPr>
        <p:txBody>
          <a:bodyPr wrap="square" lIns="0" tIns="0" rIns="0" bIns="0" anchor="t">
            <a:spAutoFit/>
          </a:bodyPr>
          <a:lstStyle/>
          <a:p>
            <a:pPr algn="ctr"/>
            <a:r>
              <a:rPr sz="2200" b="1" dirty="0">
                <a:solidFill>
                  <a:srgbClr val="EF3281"/>
                </a:solidFill>
                <a:latin typeface="Aptos"/>
              </a:rPr>
              <a:t>→</a:t>
            </a:r>
          </a:p>
        </p:txBody>
      </p:sp>
      <p:sp>
        <p:nvSpPr>
          <p:cNvPr id="25" name="TextBox 24"/>
          <p:cNvSpPr txBox="1"/>
          <p:nvPr/>
        </p:nvSpPr>
        <p:spPr>
          <a:xfrm>
            <a:off x="10058400" y="2953512"/>
            <a:ext cx="914400" cy="256032"/>
          </a:xfrm>
          <a:prstGeom prst="rect">
            <a:avLst/>
          </a:prstGeom>
          <a:noFill/>
        </p:spPr>
        <p:txBody>
          <a:bodyPr wrap="square" lIns="0" tIns="0" rIns="0" bIns="0" anchor="t">
            <a:spAutoFit/>
          </a:bodyPr>
          <a:lstStyle/>
          <a:p>
            <a:pPr algn="ctr"/>
            <a:r>
              <a:rPr sz="1100" b="1">
                <a:solidFill>
                  <a:srgbClr val="00AA80"/>
                </a:solidFill>
                <a:latin typeface="Aptos"/>
              </a:rPr>
              <a:t>RESOURCE</a:t>
            </a:r>
          </a:p>
        </p:txBody>
      </p:sp>
      <p:sp>
        <p:nvSpPr>
          <p:cNvPr id="26" name="TextBox 25"/>
          <p:cNvSpPr txBox="1"/>
          <p:nvPr/>
        </p:nvSpPr>
        <p:spPr>
          <a:xfrm>
            <a:off x="9921240" y="3364992"/>
            <a:ext cx="1188720" cy="310896"/>
          </a:xfrm>
          <a:prstGeom prst="rect">
            <a:avLst/>
          </a:prstGeom>
          <a:noFill/>
        </p:spPr>
        <p:txBody>
          <a:bodyPr wrap="square" lIns="0" tIns="0" rIns="0" bIns="0" anchor="t">
            <a:spAutoFit/>
          </a:bodyPr>
          <a:lstStyle/>
          <a:p>
            <a:pPr algn="ctr"/>
            <a:r>
              <a:rPr sz="1200" b="1">
                <a:solidFill>
                  <a:srgbClr val="0D162B"/>
                </a:solidFill>
                <a:latin typeface="Aptos"/>
              </a:rPr>
              <a:t>Policy decision</a:t>
            </a:r>
          </a:p>
        </p:txBody>
      </p:sp>
      <p:sp>
        <p:nvSpPr>
          <p:cNvPr id="27" name="TextBox 26"/>
          <p:cNvSpPr txBox="1"/>
          <p:nvPr/>
        </p:nvSpPr>
        <p:spPr>
          <a:xfrm>
            <a:off x="6144768" y="4160520"/>
            <a:ext cx="4663440" cy="731520"/>
          </a:xfrm>
          <a:prstGeom prst="rect">
            <a:avLst/>
          </a:prstGeom>
          <a:noFill/>
        </p:spPr>
        <p:txBody>
          <a:bodyPr wrap="square" lIns="0" tIns="0" rIns="0" bIns="0" anchor="t">
            <a:spAutoFit/>
          </a:bodyPr>
          <a:lstStyle/>
          <a:p>
            <a:pPr algn="ctr"/>
            <a:r>
              <a:rPr sz="1300" b="0">
                <a:solidFill>
                  <a:srgbClr val="576276"/>
                </a:solidFill>
                <a:latin typeface="Aptos"/>
              </a:rPr>
              <a:t>Agent ID gives the agent a distinct identity so access can be assigned,
observed, reviewed, and revoked separately from the human user.</a:t>
            </a:r>
          </a:p>
        </p:txBody>
      </p:sp>
      <p:sp>
        <p:nvSpPr>
          <p:cNvPr id="28" name="TextBox 27"/>
          <p:cNvSpPr txBox="1"/>
          <p:nvPr/>
        </p:nvSpPr>
        <p:spPr>
          <a:xfrm>
            <a:off x="749808" y="5824728"/>
            <a:ext cx="10378440" cy="320040"/>
          </a:xfrm>
          <a:prstGeom prst="rect">
            <a:avLst/>
          </a:prstGeom>
          <a:noFill/>
        </p:spPr>
        <p:txBody>
          <a:bodyPr wrap="square" lIns="0" tIns="0" rIns="0" bIns="0" anchor="t">
            <a:spAutoFit/>
          </a:bodyPr>
          <a:lstStyle/>
          <a:p>
            <a:pPr algn="l"/>
            <a:r>
              <a:rPr sz="1500" b="1">
                <a:solidFill>
                  <a:srgbClr val="EF3281"/>
                </a:solidFill>
                <a:latin typeface="Aptos"/>
              </a:rPr>
              <a:t>Do not let the agent disappear inside the user’s permissions.</a:t>
            </a:r>
          </a:p>
        </p:txBody>
      </p:sp>
    </p:spTree>
    <p:extLst>
      <p:ext uri="{BB962C8B-B14F-4D97-AF65-F5344CB8AC3E}">
        <p14:creationId xmlns:p14="http://schemas.microsoft.com/office/powerpoint/2010/main" val="352335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8046720" cy="215444"/>
          </a:xfrm>
          <a:prstGeom prst="rect">
            <a:avLst/>
          </a:prstGeom>
          <a:noFill/>
        </p:spPr>
        <p:txBody>
          <a:bodyPr wrap="square" lIns="0" tIns="0" rIns="0" bIns="0" anchor="t">
            <a:spAutoFit/>
          </a:bodyPr>
          <a:lstStyle/>
          <a:p>
            <a:pPr algn="l"/>
            <a:r>
              <a:rPr sz="1400" b="1" dirty="0">
                <a:solidFill>
                  <a:srgbClr val="00B1D9"/>
                </a:solidFill>
                <a:latin typeface="Aptos"/>
              </a:rPr>
              <a:t>IDENTITY GOVERNANCE FOR AGENTS</a:t>
            </a:r>
          </a:p>
        </p:txBody>
      </p:sp>
      <p:sp>
        <p:nvSpPr>
          <p:cNvPr id="3" name="TextBox 2"/>
          <p:cNvSpPr txBox="1"/>
          <p:nvPr/>
        </p:nvSpPr>
        <p:spPr>
          <a:xfrm>
            <a:off x="658368" y="667512"/>
            <a:ext cx="10744200" cy="658368"/>
          </a:xfrm>
          <a:prstGeom prst="rect">
            <a:avLst/>
          </a:prstGeom>
          <a:noFill/>
        </p:spPr>
        <p:txBody>
          <a:bodyPr wrap="square" lIns="0" tIns="0" rIns="0" bIns="0" anchor="t">
            <a:spAutoFit/>
          </a:bodyPr>
          <a:lstStyle/>
          <a:p>
            <a:pPr algn="l"/>
            <a:r>
              <a:rPr sz="2800" b="1">
                <a:solidFill>
                  <a:srgbClr val="FFFFFF"/>
                </a:solidFill>
                <a:latin typeface="Aptos"/>
              </a:rPr>
              <a:t>Govern: manage access across the agent lifecycle</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B2BCD3"/>
                </a:solidFill>
                <a:latin typeface="Aptos"/>
              </a:rPr>
              <a:t>19</a:t>
            </a:r>
          </a:p>
        </p:txBody>
      </p:sp>
      <p:sp>
        <p:nvSpPr>
          <p:cNvPr id="6" name="TextBox 5"/>
          <p:cNvSpPr txBox="1"/>
          <p:nvPr/>
        </p:nvSpPr>
        <p:spPr>
          <a:xfrm>
            <a:off x="749808" y="1307592"/>
            <a:ext cx="10195560" cy="365760"/>
          </a:xfrm>
          <a:prstGeom prst="rect">
            <a:avLst/>
          </a:prstGeom>
          <a:noFill/>
        </p:spPr>
        <p:txBody>
          <a:bodyPr wrap="square" lIns="0" tIns="0" rIns="0" bIns="0" anchor="t">
            <a:spAutoFit/>
          </a:bodyPr>
          <a:lstStyle/>
          <a:p>
            <a:pPr algn="l"/>
            <a:r>
              <a:rPr sz="1700" b="1">
                <a:solidFill>
                  <a:srgbClr val="FFFFFF"/>
                </a:solidFill>
                <a:latin typeface="Aptos"/>
              </a:rPr>
              <a:t>An agent’s access should not outlive its owner, purpose, or business need.</a:t>
            </a:r>
          </a:p>
        </p:txBody>
      </p:sp>
      <p:sp>
        <p:nvSpPr>
          <p:cNvPr id="7" name="TextBox 6"/>
          <p:cNvSpPr txBox="1"/>
          <p:nvPr/>
        </p:nvSpPr>
        <p:spPr>
          <a:xfrm>
            <a:off x="621792" y="1965960"/>
            <a:ext cx="320040" cy="274320"/>
          </a:xfrm>
          <a:prstGeom prst="rect">
            <a:avLst/>
          </a:prstGeom>
          <a:noFill/>
        </p:spPr>
        <p:txBody>
          <a:bodyPr wrap="square" lIns="0" tIns="0" rIns="0" bIns="0" anchor="t">
            <a:spAutoFit/>
          </a:bodyPr>
          <a:lstStyle/>
          <a:p>
            <a:pPr algn="l"/>
            <a:r>
              <a:rPr sz="1100" b="1">
                <a:solidFill>
                  <a:srgbClr val="00B1D9"/>
                </a:solidFill>
                <a:latin typeface="Aptos"/>
              </a:rPr>
              <a:t>1</a:t>
            </a:r>
          </a:p>
        </p:txBody>
      </p:sp>
      <p:sp>
        <p:nvSpPr>
          <p:cNvPr id="8" name="Rectangle 7"/>
          <p:cNvSpPr/>
          <p:nvPr/>
        </p:nvSpPr>
        <p:spPr>
          <a:xfrm>
            <a:off x="621792" y="2395728"/>
            <a:ext cx="1965960" cy="2148840"/>
          </a:xfrm>
          <a:prstGeom prst="rect">
            <a:avLst/>
          </a:prstGeom>
          <a:solidFill>
            <a:srgbClr val="0E1436"/>
          </a:solidFill>
          <a:ln>
            <a:solidFill>
              <a:srgbClr val="00B1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2688336"/>
            <a:ext cx="1600200" cy="585216"/>
          </a:xfrm>
          <a:prstGeom prst="rect">
            <a:avLst/>
          </a:prstGeom>
          <a:noFill/>
        </p:spPr>
        <p:txBody>
          <a:bodyPr wrap="square" lIns="0" tIns="0" rIns="0" bIns="0" anchor="t">
            <a:spAutoFit/>
          </a:bodyPr>
          <a:lstStyle/>
          <a:p>
            <a:pPr algn="ctr"/>
            <a:r>
              <a:rPr sz="1400" b="1">
                <a:solidFill>
                  <a:srgbClr val="00B1D9"/>
                </a:solidFill>
                <a:latin typeface="Aptos"/>
              </a:rPr>
              <a:t>CREATE /
REGISTER</a:t>
            </a:r>
          </a:p>
        </p:txBody>
      </p:sp>
      <p:sp>
        <p:nvSpPr>
          <p:cNvPr id="10" name="TextBox 9"/>
          <p:cNvSpPr txBox="1"/>
          <p:nvPr/>
        </p:nvSpPr>
        <p:spPr>
          <a:xfrm>
            <a:off x="804672" y="3493008"/>
            <a:ext cx="1600200" cy="566928"/>
          </a:xfrm>
          <a:prstGeom prst="rect">
            <a:avLst/>
          </a:prstGeom>
          <a:noFill/>
        </p:spPr>
        <p:txBody>
          <a:bodyPr wrap="square" lIns="0" tIns="0" rIns="0" bIns="0" anchor="t">
            <a:spAutoFit/>
          </a:bodyPr>
          <a:lstStyle/>
          <a:p>
            <a:pPr algn="ctr"/>
            <a:r>
              <a:rPr sz="1100" b="0">
                <a:solidFill>
                  <a:srgbClr val="FFFFFF"/>
                </a:solidFill>
                <a:latin typeface="Aptos"/>
              </a:rPr>
              <a:t>Provision or register
an agent identity</a:t>
            </a:r>
          </a:p>
        </p:txBody>
      </p:sp>
      <p:sp>
        <p:nvSpPr>
          <p:cNvPr id="11" name="TextBox 10"/>
          <p:cNvSpPr txBox="1"/>
          <p:nvPr/>
        </p:nvSpPr>
        <p:spPr>
          <a:xfrm>
            <a:off x="2615184" y="3182112"/>
            <a:ext cx="292608" cy="365760"/>
          </a:xfrm>
          <a:prstGeom prst="rect">
            <a:avLst/>
          </a:prstGeom>
          <a:noFill/>
        </p:spPr>
        <p:txBody>
          <a:bodyPr wrap="square" lIns="0" tIns="0" rIns="0" bIns="0" anchor="t">
            <a:spAutoFit/>
          </a:bodyPr>
          <a:lstStyle/>
          <a:p>
            <a:pPr algn="ctr"/>
            <a:r>
              <a:rPr sz="1800" b="1">
                <a:solidFill>
                  <a:srgbClr val="576276"/>
                </a:solidFill>
                <a:latin typeface="Aptos"/>
              </a:rPr>
              <a:t>→</a:t>
            </a:r>
          </a:p>
        </p:txBody>
      </p:sp>
      <p:sp>
        <p:nvSpPr>
          <p:cNvPr id="12" name="TextBox 11"/>
          <p:cNvSpPr txBox="1"/>
          <p:nvPr/>
        </p:nvSpPr>
        <p:spPr>
          <a:xfrm>
            <a:off x="2935224" y="1965960"/>
            <a:ext cx="320040" cy="274320"/>
          </a:xfrm>
          <a:prstGeom prst="rect">
            <a:avLst/>
          </a:prstGeom>
          <a:noFill/>
        </p:spPr>
        <p:txBody>
          <a:bodyPr wrap="square" lIns="0" tIns="0" rIns="0" bIns="0" anchor="t">
            <a:spAutoFit/>
          </a:bodyPr>
          <a:lstStyle/>
          <a:p>
            <a:pPr algn="l"/>
            <a:r>
              <a:rPr sz="1100" b="1">
                <a:solidFill>
                  <a:srgbClr val="3361E1"/>
                </a:solidFill>
                <a:latin typeface="Aptos"/>
              </a:rPr>
              <a:t>2</a:t>
            </a:r>
          </a:p>
        </p:txBody>
      </p:sp>
      <p:sp>
        <p:nvSpPr>
          <p:cNvPr id="13" name="Rectangle 12"/>
          <p:cNvSpPr/>
          <p:nvPr/>
        </p:nvSpPr>
        <p:spPr>
          <a:xfrm>
            <a:off x="2935224" y="2395728"/>
            <a:ext cx="1965960" cy="2148840"/>
          </a:xfrm>
          <a:prstGeom prst="rect">
            <a:avLst/>
          </a:prstGeom>
          <a:solidFill>
            <a:srgbClr val="0E1436"/>
          </a:solidFill>
          <a:ln>
            <a:solidFill>
              <a:srgbClr val="336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118104" y="2688336"/>
            <a:ext cx="1600200" cy="585216"/>
          </a:xfrm>
          <a:prstGeom prst="rect">
            <a:avLst/>
          </a:prstGeom>
          <a:noFill/>
        </p:spPr>
        <p:txBody>
          <a:bodyPr wrap="square" lIns="0" tIns="0" rIns="0" bIns="0" anchor="t">
            <a:spAutoFit/>
          </a:bodyPr>
          <a:lstStyle/>
          <a:p>
            <a:pPr algn="ctr"/>
            <a:r>
              <a:rPr sz="1400" b="1">
                <a:solidFill>
                  <a:srgbClr val="3361E1"/>
                </a:solidFill>
                <a:latin typeface="Aptos"/>
              </a:rPr>
              <a:t>ASSIGN
ACCOUNTABILITY</a:t>
            </a:r>
          </a:p>
        </p:txBody>
      </p:sp>
      <p:sp>
        <p:nvSpPr>
          <p:cNvPr id="15" name="TextBox 14"/>
          <p:cNvSpPr txBox="1"/>
          <p:nvPr/>
        </p:nvSpPr>
        <p:spPr>
          <a:xfrm>
            <a:off x="3118104" y="3493008"/>
            <a:ext cx="1600200" cy="566928"/>
          </a:xfrm>
          <a:prstGeom prst="rect">
            <a:avLst/>
          </a:prstGeom>
          <a:noFill/>
        </p:spPr>
        <p:txBody>
          <a:bodyPr wrap="square" lIns="0" tIns="0" rIns="0" bIns="0" anchor="t">
            <a:spAutoFit/>
          </a:bodyPr>
          <a:lstStyle/>
          <a:p>
            <a:pPr algn="ctr"/>
            <a:r>
              <a:rPr sz="1100" b="0">
                <a:solidFill>
                  <a:srgbClr val="FFFFFF"/>
                </a:solidFill>
                <a:latin typeface="Aptos"/>
              </a:rPr>
              <a:t>Name an owner
and human sponsor</a:t>
            </a:r>
          </a:p>
        </p:txBody>
      </p:sp>
      <p:sp>
        <p:nvSpPr>
          <p:cNvPr id="16" name="TextBox 15"/>
          <p:cNvSpPr txBox="1"/>
          <p:nvPr/>
        </p:nvSpPr>
        <p:spPr>
          <a:xfrm>
            <a:off x="4928616" y="3182112"/>
            <a:ext cx="292608" cy="365760"/>
          </a:xfrm>
          <a:prstGeom prst="rect">
            <a:avLst/>
          </a:prstGeom>
          <a:noFill/>
        </p:spPr>
        <p:txBody>
          <a:bodyPr wrap="square" lIns="0" tIns="0" rIns="0" bIns="0" anchor="t">
            <a:spAutoFit/>
          </a:bodyPr>
          <a:lstStyle/>
          <a:p>
            <a:pPr algn="ctr"/>
            <a:r>
              <a:rPr sz="1800" b="1">
                <a:solidFill>
                  <a:srgbClr val="576276"/>
                </a:solidFill>
                <a:latin typeface="Aptos"/>
              </a:rPr>
              <a:t>→</a:t>
            </a:r>
          </a:p>
        </p:txBody>
      </p:sp>
      <p:sp>
        <p:nvSpPr>
          <p:cNvPr id="17" name="TextBox 16"/>
          <p:cNvSpPr txBox="1"/>
          <p:nvPr/>
        </p:nvSpPr>
        <p:spPr>
          <a:xfrm>
            <a:off x="5248655" y="1965960"/>
            <a:ext cx="320040" cy="274320"/>
          </a:xfrm>
          <a:prstGeom prst="rect">
            <a:avLst/>
          </a:prstGeom>
          <a:noFill/>
        </p:spPr>
        <p:txBody>
          <a:bodyPr wrap="square" lIns="0" tIns="0" rIns="0" bIns="0" anchor="t">
            <a:spAutoFit/>
          </a:bodyPr>
          <a:lstStyle/>
          <a:p>
            <a:pPr algn="l"/>
            <a:r>
              <a:rPr sz="1100" b="1">
                <a:solidFill>
                  <a:srgbClr val="7E41E8"/>
                </a:solidFill>
                <a:latin typeface="Aptos"/>
              </a:rPr>
              <a:t>3</a:t>
            </a:r>
          </a:p>
        </p:txBody>
      </p:sp>
      <p:sp>
        <p:nvSpPr>
          <p:cNvPr id="18" name="Rectangle 17"/>
          <p:cNvSpPr/>
          <p:nvPr/>
        </p:nvSpPr>
        <p:spPr>
          <a:xfrm>
            <a:off x="5248655" y="2395728"/>
            <a:ext cx="1965960" cy="2148840"/>
          </a:xfrm>
          <a:prstGeom prst="rect">
            <a:avLst/>
          </a:prstGeom>
          <a:solidFill>
            <a:srgbClr val="0E1436"/>
          </a:solidFill>
          <a:ln>
            <a:solidFill>
              <a:srgbClr val="7E4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31536" y="2688336"/>
            <a:ext cx="1600200" cy="585216"/>
          </a:xfrm>
          <a:prstGeom prst="rect">
            <a:avLst/>
          </a:prstGeom>
          <a:noFill/>
        </p:spPr>
        <p:txBody>
          <a:bodyPr wrap="square" lIns="0" tIns="0" rIns="0" bIns="0" anchor="t">
            <a:spAutoFit/>
          </a:bodyPr>
          <a:lstStyle/>
          <a:p>
            <a:pPr algn="ctr"/>
            <a:r>
              <a:rPr sz="1400" b="1">
                <a:solidFill>
                  <a:srgbClr val="7E41E8"/>
                </a:solidFill>
                <a:latin typeface="Aptos"/>
              </a:rPr>
              <a:t>GRANT
ACCESS</a:t>
            </a:r>
          </a:p>
        </p:txBody>
      </p:sp>
      <p:sp>
        <p:nvSpPr>
          <p:cNvPr id="20" name="TextBox 19"/>
          <p:cNvSpPr txBox="1"/>
          <p:nvPr/>
        </p:nvSpPr>
        <p:spPr>
          <a:xfrm>
            <a:off x="5431536" y="3493008"/>
            <a:ext cx="1600200" cy="566928"/>
          </a:xfrm>
          <a:prstGeom prst="rect">
            <a:avLst/>
          </a:prstGeom>
          <a:noFill/>
        </p:spPr>
        <p:txBody>
          <a:bodyPr wrap="square" lIns="0" tIns="0" rIns="0" bIns="0" anchor="t">
            <a:spAutoFit/>
          </a:bodyPr>
          <a:lstStyle/>
          <a:p>
            <a:pPr algn="ctr"/>
            <a:r>
              <a:rPr sz="1100" b="0">
                <a:solidFill>
                  <a:srgbClr val="FFFFFF"/>
                </a:solidFill>
                <a:latin typeface="Aptos"/>
              </a:rPr>
              <a:t>Use scoped permissions
or access packages</a:t>
            </a:r>
          </a:p>
        </p:txBody>
      </p:sp>
      <p:sp>
        <p:nvSpPr>
          <p:cNvPr id="21" name="TextBox 20"/>
          <p:cNvSpPr txBox="1"/>
          <p:nvPr/>
        </p:nvSpPr>
        <p:spPr>
          <a:xfrm>
            <a:off x="7242048" y="3182112"/>
            <a:ext cx="292608" cy="365760"/>
          </a:xfrm>
          <a:prstGeom prst="rect">
            <a:avLst/>
          </a:prstGeom>
          <a:noFill/>
        </p:spPr>
        <p:txBody>
          <a:bodyPr wrap="square" lIns="0" tIns="0" rIns="0" bIns="0" anchor="t">
            <a:spAutoFit/>
          </a:bodyPr>
          <a:lstStyle/>
          <a:p>
            <a:pPr algn="ctr"/>
            <a:r>
              <a:rPr sz="1800" b="1">
                <a:solidFill>
                  <a:srgbClr val="576276"/>
                </a:solidFill>
                <a:latin typeface="Aptos"/>
              </a:rPr>
              <a:t>→</a:t>
            </a:r>
          </a:p>
        </p:txBody>
      </p:sp>
      <p:sp>
        <p:nvSpPr>
          <p:cNvPr id="22" name="TextBox 21"/>
          <p:cNvSpPr txBox="1"/>
          <p:nvPr/>
        </p:nvSpPr>
        <p:spPr>
          <a:xfrm>
            <a:off x="7562088" y="1965960"/>
            <a:ext cx="320040" cy="274320"/>
          </a:xfrm>
          <a:prstGeom prst="rect">
            <a:avLst/>
          </a:prstGeom>
          <a:noFill/>
        </p:spPr>
        <p:txBody>
          <a:bodyPr wrap="square" lIns="0" tIns="0" rIns="0" bIns="0" anchor="t">
            <a:spAutoFit/>
          </a:bodyPr>
          <a:lstStyle/>
          <a:p>
            <a:pPr algn="l"/>
            <a:r>
              <a:rPr sz="1100" b="1">
                <a:solidFill>
                  <a:srgbClr val="E69326"/>
                </a:solidFill>
                <a:latin typeface="Aptos"/>
              </a:rPr>
              <a:t>4</a:t>
            </a:r>
          </a:p>
        </p:txBody>
      </p:sp>
      <p:sp>
        <p:nvSpPr>
          <p:cNvPr id="23" name="Rectangle 22"/>
          <p:cNvSpPr/>
          <p:nvPr/>
        </p:nvSpPr>
        <p:spPr>
          <a:xfrm>
            <a:off x="7562088" y="2395728"/>
            <a:ext cx="1965960" cy="2148840"/>
          </a:xfrm>
          <a:prstGeom prst="rect">
            <a:avLst/>
          </a:prstGeom>
          <a:solidFill>
            <a:srgbClr val="0E1436"/>
          </a:solidFill>
          <a:ln>
            <a:solidFill>
              <a:srgbClr val="E693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44967" y="2688336"/>
            <a:ext cx="1600200" cy="585216"/>
          </a:xfrm>
          <a:prstGeom prst="rect">
            <a:avLst/>
          </a:prstGeom>
          <a:noFill/>
        </p:spPr>
        <p:txBody>
          <a:bodyPr wrap="square" lIns="0" tIns="0" rIns="0" bIns="0" anchor="t">
            <a:spAutoFit/>
          </a:bodyPr>
          <a:lstStyle/>
          <a:p>
            <a:pPr algn="ctr"/>
            <a:r>
              <a:rPr sz="1400" b="1">
                <a:solidFill>
                  <a:srgbClr val="E69326"/>
                </a:solidFill>
                <a:latin typeface="Aptos"/>
              </a:rPr>
              <a:t>REVIEW</a:t>
            </a:r>
          </a:p>
        </p:txBody>
      </p:sp>
      <p:sp>
        <p:nvSpPr>
          <p:cNvPr id="25" name="TextBox 24"/>
          <p:cNvSpPr txBox="1"/>
          <p:nvPr/>
        </p:nvSpPr>
        <p:spPr>
          <a:xfrm>
            <a:off x="7744967" y="3493008"/>
            <a:ext cx="1600200" cy="566928"/>
          </a:xfrm>
          <a:prstGeom prst="rect">
            <a:avLst/>
          </a:prstGeom>
          <a:noFill/>
        </p:spPr>
        <p:txBody>
          <a:bodyPr wrap="square" lIns="0" tIns="0" rIns="0" bIns="0" anchor="t">
            <a:spAutoFit/>
          </a:bodyPr>
          <a:lstStyle/>
          <a:p>
            <a:pPr algn="ctr"/>
            <a:r>
              <a:rPr sz="1100" b="0">
                <a:solidFill>
                  <a:srgbClr val="FFFFFF"/>
                </a:solidFill>
                <a:latin typeface="Aptos"/>
              </a:rPr>
              <a:t>Recertify purpose,
access, and sponsorship</a:t>
            </a:r>
          </a:p>
        </p:txBody>
      </p:sp>
      <p:sp>
        <p:nvSpPr>
          <p:cNvPr id="26" name="TextBox 25"/>
          <p:cNvSpPr txBox="1"/>
          <p:nvPr/>
        </p:nvSpPr>
        <p:spPr>
          <a:xfrm>
            <a:off x="9555480" y="3182112"/>
            <a:ext cx="292608" cy="365760"/>
          </a:xfrm>
          <a:prstGeom prst="rect">
            <a:avLst/>
          </a:prstGeom>
          <a:noFill/>
        </p:spPr>
        <p:txBody>
          <a:bodyPr wrap="square" lIns="0" tIns="0" rIns="0" bIns="0" anchor="t">
            <a:spAutoFit/>
          </a:bodyPr>
          <a:lstStyle/>
          <a:p>
            <a:pPr algn="ctr"/>
            <a:r>
              <a:rPr sz="1800" b="1">
                <a:solidFill>
                  <a:srgbClr val="576276"/>
                </a:solidFill>
                <a:latin typeface="Aptos"/>
              </a:rPr>
              <a:t>→</a:t>
            </a:r>
          </a:p>
        </p:txBody>
      </p:sp>
      <p:sp>
        <p:nvSpPr>
          <p:cNvPr id="27" name="TextBox 26"/>
          <p:cNvSpPr txBox="1"/>
          <p:nvPr/>
        </p:nvSpPr>
        <p:spPr>
          <a:xfrm>
            <a:off x="9875519" y="1965960"/>
            <a:ext cx="320040" cy="274320"/>
          </a:xfrm>
          <a:prstGeom prst="rect">
            <a:avLst/>
          </a:prstGeom>
          <a:noFill/>
        </p:spPr>
        <p:txBody>
          <a:bodyPr wrap="square" lIns="0" tIns="0" rIns="0" bIns="0" anchor="t">
            <a:spAutoFit/>
          </a:bodyPr>
          <a:lstStyle/>
          <a:p>
            <a:pPr algn="l"/>
            <a:r>
              <a:rPr sz="1100" b="1">
                <a:solidFill>
                  <a:srgbClr val="EF3281"/>
                </a:solidFill>
                <a:latin typeface="Aptos"/>
              </a:rPr>
              <a:t>5</a:t>
            </a:r>
          </a:p>
        </p:txBody>
      </p:sp>
      <p:sp>
        <p:nvSpPr>
          <p:cNvPr id="28" name="Rectangle 27"/>
          <p:cNvSpPr/>
          <p:nvPr/>
        </p:nvSpPr>
        <p:spPr>
          <a:xfrm>
            <a:off x="9875519" y="2395728"/>
            <a:ext cx="1965960" cy="2148840"/>
          </a:xfrm>
          <a:prstGeom prst="rect">
            <a:avLst/>
          </a:prstGeom>
          <a:solidFill>
            <a:srgbClr val="0E1436"/>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399" y="2688336"/>
            <a:ext cx="1600200" cy="585216"/>
          </a:xfrm>
          <a:prstGeom prst="rect">
            <a:avLst/>
          </a:prstGeom>
          <a:noFill/>
        </p:spPr>
        <p:txBody>
          <a:bodyPr wrap="square" lIns="0" tIns="0" rIns="0" bIns="0" anchor="t">
            <a:spAutoFit/>
          </a:bodyPr>
          <a:lstStyle/>
          <a:p>
            <a:pPr algn="ctr"/>
            <a:r>
              <a:rPr sz="1400" b="1">
                <a:solidFill>
                  <a:srgbClr val="EF3281"/>
                </a:solidFill>
                <a:latin typeface="Aptos"/>
              </a:rPr>
              <a:t>EXPIRE /
REMOVE</a:t>
            </a:r>
          </a:p>
        </p:txBody>
      </p:sp>
      <p:sp>
        <p:nvSpPr>
          <p:cNvPr id="30" name="TextBox 29"/>
          <p:cNvSpPr txBox="1"/>
          <p:nvPr/>
        </p:nvSpPr>
        <p:spPr>
          <a:xfrm>
            <a:off x="10058399" y="3493008"/>
            <a:ext cx="1600200" cy="566928"/>
          </a:xfrm>
          <a:prstGeom prst="rect">
            <a:avLst/>
          </a:prstGeom>
          <a:noFill/>
        </p:spPr>
        <p:txBody>
          <a:bodyPr wrap="square" lIns="0" tIns="0" rIns="0" bIns="0" anchor="t">
            <a:spAutoFit/>
          </a:bodyPr>
          <a:lstStyle/>
          <a:p>
            <a:pPr algn="ctr"/>
            <a:r>
              <a:rPr sz="1100" b="0">
                <a:solidFill>
                  <a:srgbClr val="FFFFFF"/>
                </a:solidFill>
                <a:latin typeface="Aptos"/>
              </a:rPr>
              <a:t>Revoke access and
retire unused agents</a:t>
            </a:r>
          </a:p>
        </p:txBody>
      </p:sp>
      <p:sp>
        <p:nvSpPr>
          <p:cNvPr id="32" name="TextBox 31"/>
          <p:cNvSpPr txBox="1"/>
          <p:nvPr/>
        </p:nvSpPr>
        <p:spPr>
          <a:xfrm>
            <a:off x="869135" y="5262895"/>
            <a:ext cx="9875520" cy="184666"/>
          </a:xfrm>
          <a:prstGeom prst="rect">
            <a:avLst/>
          </a:prstGeom>
          <a:noFill/>
        </p:spPr>
        <p:txBody>
          <a:bodyPr wrap="square" lIns="0" tIns="0" rIns="0" bIns="0" anchor="t">
            <a:spAutoFit/>
          </a:bodyPr>
          <a:lstStyle/>
          <a:p>
            <a:pPr algn="ctr"/>
            <a:r>
              <a:rPr sz="1200" b="0" dirty="0">
                <a:solidFill>
                  <a:schemeClr val="bg2"/>
                </a:solidFill>
                <a:latin typeface="Aptos"/>
              </a:rPr>
              <a:t>Entra ID Governance supports sponsors, lifecycle oversight, and access packages for agent identities.</a:t>
            </a:r>
          </a:p>
        </p:txBody>
      </p:sp>
    </p:spTree>
    <p:extLst>
      <p:ext uri="{BB962C8B-B14F-4D97-AF65-F5344CB8AC3E}">
        <p14:creationId xmlns:p14="http://schemas.microsoft.com/office/powerpoint/2010/main" val="1176361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algn="l"/>
            <a:r>
              <a:rPr sz="850" b="1">
                <a:solidFill>
                  <a:srgbClr val="00B1D9"/>
                </a:solidFill>
                <a:latin typeface="Aptos"/>
              </a:rPr>
              <a:t>LAYER IDENTITY, DATA, THREAT, AND NETWORK CONTROLS</a:t>
            </a:r>
          </a:p>
        </p:txBody>
      </p:sp>
      <p:sp>
        <p:nvSpPr>
          <p:cNvPr id="3" name="TextBox 2"/>
          <p:cNvSpPr txBox="1"/>
          <p:nvPr/>
        </p:nvSpPr>
        <p:spPr>
          <a:xfrm>
            <a:off x="658368" y="667512"/>
            <a:ext cx="10744200" cy="430887"/>
          </a:xfrm>
          <a:prstGeom prst="rect">
            <a:avLst/>
          </a:prstGeom>
          <a:noFill/>
        </p:spPr>
        <p:txBody>
          <a:bodyPr wrap="square" lIns="0" tIns="0" rIns="0" bIns="0" anchor="t">
            <a:spAutoFit/>
          </a:bodyPr>
          <a:lstStyle/>
          <a:p>
            <a:pPr algn="l"/>
            <a:r>
              <a:rPr sz="2800" b="1" dirty="0">
                <a:solidFill>
                  <a:schemeClr val="bg2"/>
                </a:solidFill>
                <a:latin typeface="Aptos"/>
              </a:rPr>
              <a:t>Secure: make access decisions beneath the prompt</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576276"/>
                </a:solidFill>
                <a:latin typeface="Aptos"/>
              </a:rPr>
              <a:t>20</a:t>
            </a:r>
          </a:p>
        </p:txBody>
      </p:sp>
      <p:sp>
        <p:nvSpPr>
          <p:cNvPr id="6" name="TextBox 5"/>
          <p:cNvSpPr txBox="1"/>
          <p:nvPr/>
        </p:nvSpPr>
        <p:spPr>
          <a:xfrm>
            <a:off x="749808" y="1325880"/>
            <a:ext cx="10241280" cy="276999"/>
          </a:xfrm>
          <a:prstGeom prst="rect">
            <a:avLst/>
          </a:prstGeom>
          <a:noFill/>
        </p:spPr>
        <p:txBody>
          <a:bodyPr wrap="square" lIns="0" tIns="0" rIns="0" bIns="0" anchor="t">
            <a:spAutoFit/>
          </a:bodyPr>
          <a:lstStyle/>
          <a:p>
            <a:pPr algn="l"/>
            <a:r>
              <a:rPr sz="1800" b="1" dirty="0">
                <a:solidFill>
                  <a:schemeClr val="bg2"/>
                </a:solidFill>
                <a:latin typeface="Aptos"/>
              </a:rPr>
              <a:t>A prompt is guidance. Enterprise controls are enforcement.</a:t>
            </a:r>
          </a:p>
        </p:txBody>
      </p:sp>
      <p:sp>
        <p:nvSpPr>
          <p:cNvPr id="7" name="TextBox 6"/>
          <p:cNvSpPr txBox="1"/>
          <p:nvPr/>
        </p:nvSpPr>
        <p:spPr>
          <a:xfrm>
            <a:off x="658368" y="1975104"/>
            <a:ext cx="2423160" cy="256032"/>
          </a:xfrm>
          <a:prstGeom prst="rect">
            <a:avLst/>
          </a:prstGeom>
          <a:noFill/>
        </p:spPr>
        <p:txBody>
          <a:bodyPr wrap="square" lIns="0" tIns="0" rIns="0" bIns="0" anchor="t">
            <a:spAutoFit/>
          </a:bodyPr>
          <a:lstStyle/>
          <a:p>
            <a:pPr algn="ctr"/>
            <a:r>
              <a:rPr sz="1000" b="1">
                <a:solidFill>
                  <a:srgbClr val="00B1D9"/>
                </a:solidFill>
                <a:latin typeface="Aptos"/>
              </a:rPr>
              <a:t>IDENTITY</a:t>
            </a:r>
          </a:p>
        </p:txBody>
      </p:sp>
      <p:sp>
        <p:nvSpPr>
          <p:cNvPr id="8" name="Rectangle 7"/>
          <p:cNvSpPr/>
          <p:nvPr/>
        </p:nvSpPr>
        <p:spPr>
          <a:xfrm>
            <a:off x="658368" y="2395728"/>
            <a:ext cx="2450592" cy="1993392"/>
          </a:xfrm>
          <a:prstGeom prst="rect">
            <a:avLst/>
          </a:prstGeom>
          <a:solidFill>
            <a:srgbClr val="F9FAFC"/>
          </a:solidFill>
          <a:ln>
            <a:solidFill>
              <a:srgbClr val="00B1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2670048"/>
            <a:ext cx="2121408" cy="530352"/>
          </a:xfrm>
          <a:prstGeom prst="rect">
            <a:avLst/>
          </a:prstGeom>
          <a:noFill/>
        </p:spPr>
        <p:txBody>
          <a:bodyPr wrap="square" lIns="0" tIns="0" rIns="0" bIns="0" anchor="t">
            <a:spAutoFit/>
          </a:bodyPr>
          <a:lstStyle/>
          <a:p>
            <a:pPr algn="ctr"/>
            <a:r>
              <a:rPr sz="1400" b="1">
                <a:solidFill>
                  <a:srgbClr val="0D162B"/>
                </a:solidFill>
                <a:latin typeface="Aptos"/>
              </a:rPr>
              <a:t>Conditional Access +
Identity Protection</a:t>
            </a:r>
          </a:p>
        </p:txBody>
      </p:sp>
      <p:sp>
        <p:nvSpPr>
          <p:cNvPr id="10" name="TextBox 9"/>
          <p:cNvSpPr txBox="1"/>
          <p:nvPr/>
        </p:nvSpPr>
        <p:spPr>
          <a:xfrm>
            <a:off x="841247" y="3364992"/>
            <a:ext cx="2084831" cy="658368"/>
          </a:xfrm>
          <a:prstGeom prst="rect">
            <a:avLst/>
          </a:prstGeom>
          <a:noFill/>
        </p:spPr>
        <p:txBody>
          <a:bodyPr wrap="square" lIns="0" tIns="0" rIns="0" bIns="0" anchor="t">
            <a:spAutoFit/>
          </a:bodyPr>
          <a:lstStyle/>
          <a:p>
            <a:pPr algn="ctr"/>
            <a:r>
              <a:rPr sz="1100" b="0">
                <a:solidFill>
                  <a:srgbClr val="576276"/>
                </a:solidFill>
                <a:latin typeface="Aptos"/>
              </a:rPr>
              <a:t>Agent context, risk level,
and resource sensitivity</a:t>
            </a:r>
          </a:p>
        </p:txBody>
      </p:sp>
      <p:sp>
        <p:nvSpPr>
          <p:cNvPr id="11" name="TextBox 10"/>
          <p:cNvSpPr txBox="1"/>
          <p:nvPr/>
        </p:nvSpPr>
        <p:spPr>
          <a:xfrm>
            <a:off x="3511296" y="1975104"/>
            <a:ext cx="2423160" cy="256032"/>
          </a:xfrm>
          <a:prstGeom prst="rect">
            <a:avLst/>
          </a:prstGeom>
          <a:noFill/>
        </p:spPr>
        <p:txBody>
          <a:bodyPr wrap="square" lIns="0" tIns="0" rIns="0" bIns="0" anchor="t">
            <a:spAutoFit/>
          </a:bodyPr>
          <a:lstStyle/>
          <a:p>
            <a:pPr algn="ctr"/>
            <a:r>
              <a:rPr sz="1000" b="1">
                <a:solidFill>
                  <a:srgbClr val="7E41E8"/>
                </a:solidFill>
                <a:latin typeface="Aptos"/>
              </a:rPr>
              <a:t>THREAT</a:t>
            </a:r>
          </a:p>
        </p:txBody>
      </p:sp>
      <p:sp>
        <p:nvSpPr>
          <p:cNvPr id="12" name="Rectangle 11"/>
          <p:cNvSpPr/>
          <p:nvPr/>
        </p:nvSpPr>
        <p:spPr>
          <a:xfrm>
            <a:off x="3511296" y="2395728"/>
            <a:ext cx="2450592" cy="1993392"/>
          </a:xfrm>
          <a:prstGeom prst="rect">
            <a:avLst/>
          </a:prstGeom>
          <a:solidFill>
            <a:srgbClr val="F9FAFC"/>
          </a:solidFill>
          <a:ln>
            <a:solidFill>
              <a:srgbClr val="7E4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75887" y="2670048"/>
            <a:ext cx="2121408" cy="530352"/>
          </a:xfrm>
          <a:prstGeom prst="rect">
            <a:avLst/>
          </a:prstGeom>
          <a:noFill/>
        </p:spPr>
        <p:txBody>
          <a:bodyPr wrap="square" lIns="0" tIns="0" rIns="0" bIns="0" anchor="t">
            <a:spAutoFit/>
          </a:bodyPr>
          <a:lstStyle/>
          <a:p>
            <a:pPr algn="ctr"/>
            <a:r>
              <a:rPr sz="1400" b="1">
                <a:solidFill>
                  <a:srgbClr val="0D162B"/>
                </a:solidFill>
                <a:latin typeface="Aptos"/>
              </a:rPr>
              <a:t>Microsoft Defender</a:t>
            </a:r>
          </a:p>
        </p:txBody>
      </p:sp>
      <p:sp>
        <p:nvSpPr>
          <p:cNvPr id="14" name="TextBox 13"/>
          <p:cNvSpPr txBox="1"/>
          <p:nvPr/>
        </p:nvSpPr>
        <p:spPr>
          <a:xfrm>
            <a:off x="3694176" y="3364992"/>
            <a:ext cx="2084831" cy="658368"/>
          </a:xfrm>
          <a:prstGeom prst="rect">
            <a:avLst/>
          </a:prstGeom>
          <a:noFill/>
        </p:spPr>
        <p:txBody>
          <a:bodyPr wrap="square" lIns="0" tIns="0" rIns="0" bIns="0" anchor="t">
            <a:spAutoFit/>
          </a:bodyPr>
          <a:lstStyle/>
          <a:p>
            <a:pPr algn="ctr"/>
            <a:r>
              <a:rPr sz="1100" b="0">
                <a:solidFill>
                  <a:srgbClr val="576276"/>
                </a:solidFill>
                <a:latin typeface="Aptos"/>
              </a:rPr>
              <a:t>Posture, suspicious activity,
and malicious tool invocation</a:t>
            </a:r>
          </a:p>
        </p:txBody>
      </p:sp>
      <p:sp>
        <p:nvSpPr>
          <p:cNvPr id="15" name="TextBox 14"/>
          <p:cNvSpPr txBox="1"/>
          <p:nvPr/>
        </p:nvSpPr>
        <p:spPr>
          <a:xfrm>
            <a:off x="6364224" y="1975104"/>
            <a:ext cx="2423160" cy="256032"/>
          </a:xfrm>
          <a:prstGeom prst="rect">
            <a:avLst/>
          </a:prstGeom>
          <a:noFill/>
        </p:spPr>
        <p:txBody>
          <a:bodyPr wrap="square" lIns="0" tIns="0" rIns="0" bIns="0" anchor="t">
            <a:spAutoFit/>
          </a:bodyPr>
          <a:lstStyle/>
          <a:p>
            <a:pPr algn="ctr"/>
            <a:r>
              <a:rPr sz="1000" b="1">
                <a:solidFill>
                  <a:srgbClr val="00AA80"/>
                </a:solidFill>
                <a:latin typeface="Aptos"/>
              </a:rPr>
              <a:t>DATA</a:t>
            </a:r>
          </a:p>
        </p:txBody>
      </p:sp>
      <p:sp>
        <p:nvSpPr>
          <p:cNvPr id="16" name="Rectangle 15"/>
          <p:cNvSpPr/>
          <p:nvPr/>
        </p:nvSpPr>
        <p:spPr>
          <a:xfrm>
            <a:off x="6364224" y="2395728"/>
            <a:ext cx="2450592" cy="1993392"/>
          </a:xfrm>
          <a:prstGeom prst="rect">
            <a:avLst/>
          </a:prstGeom>
          <a:solidFill>
            <a:srgbClr val="F9FAFC"/>
          </a:solidFill>
          <a:ln>
            <a:solidFill>
              <a:srgbClr val="00AA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28816" y="2670048"/>
            <a:ext cx="2121408" cy="530352"/>
          </a:xfrm>
          <a:prstGeom prst="rect">
            <a:avLst/>
          </a:prstGeom>
          <a:noFill/>
        </p:spPr>
        <p:txBody>
          <a:bodyPr wrap="square" lIns="0" tIns="0" rIns="0" bIns="0" anchor="t">
            <a:spAutoFit/>
          </a:bodyPr>
          <a:lstStyle/>
          <a:p>
            <a:pPr algn="ctr"/>
            <a:r>
              <a:rPr sz="1400" b="1">
                <a:solidFill>
                  <a:srgbClr val="0D162B"/>
                </a:solidFill>
                <a:latin typeface="Aptos"/>
              </a:rPr>
              <a:t>Microsoft Purview</a:t>
            </a:r>
          </a:p>
        </p:txBody>
      </p:sp>
      <p:sp>
        <p:nvSpPr>
          <p:cNvPr id="18" name="TextBox 17"/>
          <p:cNvSpPr txBox="1"/>
          <p:nvPr/>
        </p:nvSpPr>
        <p:spPr>
          <a:xfrm>
            <a:off x="6547104" y="3364992"/>
            <a:ext cx="2084831" cy="658368"/>
          </a:xfrm>
          <a:prstGeom prst="rect">
            <a:avLst/>
          </a:prstGeom>
          <a:noFill/>
        </p:spPr>
        <p:txBody>
          <a:bodyPr wrap="square" lIns="0" tIns="0" rIns="0" bIns="0" anchor="t">
            <a:spAutoFit/>
          </a:bodyPr>
          <a:lstStyle/>
          <a:p>
            <a:pPr algn="ctr"/>
            <a:r>
              <a:rPr sz="1100" b="0">
                <a:solidFill>
                  <a:srgbClr val="576276"/>
                </a:solidFill>
                <a:latin typeface="Aptos"/>
              </a:rPr>
              <a:t>Sensitivity labels, DLP,
audit, retention, and eDiscovery</a:t>
            </a:r>
          </a:p>
        </p:txBody>
      </p:sp>
      <p:sp>
        <p:nvSpPr>
          <p:cNvPr id="19" name="TextBox 18"/>
          <p:cNvSpPr txBox="1"/>
          <p:nvPr/>
        </p:nvSpPr>
        <p:spPr>
          <a:xfrm>
            <a:off x="9217152" y="1975104"/>
            <a:ext cx="2423160" cy="256032"/>
          </a:xfrm>
          <a:prstGeom prst="rect">
            <a:avLst/>
          </a:prstGeom>
          <a:noFill/>
        </p:spPr>
        <p:txBody>
          <a:bodyPr wrap="square" lIns="0" tIns="0" rIns="0" bIns="0" anchor="t">
            <a:spAutoFit/>
          </a:bodyPr>
          <a:lstStyle/>
          <a:p>
            <a:pPr algn="ctr"/>
            <a:r>
              <a:rPr sz="1000" b="1">
                <a:solidFill>
                  <a:srgbClr val="EF3281"/>
                </a:solidFill>
                <a:latin typeface="Aptos"/>
              </a:rPr>
              <a:t>NETWORK</a:t>
            </a:r>
          </a:p>
        </p:txBody>
      </p:sp>
      <p:sp>
        <p:nvSpPr>
          <p:cNvPr id="20" name="Rectangle 19"/>
          <p:cNvSpPr/>
          <p:nvPr/>
        </p:nvSpPr>
        <p:spPr>
          <a:xfrm>
            <a:off x="9217152" y="2395728"/>
            <a:ext cx="2450592" cy="1993392"/>
          </a:xfrm>
          <a:prstGeom prst="rect">
            <a:avLst/>
          </a:prstGeom>
          <a:solidFill>
            <a:srgbClr val="F9FAFC"/>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81744" y="2670048"/>
            <a:ext cx="2121408" cy="530352"/>
          </a:xfrm>
          <a:prstGeom prst="rect">
            <a:avLst/>
          </a:prstGeom>
          <a:noFill/>
        </p:spPr>
        <p:txBody>
          <a:bodyPr wrap="square" lIns="0" tIns="0" rIns="0" bIns="0" anchor="t">
            <a:spAutoFit/>
          </a:bodyPr>
          <a:lstStyle/>
          <a:p>
            <a:pPr algn="ctr"/>
            <a:r>
              <a:rPr sz="1400" b="1">
                <a:solidFill>
                  <a:srgbClr val="0D162B"/>
                </a:solidFill>
                <a:latin typeface="Aptos"/>
              </a:rPr>
              <a:t>Global Secure Access /
SASE</a:t>
            </a:r>
          </a:p>
        </p:txBody>
      </p:sp>
      <p:sp>
        <p:nvSpPr>
          <p:cNvPr id="22" name="TextBox 21"/>
          <p:cNvSpPr txBox="1"/>
          <p:nvPr/>
        </p:nvSpPr>
        <p:spPr>
          <a:xfrm>
            <a:off x="9400032" y="3364992"/>
            <a:ext cx="2084831" cy="658368"/>
          </a:xfrm>
          <a:prstGeom prst="rect">
            <a:avLst/>
          </a:prstGeom>
          <a:noFill/>
        </p:spPr>
        <p:txBody>
          <a:bodyPr wrap="square" lIns="0" tIns="0" rIns="0" bIns="0" anchor="t">
            <a:spAutoFit/>
          </a:bodyPr>
          <a:lstStyle/>
          <a:p>
            <a:pPr algn="ctr"/>
            <a:r>
              <a:rPr sz="1100" b="0">
                <a:solidFill>
                  <a:srgbClr val="576276"/>
                </a:solidFill>
                <a:latin typeface="Aptos"/>
              </a:rPr>
              <a:t>Monitor and block malicious or
non-compliant agent traffic</a:t>
            </a:r>
          </a:p>
        </p:txBody>
      </p:sp>
      <p:sp>
        <p:nvSpPr>
          <p:cNvPr id="23" name="TextBox 22"/>
          <p:cNvSpPr txBox="1"/>
          <p:nvPr/>
        </p:nvSpPr>
        <p:spPr>
          <a:xfrm>
            <a:off x="749808" y="4736592"/>
            <a:ext cx="2926080" cy="228600"/>
          </a:xfrm>
          <a:prstGeom prst="rect">
            <a:avLst/>
          </a:prstGeom>
          <a:noFill/>
        </p:spPr>
        <p:txBody>
          <a:bodyPr wrap="square" lIns="0" tIns="0" rIns="0" bIns="0" anchor="t">
            <a:spAutoFit/>
          </a:bodyPr>
          <a:lstStyle/>
          <a:p>
            <a:pPr algn="l"/>
            <a:r>
              <a:rPr sz="900" b="1">
                <a:solidFill>
                  <a:srgbClr val="7E41E8"/>
                </a:solidFill>
                <a:latin typeface="Aptos"/>
              </a:rPr>
              <a:t>HOW THE LAYERS WORK TOGETHER</a:t>
            </a:r>
          </a:p>
        </p:txBody>
      </p:sp>
      <p:sp>
        <p:nvSpPr>
          <p:cNvPr id="24" name="TextBox 23"/>
          <p:cNvSpPr txBox="1"/>
          <p:nvPr/>
        </p:nvSpPr>
        <p:spPr>
          <a:xfrm>
            <a:off x="749808" y="5102352"/>
            <a:ext cx="2331720" cy="338554"/>
          </a:xfrm>
          <a:prstGeom prst="rect">
            <a:avLst/>
          </a:prstGeom>
          <a:noFill/>
        </p:spPr>
        <p:txBody>
          <a:bodyPr wrap="square" lIns="0" tIns="0" rIns="0" bIns="0" anchor="t">
            <a:spAutoFit/>
          </a:bodyPr>
          <a:lstStyle/>
          <a:p>
            <a:pPr algn="l"/>
            <a:r>
              <a:rPr sz="1100" b="1" dirty="0">
                <a:solidFill>
                  <a:schemeClr val="bg2"/>
                </a:solidFill>
                <a:latin typeface="Aptos"/>
              </a:rPr>
              <a:t>Prompt injection detected or blocked</a:t>
            </a:r>
          </a:p>
        </p:txBody>
      </p:sp>
      <p:sp>
        <p:nvSpPr>
          <p:cNvPr id="25" name="TextBox 24"/>
          <p:cNvSpPr txBox="1"/>
          <p:nvPr/>
        </p:nvSpPr>
        <p:spPr>
          <a:xfrm>
            <a:off x="3182112" y="5074920"/>
            <a:ext cx="320040" cy="292608"/>
          </a:xfrm>
          <a:prstGeom prst="rect">
            <a:avLst/>
          </a:prstGeom>
          <a:noFill/>
        </p:spPr>
        <p:txBody>
          <a:bodyPr wrap="square" lIns="0" tIns="0" rIns="0" bIns="0" anchor="t">
            <a:spAutoFit/>
          </a:bodyPr>
          <a:lstStyle/>
          <a:p>
            <a:pPr algn="ctr"/>
            <a:r>
              <a:rPr sz="1700" b="1">
                <a:solidFill>
                  <a:srgbClr val="EF3281"/>
                </a:solidFill>
                <a:latin typeface="Aptos"/>
              </a:rPr>
              <a:t>→</a:t>
            </a:r>
          </a:p>
        </p:txBody>
      </p:sp>
      <p:sp>
        <p:nvSpPr>
          <p:cNvPr id="26" name="TextBox 25"/>
          <p:cNvSpPr txBox="1"/>
          <p:nvPr/>
        </p:nvSpPr>
        <p:spPr>
          <a:xfrm>
            <a:off x="3593592" y="5102352"/>
            <a:ext cx="2176272" cy="169277"/>
          </a:xfrm>
          <a:prstGeom prst="rect">
            <a:avLst/>
          </a:prstGeom>
          <a:noFill/>
        </p:spPr>
        <p:txBody>
          <a:bodyPr wrap="square" lIns="0" tIns="0" rIns="0" bIns="0" anchor="t">
            <a:spAutoFit/>
          </a:bodyPr>
          <a:lstStyle/>
          <a:p>
            <a:pPr algn="l"/>
            <a:r>
              <a:rPr sz="1100" b="1" dirty="0">
                <a:solidFill>
                  <a:schemeClr val="bg2"/>
                </a:solidFill>
                <a:latin typeface="Aptos"/>
              </a:rPr>
              <a:t>Risk signal changes access</a:t>
            </a:r>
          </a:p>
        </p:txBody>
      </p:sp>
      <p:sp>
        <p:nvSpPr>
          <p:cNvPr id="27" name="TextBox 26"/>
          <p:cNvSpPr txBox="1"/>
          <p:nvPr/>
        </p:nvSpPr>
        <p:spPr>
          <a:xfrm>
            <a:off x="5852160" y="5074920"/>
            <a:ext cx="320040" cy="292608"/>
          </a:xfrm>
          <a:prstGeom prst="rect">
            <a:avLst/>
          </a:prstGeom>
          <a:noFill/>
        </p:spPr>
        <p:txBody>
          <a:bodyPr wrap="square" lIns="0" tIns="0" rIns="0" bIns="0" anchor="t">
            <a:spAutoFit/>
          </a:bodyPr>
          <a:lstStyle/>
          <a:p>
            <a:pPr algn="ctr"/>
            <a:r>
              <a:rPr sz="1700" b="1">
                <a:solidFill>
                  <a:srgbClr val="EF3281"/>
                </a:solidFill>
                <a:latin typeface="Aptos"/>
              </a:rPr>
              <a:t>→</a:t>
            </a:r>
          </a:p>
        </p:txBody>
      </p:sp>
      <p:sp>
        <p:nvSpPr>
          <p:cNvPr id="28" name="TextBox 27"/>
          <p:cNvSpPr txBox="1"/>
          <p:nvPr/>
        </p:nvSpPr>
        <p:spPr>
          <a:xfrm>
            <a:off x="6263640" y="5102352"/>
            <a:ext cx="2606040" cy="169277"/>
          </a:xfrm>
          <a:prstGeom prst="rect">
            <a:avLst/>
          </a:prstGeom>
          <a:noFill/>
        </p:spPr>
        <p:txBody>
          <a:bodyPr wrap="square" lIns="0" tIns="0" rIns="0" bIns="0" anchor="t">
            <a:spAutoFit/>
          </a:bodyPr>
          <a:lstStyle/>
          <a:p>
            <a:pPr algn="l"/>
            <a:r>
              <a:rPr sz="1100" b="1" dirty="0">
                <a:solidFill>
                  <a:schemeClr val="bg2"/>
                </a:solidFill>
                <a:latin typeface="Aptos"/>
              </a:rPr>
              <a:t>Sensitive data movement is constrained</a:t>
            </a:r>
          </a:p>
        </p:txBody>
      </p:sp>
      <p:sp>
        <p:nvSpPr>
          <p:cNvPr id="29" name="TextBox 28"/>
          <p:cNvSpPr txBox="1"/>
          <p:nvPr/>
        </p:nvSpPr>
        <p:spPr>
          <a:xfrm>
            <a:off x="8942832" y="5074920"/>
            <a:ext cx="320040" cy="292608"/>
          </a:xfrm>
          <a:prstGeom prst="rect">
            <a:avLst/>
          </a:prstGeom>
          <a:noFill/>
        </p:spPr>
        <p:txBody>
          <a:bodyPr wrap="square" lIns="0" tIns="0" rIns="0" bIns="0" anchor="t">
            <a:spAutoFit/>
          </a:bodyPr>
          <a:lstStyle/>
          <a:p>
            <a:pPr algn="ctr"/>
            <a:r>
              <a:rPr sz="1700" b="1">
                <a:solidFill>
                  <a:srgbClr val="EF3281"/>
                </a:solidFill>
                <a:latin typeface="Aptos"/>
              </a:rPr>
              <a:t>→</a:t>
            </a:r>
          </a:p>
        </p:txBody>
      </p:sp>
      <p:sp>
        <p:nvSpPr>
          <p:cNvPr id="30" name="TextBox 29"/>
          <p:cNvSpPr txBox="1"/>
          <p:nvPr/>
        </p:nvSpPr>
        <p:spPr>
          <a:xfrm>
            <a:off x="9308592" y="5102352"/>
            <a:ext cx="1828800" cy="169277"/>
          </a:xfrm>
          <a:prstGeom prst="rect">
            <a:avLst/>
          </a:prstGeom>
          <a:noFill/>
        </p:spPr>
        <p:txBody>
          <a:bodyPr wrap="square" lIns="0" tIns="0" rIns="0" bIns="0" anchor="t">
            <a:spAutoFit/>
          </a:bodyPr>
          <a:lstStyle/>
          <a:p>
            <a:pPr algn="l"/>
            <a:r>
              <a:rPr sz="1100" b="1" dirty="0">
                <a:solidFill>
                  <a:schemeClr val="bg2"/>
                </a:solidFill>
                <a:latin typeface="Aptos"/>
              </a:rPr>
              <a:t>Risky traffic is blocked</a:t>
            </a:r>
          </a:p>
        </p:txBody>
      </p:sp>
      <p:sp>
        <p:nvSpPr>
          <p:cNvPr id="31" name="Rectangle 30"/>
          <p:cNvSpPr/>
          <p:nvPr/>
        </p:nvSpPr>
        <p:spPr>
          <a:xfrm>
            <a:off x="960120" y="5605272"/>
            <a:ext cx="10058400" cy="502920"/>
          </a:xfrm>
          <a:prstGeom prst="rect">
            <a:avLst/>
          </a:prstGeom>
          <a:solidFill>
            <a:srgbClr val="3361E1"/>
          </a:solidFill>
          <a:ln>
            <a:solidFill>
              <a:srgbClr val="336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70432" y="5760720"/>
            <a:ext cx="9646920" cy="237744"/>
          </a:xfrm>
          <a:prstGeom prst="rect">
            <a:avLst/>
          </a:prstGeom>
          <a:noFill/>
        </p:spPr>
        <p:txBody>
          <a:bodyPr wrap="square" lIns="0" tIns="0" rIns="0" bIns="0" anchor="t">
            <a:spAutoFit/>
          </a:bodyPr>
          <a:lstStyle/>
          <a:p>
            <a:pPr algn="ctr"/>
            <a:r>
              <a:rPr sz="1300" b="1">
                <a:solidFill>
                  <a:srgbClr val="FFFFFF"/>
                </a:solidFill>
                <a:latin typeface="Aptos"/>
              </a:rPr>
              <a:t>Good skill design reduces requested authority. Enterprise controls enforce the boundary.</a:t>
            </a:r>
          </a:p>
        </p:txBody>
      </p:sp>
    </p:spTree>
    <p:extLst>
      <p:ext uri="{BB962C8B-B14F-4D97-AF65-F5344CB8AC3E}">
        <p14:creationId xmlns:p14="http://schemas.microsoft.com/office/powerpoint/2010/main" val="3009546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algn="l"/>
            <a:r>
              <a:rPr sz="850" b="1">
                <a:solidFill>
                  <a:srgbClr val="00B1D9"/>
                </a:solidFill>
                <a:latin typeface="Aptos"/>
              </a:rPr>
              <a:t>END USERS + ENTERPRISE ADMINISTRATORS</a:t>
            </a:r>
          </a:p>
        </p:txBody>
      </p:sp>
      <p:sp>
        <p:nvSpPr>
          <p:cNvPr id="3" name="TextBox 2"/>
          <p:cNvSpPr txBox="1"/>
          <p:nvPr/>
        </p:nvSpPr>
        <p:spPr>
          <a:xfrm>
            <a:off x="658368" y="667512"/>
            <a:ext cx="10744200" cy="658368"/>
          </a:xfrm>
          <a:prstGeom prst="rect">
            <a:avLst/>
          </a:prstGeom>
          <a:noFill/>
        </p:spPr>
        <p:txBody>
          <a:bodyPr wrap="square" lIns="0" tIns="0" rIns="0" bIns="0" anchor="t">
            <a:spAutoFit/>
          </a:bodyPr>
          <a:lstStyle/>
          <a:p>
            <a:pPr algn="l"/>
            <a:r>
              <a:rPr sz="2800" b="1">
                <a:solidFill>
                  <a:srgbClr val="FFFFFF"/>
                </a:solidFill>
                <a:latin typeface="Aptos"/>
              </a:rPr>
              <a:t>Shared responsibility: protect the data, enforce the boundary</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B2BCD3"/>
                </a:solidFill>
                <a:latin typeface="Aptos"/>
              </a:rPr>
              <a:t>21</a:t>
            </a:r>
          </a:p>
        </p:txBody>
      </p:sp>
      <p:sp>
        <p:nvSpPr>
          <p:cNvPr id="6" name="TextBox 5"/>
          <p:cNvSpPr txBox="1"/>
          <p:nvPr/>
        </p:nvSpPr>
        <p:spPr>
          <a:xfrm>
            <a:off x="749808" y="1481328"/>
            <a:ext cx="4297680" cy="274320"/>
          </a:xfrm>
          <a:prstGeom prst="rect">
            <a:avLst/>
          </a:prstGeom>
          <a:noFill/>
        </p:spPr>
        <p:txBody>
          <a:bodyPr wrap="square" lIns="0" tIns="0" rIns="0" bIns="0" anchor="t">
            <a:spAutoFit/>
          </a:bodyPr>
          <a:lstStyle/>
          <a:p>
            <a:pPr algn="l"/>
            <a:r>
              <a:rPr sz="1100" b="1">
                <a:solidFill>
                  <a:srgbClr val="00B1D9"/>
                </a:solidFill>
                <a:latin typeface="Aptos"/>
              </a:rPr>
              <a:t>END USER / SKILL BUILDER</a:t>
            </a:r>
          </a:p>
        </p:txBody>
      </p:sp>
      <p:sp>
        <p:nvSpPr>
          <p:cNvPr id="7" name="TextBox 6"/>
          <p:cNvSpPr txBox="1"/>
          <p:nvPr/>
        </p:nvSpPr>
        <p:spPr>
          <a:xfrm>
            <a:off x="749808" y="1865376"/>
            <a:ext cx="4434840" cy="384048"/>
          </a:xfrm>
          <a:prstGeom prst="rect">
            <a:avLst/>
          </a:prstGeom>
          <a:noFill/>
        </p:spPr>
        <p:txBody>
          <a:bodyPr wrap="square" lIns="0" tIns="0" rIns="0" bIns="0" anchor="t">
            <a:spAutoFit/>
          </a:bodyPr>
          <a:lstStyle/>
          <a:p>
            <a:pPr algn="l"/>
            <a:r>
              <a:rPr sz="2000" b="1">
                <a:solidFill>
                  <a:srgbClr val="FFFFFF"/>
                </a:solidFill>
                <a:latin typeface="Aptos"/>
              </a:rPr>
              <a:t>Reduce what the agent needs</a:t>
            </a:r>
          </a:p>
        </p:txBody>
      </p:sp>
      <p:sp>
        <p:nvSpPr>
          <p:cNvPr id="8" name="TextBox 7"/>
          <p:cNvSpPr txBox="1"/>
          <p:nvPr/>
        </p:nvSpPr>
        <p:spPr>
          <a:xfrm>
            <a:off x="777240" y="2487168"/>
            <a:ext cx="256032" cy="228600"/>
          </a:xfrm>
          <a:prstGeom prst="rect">
            <a:avLst/>
          </a:prstGeom>
          <a:noFill/>
        </p:spPr>
        <p:txBody>
          <a:bodyPr wrap="square" lIns="0" tIns="0" rIns="0" bIns="0" anchor="t">
            <a:spAutoFit/>
          </a:bodyPr>
          <a:lstStyle/>
          <a:p>
            <a:pPr algn="l"/>
            <a:r>
              <a:rPr sz="1200" b="1">
                <a:solidFill>
                  <a:srgbClr val="EF3281"/>
                </a:solidFill>
                <a:latin typeface="Aptos"/>
              </a:rPr>
              <a:t>—</a:t>
            </a:r>
          </a:p>
        </p:txBody>
      </p:sp>
      <p:sp>
        <p:nvSpPr>
          <p:cNvPr id="9" name="TextBox 8"/>
          <p:cNvSpPr txBox="1"/>
          <p:nvPr/>
        </p:nvSpPr>
        <p:spPr>
          <a:xfrm>
            <a:off x="1143000" y="2450592"/>
            <a:ext cx="4160520" cy="384048"/>
          </a:xfrm>
          <a:prstGeom prst="rect">
            <a:avLst/>
          </a:prstGeom>
          <a:noFill/>
        </p:spPr>
        <p:txBody>
          <a:bodyPr wrap="square" lIns="0" tIns="0" rIns="0" bIns="0" anchor="t">
            <a:spAutoFit/>
          </a:bodyPr>
          <a:lstStyle/>
          <a:p>
            <a:pPr algn="l"/>
            <a:r>
              <a:rPr sz="1200" b="0">
                <a:solidFill>
                  <a:srgbClr val="FFFFFF"/>
                </a:solidFill>
                <a:latin typeface="Aptos"/>
              </a:rPr>
              <a:t>Use only the data and context required for the task</a:t>
            </a:r>
          </a:p>
        </p:txBody>
      </p:sp>
      <p:sp>
        <p:nvSpPr>
          <p:cNvPr id="10" name="TextBox 9"/>
          <p:cNvSpPr txBox="1"/>
          <p:nvPr/>
        </p:nvSpPr>
        <p:spPr>
          <a:xfrm>
            <a:off x="777240" y="3008376"/>
            <a:ext cx="256032" cy="228600"/>
          </a:xfrm>
          <a:prstGeom prst="rect">
            <a:avLst/>
          </a:prstGeom>
          <a:noFill/>
        </p:spPr>
        <p:txBody>
          <a:bodyPr wrap="square" lIns="0" tIns="0" rIns="0" bIns="0" anchor="t">
            <a:spAutoFit/>
          </a:bodyPr>
          <a:lstStyle/>
          <a:p>
            <a:pPr algn="l"/>
            <a:r>
              <a:rPr sz="1200" b="1">
                <a:solidFill>
                  <a:srgbClr val="EF3281"/>
                </a:solidFill>
                <a:latin typeface="Aptos"/>
              </a:rPr>
              <a:t>—</a:t>
            </a:r>
          </a:p>
        </p:txBody>
      </p:sp>
      <p:sp>
        <p:nvSpPr>
          <p:cNvPr id="11" name="TextBox 10"/>
          <p:cNvSpPr txBox="1"/>
          <p:nvPr/>
        </p:nvSpPr>
        <p:spPr>
          <a:xfrm>
            <a:off x="1143000" y="2971800"/>
            <a:ext cx="4160520" cy="384048"/>
          </a:xfrm>
          <a:prstGeom prst="rect">
            <a:avLst/>
          </a:prstGeom>
          <a:noFill/>
        </p:spPr>
        <p:txBody>
          <a:bodyPr wrap="square" lIns="0" tIns="0" rIns="0" bIns="0" anchor="t">
            <a:spAutoFit/>
          </a:bodyPr>
          <a:lstStyle/>
          <a:p>
            <a:pPr algn="l"/>
            <a:r>
              <a:rPr sz="1200" b="0">
                <a:solidFill>
                  <a:srgbClr val="FFFFFF"/>
                </a:solidFill>
                <a:latin typeface="Aptos"/>
              </a:rPr>
              <a:t>Keep secrets and unrelated files out of reach</a:t>
            </a:r>
          </a:p>
        </p:txBody>
      </p:sp>
      <p:sp>
        <p:nvSpPr>
          <p:cNvPr id="12" name="TextBox 11"/>
          <p:cNvSpPr txBox="1"/>
          <p:nvPr/>
        </p:nvSpPr>
        <p:spPr>
          <a:xfrm>
            <a:off x="777240" y="3529584"/>
            <a:ext cx="256032" cy="228600"/>
          </a:xfrm>
          <a:prstGeom prst="rect">
            <a:avLst/>
          </a:prstGeom>
          <a:noFill/>
        </p:spPr>
        <p:txBody>
          <a:bodyPr wrap="square" lIns="0" tIns="0" rIns="0" bIns="0" anchor="t">
            <a:spAutoFit/>
          </a:bodyPr>
          <a:lstStyle/>
          <a:p>
            <a:pPr algn="l"/>
            <a:r>
              <a:rPr sz="1200" b="1">
                <a:solidFill>
                  <a:srgbClr val="EF3281"/>
                </a:solidFill>
                <a:latin typeface="Aptos"/>
              </a:rPr>
              <a:t>—</a:t>
            </a:r>
          </a:p>
        </p:txBody>
      </p:sp>
      <p:sp>
        <p:nvSpPr>
          <p:cNvPr id="13" name="TextBox 12"/>
          <p:cNvSpPr txBox="1"/>
          <p:nvPr/>
        </p:nvSpPr>
        <p:spPr>
          <a:xfrm>
            <a:off x="1143000" y="3493008"/>
            <a:ext cx="4160520" cy="384048"/>
          </a:xfrm>
          <a:prstGeom prst="rect">
            <a:avLst/>
          </a:prstGeom>
          <a:noFill/>
        </p:spPr>
        <p:txBody>
          <a:bodyPr wrap="square" lIns="0" tIns="0" rIns="0" bIns="0" anchor="t">
            <a:spAutoFit/>
          </a:bodyPr>
          <a:lstStyle/>
          <a:p>
            <a:pPr algn="l"/>
            <a:r>
              <a:rPr sz="1200" b="0">
                <a:solidFill>
                  <a:srgbClr val="FFFFFF"/>
                </a:solidFill>
                <a:latin typeface="Aptos"/>
              </a:rPr>
              <a:t>Review skills, commands, permissions, and destinations</a:t>
            </a:r>
          </a:p>
        </p:txBody>
      </p:sp>
      <p:sp>
        <p:nvSpPr>
          <p:cNvPr id="14" name="TextBox 13"/>
          <p:cNvSpPr txBox="1"/>
          <p:nvPr/>
        </p:nvSpPr>
        <p:spPr>
          <a:xfrm>
            <a:off x="777240" y="4050791"/>
            <a:ext cx="256032" cy="228600"/>
          </a:xfrm>
          <a:prstGeom prst="rect">
            <a:avLst/>
          </a:prstGeom>
          <a:noFill/>
        </p:spPr>
        <p:txBody>
          <a:bodyPr wrap="square" lIns="0" tIns="0" rIns="0" bIns="0" anchor="t">
            <a:spAutoFit/>
          </a:bodyPr>
          <a:lstStyle/>
          <a:p>
            <a:pPr algn="l"/>
            <a:r>
              <a:rPr sz="1200" b="1">
                <a:solidFill>
                  <a:srgbClr val="EF3281"/>
                </a:solidFill>
                <a:latin typeface="Aptos"/>
              </a:rPr>
              <a:t>—</a:t>
            </a:r>
          </a:p>
        </p:txBody>
      </p:sp>
      <p:sp>
        <p:nvSpPr>
          <p:cNvPr id="15" name="TextBox 14"/>
          <p:cNvSpPr txBox="1"/>
          <p:nvPr/>
        </p:nvSpPr>
        <p:spPr>
          <a:xfrm>
            <a:off x="1143000" y="4014216"/>
            <a:ext cx="4160520" cy="384048"/>
          </a:xfrm>
          <a:prstGeom prst="rect">
            <a:avLst/>
          </a:prstGeom>
          <a:noFill/>
        </p:spPr>
        <p:txBody>
          <a:bodyPr wrap="square" lIns="0" tIns="0" rIns="0" bIns="0" anchor="t">
            <a:spAutoFit/>
          </a:bodyPr>
          <a:lstStyle/>
          <a:p>
            <a:pPr algn="l"/>
            <a:r>
              <a:rPr sz="1200" b="0">
                <a:solidFill>
                  <a:srgbClr val="FFFFFF"/>
                </a:solidFill>
                <a:latin typeface="Aptos"/>
              </a:rPr>
              <a:t>Stop before expanding access or taking consequential action</a:t>
            </a:r>
          </a:p>
        </p:txBody>
      </p:sp>
      <p:sp>
        <p:nvSpPr>
          <p:cNvPr id="16" name="Rectangle 15"/>
          <p:cNvSpPr/>
          <p:nvPr/>
        </p:nvSpPr>
        <p:spPr>
          <a:xfrm>
            <a:off x="5650992" y="1664208"/>
            <a:ext cx="36576" cy="3611880"/>
          </a:xfrm>
          <a:prstGeom prst="rect">
            <a:avLst/>
          </a:prstGeom>
          <a:solidFill>
            <a:srgbClr val="7E41E8"/>
          </a:solidFill>
          <a:ln>
            <a:solidFill>
              <a:srgbClr val="7E4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44768" y="1481328"/>
            <a:ext cx="4297680" cy="274320"/>
          </a:xfrm>
          <a:prstGeom prst="rect">
            <a:avLst/>
          </a:prstGeom>
          <a:noFill/>
        </p:spPr>
        <p:txBody>
          <a:bodyPr wrap="square" lIns="0" tIns="0" rIns="0" bIns="0" anchor="t">
            <a:spAutoFit/>
          </a:bodyPr>
          <a:lstStyle/>
          <a:p>
            <a:pPr algn="l"/>
            <a:r>
              <a:rPr sz="1100" b="1">
                <a:solidFill>
                  <a:srgbClr val="7E41E8"/>
                </a:solidFill>
                <a:latin typeface="Aptos"/>
              </a:rPr>
              <a:t>ENTERPRISE ADMINISTRATOR</a:t>
            </a:r>
          </a:p>
        </p:txBody>
      </p:sp>
      <p:sp>
        <p:nvSpPr>
          <p:cNvPr id="18" name="TextBox 17"/>
          <p:cNvSpPr txBox="1"/>
          <p:nvPr/>
        </p:nvSpPr>
        <p:spPr>
          <a:xfrm>
            <a:off x="6144768" y="1865376"/>
            <a:ext cx="4754880" cy="384048"/>
          </a:xfrm>
          <a:prstGeom prst="rect">
            <a:avLst/>
          </a:prstGeom>
          <a:noFill/>
        </p:spPr>
        <p:txBody>
          <a:bodyPr wrap="square" lIns="0" tIns="0" rIns="0" bIns="0" anchor="t">
            <a:spAutoFit/>
          </a:bodyPr>
          <a:lstStyle/>
          <a:p>
            <a:pPr algn="l"/>
            <a:r>
              <a:rPr sz="2000" b="1">
                <a:solidFill>
                  <a:srgbClr val="FFFFFF"/>
                </a:solidFill>
                <a:latin typeface="Aptos"/>
              </a:rPr>
              <a:t>Enforce what the agent may do</a:t>
            </a:r>
          </a:p>
        </p:txBody>
      </p:sp>
      <p:sp>
        <p:nvSpPr>
          <p:cNvPr id="19" name="TextBox 18"/>
          <p:cNvSpPr txBox="1"/>
          <p:nvPr/>
        </p:nvSpPr>
        <p:spPr>
          <a:xfrm>
            <a:off x="6172200" y="2459736"/>
            <a:ext cx="1051560" cy="228600"/>
          </a:xfrm>
          <a:prstGeom prst="rect">
            <a:avLst/>
          </a:prstGeom>
          <a:noFill/>
        </p:spPr>
        <p:txBody>
          <a:bodyPr wrap="square" lIns="0" tIns="0" rIns="0" bIns="0" anchor="t">
            <a:spAutoFit/>
          </a:bodyPr>
          <a:lstStyle/>
          <a:p>
            <a:pPr algn="l"/>
            <a:r>
              <a:rPr sz="1000" b="1">
                <a:solidFill>
                  <a:srgbClr val="00B1D9"/>
                </a:solidFill>
                <a:latin typeface="Aptos"/>
              </a:rPr>
              <a:t>OBSERVE</a:t>
            </a:r>
          </a:p>
        </p:txBody>
      </p:sp>
      <p:sp>
        <p:nvSpPr>
          <p:cNvPr id="20" name="TextBox 19"/>
          <p:cNvSpPr txBox="1"/>
          <p:nvPr/>
        </p:nvSpPr>
        <p:spPr>
          <a:xfrm>
            <a:off x="7315200" y="2441448"/>
            <a:ext cx="3886200" cy="347472"/>
          </a:xfrm>
          <a:prstGeom prst="rect">
            <a:avLst/>
          </a:prstGeom>
          <a:noFill/>
        </p:spPr>
        <p:txBody>
          <a:bodyPr wrap="square" lIns="0" tIns="0" rIns="0" bIns="0" anchor="t">
            <a:spAutoFit/>
          </a:bodyPr>
          <a:lstStyle/>
          <a:p>
            <a:pPr algn="l"/>
            <a:r>
              <a:rPr sz="1200" b="0">
                <a:solidFill>
                  <a:srgbClr val="FFFFFF"/>
                </a:solidFill>
                <a:latin typeface="Aptos"/>
              </a:rPr>
              <a:t>Discover agents, identity, ownership, and activity</a:t>
            </a:r>
          </a:p>
        </p:txBody>
      </p:sp>
      <p:sp>
        <p:nvSpPr>
          <p:cNvPr id="21" name="TextBox 20"/>
          <p:cNvSpPr txBox="1"/>
          <p:nvPr/>
        </p:nvSpPr>
        <p:spPr>
          <a:xfrm>
            <a:off x="6172200" y="3026664"/>
            <a:ext cx="1051560" cy="228600"/>
          </a:xfrm>
          <a:prstGeom prst="rect">
            <a:avLst/>
          </a:prstGeom>
          <a:noFill/>
        </p:spPr>
        <p:txBody>
          <a:bodyPr wrap="square" lIns="0" tIns="0" rIns="0" bIns="0" anchor="t">
            <a:spAutoFit/>
          </a:bodyPr>
          <a:lstStyle/>
          <a:p>
            <a:pPr algn="l"/>
            <a:r>
              <a:rPr sz="1000" b="1">
                <a:solidFill>
                  <a:srgbClr val="7E41E8"/>
                </a:solidFill>
                <a:latin typeface="Aptos"/>
              </a:rPr>
              <a:t>GOVERN</a:t>
            </a:r>
          </a:p>
        </p:txBody>
      </p:sp>
      <p:sp>
        <p:nvSpPr>
          <p:cNvPr id="22" name="TextBox 21"/>
          <p:cNvSpPr txBox="1"/>
          <p:nvPr/>
        </p:nvSpPr>
        <p:spPr>
          <a:xfrm>
            <a:off x="7315200" y="3008376"/>
            <a:ext cx="3886200" cy="347472"/>
          </a:xfrm>
          <a:prstGeom prst="rect">
            <a:avLst/>
          </a:prstGeom>
          <a:noFill/>
        </p:spPr>
        <p:txBody>
          <a:bodyPr wrap="square" lIns="0" tIns="0" rIns="0" bIns="0" anchor="t">
            <a:spAutoFit/>
          </a:bodyPr>
          <a:lstStyle/>
          <a:p>
            <a:pPr algn="l"/>
            <a:r>
              <a:rPr sz="1200" b="0">
                <a:solidFill>
                  <a:srgbClr val="FFFFFF"/>
                </a:solidFill>
                <a:latin typeface="Aptos"/>
              </a:rPr>
              <a:t>Manage access, sponsorship, reviews, and lifecycle</a:t>
            </a:r>
          </a:p>
        </p:txBody>
      </p:sp>
      <p:sp>
        <p:nvSpPr>
          <p:cNvPr id="23" name="TextBox 22"/>
          <p:cNvSpPr txBox="1"/>
          <p:nvPr/>
        </p:nvSpPr>
        <p:spPr>
          <a:xfrm>
            <a:off x="6172200" y="3593591"/>
            <a:ext cx="1051560" cy="228600"/>
          </a:xfrm>
          <a:prstGeom prst="rect">
            <a:avLst/>
          </a:prstGeom>
          <a:noFill/>
        </p:spPr>
        <p:txBody>
          <a:bodyPr wrap="square" lIns="0" tIns="0" rIns="0" bIns="0" anchor="t">
            <a:spAutoFit/>
          </a:bodyPr>
          <a:lstStyle/>
          <a:p>
            <a:pPr algn="l"/>
            <a:r>
              <a:rPr sz="1000" b="1">
                <a:solidFill>
                  <a:srgbClr val="EF3281"/>
                </a:solidFill>
                <a:latin typeface="Aptos"/>
              </a:rPr>
              <a:t>SECURE</a:t>
            </a:r>
          </a:p>
        </p:txBody>
      </p:sp>
      <p:sp>
        <p:nvSpPr>
          <p:cNvPr id="24" name="TextBox 23"/>
          <p:cNvSpPr txBox="1"/>
          <p:nvPr/>
        </p:nvSpPr>
        <p:spPr>
          <a:xfrm>
            <a:off x="7315200" y="3575303"/>
            <a:ext cx="3886200" cy="347472"/>
          </a:xfrm>
          <a:prstGeom prst="rect">
            <a:avLst/>
          </a:prstGeom>
          <a:noFill/>
        </p:spPr>
        <p:txBody>
          <a:bodyPr wrap="square" lIns="0" tIns="0" rIns="0" bIns="0" anchor="t">
            <a:spAutoFit/>
          </a:bodyPr>
          <a:lstStyle/>
          <a:p>
            <a:pPr algn="l"/>
            <a:r>
              <a:rPr sz="1200" b="0">
                <a:solidFill>
                  <a:srgbClr val="FFFFFF"/>
                </a:solidFill>
                <a:latin typeface="Aptos"/>
              </a:rPr>
              <a:t>Apply identity, data, threat, and network controls</a:t>
            </a:r>
          </a:p>
        </p:txBody>
      </p:sp>
      <p:sp>
        <p:nvSpPr>
          <p:cNvPr id="25" name="TextBox 24"/>
          <p:cNvSpPr txBox="1"/>
          <p:nvPr/>
        </p:nvSpPr>
        <p:spPr>
          <a:xfrm>
            <a:off x="6172200" y="4160520"/>
            <a:ext cx="1051560" cy="228600"/>
          </a:xfrm>
          <a:prstGeom prst="rect">
            <a:avLst/>
          </a:prstGeom>
          <a:noFill/>
        </p:spPr>
        <p:txBody>
          <a:bodyPr wrap="square" lIns="0" tIns="0" rIns="0" bIns="0" anchor="t">
            <a:spAutoFit/>
          </a:bodyPr>
          <a:lstStyle/>
          <a:p>
            <a:pPr algn="l"/>
            <a:r>
              <a:rPr sz="1000" b="1">
                <a:solidFill>
                  <a:srgbClr val="00AA80"/>
                </a:solidFill>
                <a:latin typeface="Aptos"/>
              </a:rPr>
              <a:t>RESPOND</a:t>
            </a:r>
          </a:p>
        </p:txBody>
      </p:sp>
      <p:sp>
        <p:nvSpPr>
          <p:cNvPr id="26" name="TextBox 25"/>
          <p:cNvSpPr txBox="1"/>
          <p:nvPr/>
        </p:nvSpPr>
        <p:spPr>
          <a:xfrm>
            <a:off x="7315200" y="4142232"/>
            <a:ext cx="3886200" cy="347472"/>
          </a:xfrm>
          <a:prstGeom prst="rect">
            <a:avLst/>
          </a:prstGeom>
          <a:noFill/>
        </p:spPr>
        <p:txBody>
          <a:bodyPr wrap="square" lIns="0" tIns="0" rIns="0" bIns="0" anchor="t">
            <a:spAutoFit/>
          </a:bodyPr>
          <a:lstStyle/>
          <a:p>
            <a:pPr algn="l"/>
            <a:r>
              <a:rPr sz="1200" b="0">
                <a:solidFill>
                  <a:srgbClr val="FFFFFF"/>
                </a:solidFill>
                <a:latin typeface="Aptos"/>
              </a:rPr>
              <a:t>Block risky access, investigate, revoke, and retire</a:t>
            </a:r>
          </a:p>
        </p:txBody>
      </p:sp>
      <p:sp>
        <p:nvSpPr>
          <p:cNvPr id="27" name="Rectangle 26"/>
          <p:cNvSpPr/>
          <p:nvPr/>
        </p:nvSpPr>
        <p:spPr>
          <a:xfrm>
            <a:off x="932688" y="5074920"/>
            <a:ext cx="10332720" cy="713232"/>
          </a:xfrm>
          <a:prstGeom prst="rect">
            <a:avLst/>
          </a:prstGeom>
          <a:solidFill>
            <a:srgbClr val="0E1436"/>
          </a:solidFill>
          <a:ln>
            <a:solidFill>
              <a:srgbClr val="00B1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88720" y="5285232"/>
            <a:ext cx="4389120" cy="274320"/>
          </a:xfrm>
          <a:prstGeom prst="rect">
            <a:avLst/>
          </a:prstGeom>
          <a:noFill/>
        </p:spPr>
        <p:txBody>
          <a:bodyPr wrap="square" lIns="0" tIns="0" rIns="0" bIns="0" anchor="t">
            <a:spAutoFit/>
          </a:bodyPr>
          <a:lstStyle/>
          <a:p>
            <a:pPr algn="ctr"/>
            <a:r>
              <a:rPr sz="1400" b="1">
                <a:solidFill>
                  <a:srgbClr val="00B1D9"/>
                </a:solidFill>
                <a:latin typeface="Aptos"/>
              </a:rPr>
              <a:t>The user decides what the agent should need.</a:t>
            </a:r>
          </a:p>
        </p:txBody>
      </p:sp>
      <p:sp>
        <p:nvSpPr>
          <p:cNvPr id="29" name="TextBox 28"/>
          <p:cNvSpPr txBox="1"/>
          <p:nvPr/>
        </p:nvSpPr>
        <p:spPr>
          <a:xfrm>
            <a:off x="5623560" y="5230368"/>
            <a:ext cx="411480" cy="347472"/>
          </a:xfrm>
          <a:prstGeom prst="rect">
            <a:avLst/>
          </a:prstGeom>
          <a:noFill/>
        </p:spPr>
        <p:txBody>
          <a:bodyPr wrap="square" lIns="0" tIns="0" rIns="0" bIns="0" anchor="t">
            <a:spAutoFit/>
          </a:bodyPr>
          <a:lstStyle/>
          <a:p>
            <a:pPr algn="ctr"/>
            <a:r>
              <a:rPr sz="2100" b="1">
                <a:solidFill>
                  <a:srgbClr val="EF3281"/>
                </a:solidFill>
                <a:latin typeface="Aptos"/>
              </a:rPr>
              <a:t>+</a:t>
            </a:r>
          </a:p>
        </p:txBody>
      </p:sp>
      <p:sp>
        <p:nvSpPr>
          <p:cNvPr id="30" name="TextBox 29"/>
          <p:cNvSpPr txBox="1"/>
          <p:nvPr/>
        </p:nvSpPr>
        <p:spPr>
          <a:xfrm>
            <a:off x="6080760" y="5285232"/>
            <a:ext cx="4892040" cy="274320"/>
          </a:xfrm>
          <a:prstGeom prst="rect">
            <a:avLst/>
          </a:prstGeom>
          <a:noFill/>
        </p:spPr>
        <p:txBody>
          <a:bodyPr wrap="square" lIns="0" tIns="0" rIns="0" bIns="0" anchor="t">
            <a:spAutoFit/>
          </a:bodyPr>
          <a:lstStyle/>
          <a:p>
            <a:pPr algn="ctr"/>
            <a:r>
              <a:rPr sz="1400" b="1">
                <a:solidFill>
                  <a:srgbClr val="7E41E8"/>
                </a:solidFill>
                <a:latin typeface="Aptos"/>
              </a:rPr>
              <a:t>The enterprise enforces what the agent is allowed to do.</a:t>
            </a:r>
          </a:p>
        </p:txBody>
      </p:sp>
      <p:sp>
        <p:nvSpPr>
          <p:cNvPr id="31" name="TextBox 30"/>
          <p:cNvSpPr txBox="1"/>
          <p:nvPr/>
        </p:nvSpPr>
        <p:spPr>
          <a:xfrm>
            <a:off x="868680" y="5961888"/>
            <a:ext cx="10469880" cy="274320"/>
          </a:xfrm>
          <a:prstGeom prst="rect">
            <a:avLst/>
          </a:prstGeom>
          <a:noFill/>
        </p:spPr>
        <p:txBody>
          <a:bodyPr wrap="square" lIns="0" tIns="0" rIns="0" bIns="0" anchor="t">
            <a:spAutoFit/>
          </a:bodyPr>
          <a:lstStyle/>
          <a:p>
            <a:pPr algn="ctr"/>
            <a:r>
              <a:rPr sz="1300" b="1">
                <a:solidFill>
                  <a:srgbClr val="576276"/>
                </a:solidFill>
                <a:latin typeface="Aptos"/>
              </a:rPr>
              <a:t>Good skill design and enterprise controls are complementary—not interchangeable.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B3885-4824-F088-9399-117897DC7F60}"/>
            </a:ext>
          </a:extLst>
        </p:cNvPr>
        <p:cNvGrpSpPr/>
        <p:nvPr/>
      </p:nvGrpSpPr>
      <p:grpSpPr>
        <a:xfrm>
          <a:off x="0" y="0"/>
          <a:ext cx="0" cy="0"/>
          <a:chOff x="0" y="0"/>
          <a:chExt cx="0" cy="0"/>
        </a:xfrm>
      </p:grpSpPr>
      <p:pic>
        <p:nvPicPr>
          <p:cNvPr id="2" name="Picture 1" descr="image1.jpeg">
            <a:extLst>
              <a:ext uri="{FF2B5EF4-FFF2-40B4-BE49-F238E27FC236}">
                <a16:creationId xmlns:a16="http://schemas.microsoft.com/office/drawing/2014/main" id="{0CA46295-6049-B4D1-F9EA-3FE90F4D277E}"/>
              </a:ext>
            </a:extLst>
          </p:cNvPr>
          <p:cNvPicPr>
            <a:picLocks noChangeAspect="1"/>
          </p:cNvPicPr>
          <p:nvPr/>
        </p:nvPicPr>
        <p:blipFill>
          <a:blip r:embed="rId3"/>
          <a:stretch>
            <a:fillRect/>
          </a:stretch>
        </p:blipFill>
        <p:spPr>
          <a:xfrm>
            <a:off x="0" y="0"/>
            <a:ext cx="12191695" cy="6858000"/>
          </a:xfrm>
          <a:prstGeom prst="rect">
            <a:avLst/>
          </a:prstGeom>
        </p:spPr>
      </p:pic>
      <p:sp>
        <p:nvSpPr>
          <p:cNvPr id="3" name="TextBox 2">
            <a:extLst>
              <a:ext uri="{FF2B5EF4-FFF2-40B4-BE49-F238E27FC236}">
                <a16:creationId xmlns:a16="http://schemas.microsoft.com/office/drawing/2014/main" id="{E68E9EF0-0209-8917-5623-39B59626CB63}"/>
              </a:ext>
            </a:extLst>
          </p:cNvPr>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4" name="TextBox 3">
            <a:extLst>
              <a:ext uri="{FF2B5EF4-FFF2-40B4-BE49-F238E27FC236}">
                <a16:creationId xmlns:a16="http://schemas.microsoft.com/office/drawing/2014/main" id="{159E4620-8EE0-FFA1-FA40-14B30F31A7BE}"/>
              </a:ext>
            </a:extLst>
          </p:cNvPr>
          <p:cNvSpPr txBox="1"/>
          <p:nvPr/>
        </p:nvSpPr>
        <p:spPr>
          <a:xfrm>
            <a:off x="11091672" y="6473952"/>
            <a:ext cx="438912" cy="123111"/>
          </a:xfrm>
          <a:prstGeom prst="rect">
            <a:avLst/>
          </a:prstGeom>
          <a:noFill/>
        </p:spPr>
        <p:txBody>
          <a:bodyPr wrap="square" lIns="0" tIns="0" rIns="0" bIns="0" anchor="t">
            <a:spAutoFit/>
          </a:bodyPr>
          <a:lstStyle/>
          <a:p>
            <a:pPr algn="r"/>
            <a:r>
              <a:rPr lang="en-US" sz="800" b="1">
                <a:solidFill>
                  <a:srgbClr val="B2BCD3"/>
                </a:solidFill>
                <a:latin typeface="Aptos"/>
              </a:rPr>
              <a:t>23</a:t>
            </a:r>
            <a:endParaRPr sz="800" b="1">
              <a:solidFill>
                <a:srgbClr val="B2BCD3"/>
              </a:solidFill>
              <a:latin typeface="Aptos"/>
            </a:endParaRPr>
          </a:p>
        </p:txBody>
      </p:sp>
      <p:sp>
        <p:nvSpPr>
          <p:cNvPr id="5" name="TextBox 4">
            <a:extLst>
              <a:ext uri="{FF2B5EF4-FFF2-40B4-BE49-F238E27FC236}">
                <a16:creationId xmlns:a16="http://schemas.microsoft.com/office/drawing/2014/main" id="{8B918E74-88A4-9495-319B-3DF026CAC549}"/>
              </a:ext>
            </a:extLst>
          </p:cNvPr>
          <p:cNvSpPr txBox="1"/>
          <p:nvPr/>
        </p:nvSpPr>
        <p:spPr>
          <a:xfrm>
            <a:off x="694944" y="1188720"/>
            <a:ext cx="6217920" cy="1138773"/>
          </a:xfrm>
          <a:prstGeom prst="rect">
            <a:avLst/>
          </a:prstGeom>
          <a:noFill/>
        </p:spPr>
        <p:txBody>
          <a:bodyPr wrap="square" lIns="0" tIns="0" rIns="0" bIns="0" anchor="t">
            <a:spAutoFit/>
          </a:bodyPr>
          <a:lstStyle/>
          <a:p>
            <a:pPr algn="l"/>
            <a:r>
              <a:rPr lang="en-US" sz="3700" b="1" dirty="0">
                <a:solidFill>
                  <a:srgbClr val="FFFFFF"/>
                </a:solidFill>
                <a:latin typeface="Aptos"/>
              </a:rPr>
              <a:t>Useful by Design, Secure by Default</a:t>
            </a:r>
            <a:endParaRPr sz="3700" b="1" dirty="0">
              <a:solidFill>
                <a:srgbClr val="FFFFFF"/>
              </a:solidFill>
              <a:latin typeface="Aptos"/>
            </a:endParaRPr>
          </a:p>
        </p:txBody>
      </p:sp>
      <p:sp>
        <p:nvSpPr>
          <p:cNvPr id="7" name="Rectangle 6">
            <a:extLst>
              <a:ext uri="{FF2B5EF4-FFF2-40B4-BE49-F238E27FC236}">
                <a16:creationId xmlns:a16="http://schemas.microsoft.com/office/drawing/2014/main" id="{8B344A37-75A1-C322-A08F-328AFD8B9F47}"/>
              </a:ext>
            </a:extLst>
          </p:cNvPr>
          <p:cNvSpPr/>
          <p:nvPr/>
        </p:nvSpPr>
        <p:spPr>
          <a:xfrm>
            <a:off x="713232" y="3054096"/>
            <a:ext cx="1115568" cy="73152"/>
          </a:xfrm>
          <a:prstGeom prst="rect">
            <a:avLst/>
          </a:prstGeom>
          <a:solidFill>
            <a:srgbClr val="EF3281"/>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F76F40E-EDDA-962F-FDCE-CD73B172205C}"/>
              </a:ext>
            </a:extLst>
          </p:cNvPr>
          <p:cNvSpPr txBox="1"/>
          <p:nvPr/>
        </p:nvSpPr>
        <p:spPr>
          <a:xfrm>
            <a:off x="713232" y="3474720"/>
            <a:ext cx="6492240" cy="323165"/>
          </a:xfrm>
          <a:prstGeom prst="rect">
            <a:avLst/>
          </a:prstGeom>
          <a:noFill/>
        </p:spPr>
        <p:txBody>
          <a:bodyPr wrap="square" lIns="0" tIns="0" rIns="0" bIns="0" anchor="t">
            <a:spAutoFit/>
          </a:bodyPr>
          <a:lstStyle/>
          <a:p>
            <a:pPr algn="l"/>
            <a:r>
              <a:rPr lang="en-US" sz="2100" b="1" dirty="0">
                <a:solidFill>
                  <a:srgbClr val="FFFFFF"/>
                </a:solidFill>
                <a:latin typeface="Aptos"/>
              </a:rPr>
              <a:t>Make the safer path the faster path.</a:t>
            </a:r>
            <a:endParaRPr sz="2100" b="1" dirty="0">
              <a:solidFill>
                <a:srgbClr val="FFFFFF"/>
              </a:solidFill>
              <a:latin typeface="Aptos"/>
            </a:endParaRPr>
          </a:p>
        </p:txBody>
      </p:sp>
    </p:spTree>
    <p:extLst>
      <p:ext uri="{BB962C8B-B14F-4D97-AF65-F5344CB8AC3E}">
        <p14:creationId xmlns:p14="http://schemas.microsoft.com/office/powerpoint/2010/main" val="397012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ECA23-ED82-1801-5A17-0D5C2701C632}"/>
              </a:ext>
            </a:extLst>
          </p:cNvPr>
          <p:cNvSpPr>
            <a:spLocks noGrp="1"/>
          </p:cNvSpPr>
          <p:nvPr>
            <p:ph type="title"/>
          </p:nvPr>
        </p:nvSpPr>
        <p:spPr>
          <a:xfrm>
            <a:off x="571500" y="303784"/>
            <a:ext cx="11049000" cy="369332"/>
          </a:xfrm>
        </p:spPr>
        <p:txBody>
          <a:bodyPr/>
          <a:lstStyle/>
          <a:p>
            <a:r>
              <a:rPr lang="en-US" dirty="0"/>
              <a:t>Resources</a:t>
            </a:r>
          </a:p>
        </p:txBody>
      </p:sp>
      <p:sp>
        <p:nvSpPr>
          <p:cNvPr id="4" name="TextBox 3">
            <a:extLst>
              <a:ext uri="{FF2B5EF4-FFF2-40B4-BE49-F238E27FC236}">
                <a16:creationId xmlns:a16="http://schemas.microsoft.com/office/drawing/2014/main" id="{DA26232A-BD01-A9B6-BE0A-B9F1D55A4EF6}"/>
              </a:ext>
            </a:extLst>
          </p:cNvPr>
          <p:cNvSpPr txBox="1"/>
          <p:nvPr/>
        </p:nvSpPr>
        <p:spPr>
          <a:xfrm rot="10800000" flipV="1">
            <a:off x="700010" y="1174197"/>
            <a:ext cx="7938653" cy="3877985"/>
          </a:xfrm>
          <a:prstGeom prst="rect">
            <a:avLst/>
          </a:prstGeom>
          <a:noFill/>
        </p:spPr>
        <p:txBody>
          <a:bodyPr wrap="square" lIns="0" tIns="0" rIns="0" bIns="0" rtlCol="0">
            <a:spAutoFit/>
          </a:bodyPr>
          <a:lstStyle/>
          <a:p>
            <a:r>
              <a:rPr lang="en-US" dirty="0">
                <a:solidFill>
                  <a:schemeClr val="bg2"/>
                </a:solidFill>
              </a:rPr>
              <a:t>Microsoft study: </a:t>
            </a:r>
            <a:r>
              <a:rPr lang="en-US" dirty="0">
                <a:solidFill>
                  <a:schemeClr val="bg2"/>
                </a:solidFill>
                <a:hlinkClick r:id="rId3">
                  <a:extLst>
                    <a:ext uri="{A12FA001-AC4F-418D-AE19-62706E023703}">
                      <ahyp:hlinkClr xmlns:ahyp="http://schemas.microsoft.com/office/drawing/2018/hyperlinkcolor" val="tx"/>
                    </a:ext>
                  </a:extLst>
                </a:hlinkClick>
              </a:rPr>
              <a:t>An empirical study of skill-induced failures in LLM agents</a:t>
            </a:r>
            <a:endParaRPr lang="en-US" dirty="0">
              <a:solidFill>
                <a:schemeClr val="bg2"/>
              </a:solidFill>
            </a:endParaRPr>
          </a:p>
          <a:p>
            <a:r>
              <a:rPr lang="en-US" dirty="0">
                <a:solidFill>
                  <a:schemeClr val="bg2"/>
                </a:solidFill>
              </a:rPr>
              <a:t>Microsoft Learn: </a:t>
            </a:r>
            <a:r>
              <a:rPr lang="en-US" sz="1800" dirty="0">
                <a:solidFill>
                  <a:schemeClr val="bg1"/>
                </a:solidFill>
                <a:hlinkClick r:id="rId4">
                  <a:extLst>
                    <a:ext uri="{A12FA001-AC4F-418D-AE19-62706E023703}">
                      <ahyp:hlinkClr xmlns:ahyp="http://schemas.microsoft.com/office/drawing/2018/hyperlinkcolor" val="tx"/>
                    </a:ext>
                  </a:extLst>
                </a:hlinkClick>
              </a:rPr>
              <a:t>Prepare for AI Security</a:t>
            </a:r>
            <a:endParaRPr lang="en-US" sz="1800" dirty="0">
              <a:solidFill>
                <a:schemeClr val="bg1"/>
              </a:solidFill>
            </a:endParaRPr>
          </a:p>
          <a:p>
            <a:r>
              <a:rPr lang="en-US" dirty="0">
                <a:solidFill>
                  <a:schemeClr val="bg1"/>
                </a:solidFill>
              </a:rPr>
              <a:t>Microsoft Agent ID: </a:t>
            </a:r>
            <a:r>
              <a:rPr lang="en-US" dirty="0">
                <a:hlinkClick r:id="rId5"/>
              </a:rPr>
              <a:t>Microsoft Entra Agent ID documentation | Microsoft Learn</a:t>
            </a:r>
            <a:endParaRPr lang="en-US" dirty="0"/>
          </a:p>
          <a:p>
            <a:r>
              <a:rPr lang="en-US" dirty="0">
                <a:solidFill>
                  <a:schemeClr val="bg1"/>
                </a:solidFill>
              </a:rPr>
              <a:t>Building custom agent skills:  </a:t>
            </a:r>
            <a:r>
              <a:rPr lang="en-US" dirty="0">
                <a:hlinkClick r:id="rId6"/>
              </a:rPr>
              <a:t>Microsoft Learn: Custom skills in declarative agents</a:t>
            </a:r>
            <a:r>
              <a:rPr lang="en-US" dirty="0"/>
              <a:t> </a:t>
            </a:r>
            <a:r>
              <a:rPr lang="en-US" dirty="0">
                <a:hlinkClick r:id="rId6"/>
              </a:rPr>
              <a:t>[learn.microsoft.com]</a:t>
            </a:r>
            <a:endParaRPr lang="en-US" dirty="0"/>
          </a:p>
          <a:p>
            <a:r>
              <a:rPr lang="en-US" dirty="0">
                <a:solidFill>
                  <a:schemeClr val="bg1"/>
                </a:solidFill>
              </a:rPr>
              <a:t>Agent skill design: </a:t>
            </a:r>
            <a:r>
              <a:rPr lang="en-US" dirty="0">
                <a:hlinkClick r:id="rId7"/>
              </a:rPr>
              <a:t>Microsoft Learn: Agent Skills</a:t>
            </a:r>
            <a:r>
              <a:rPr lang="en-US" dirty="0"/>
              <a:t> </a:t>
            </a:r>
            <a:r>
              <a:rPr lang="en-US" dirty="0">
                <a:hlinkClick r:id="rId7"/>
              </a:rPr>
              <a:t>[learn.microsoft.com]</a:t>
            </a:r>
            <a:br>
              <a:rPr lang="en-US" dirty="0"/>
            </a:br>
            <a:r>
              <a:rPr lang="en-US" dirty="0">
                <a:solidFill>
                  <a:schemeClr val="bg1"/>
                </a:solidFill>
              </a:rPr>
              <a:t>MIT Agent Skill best practices: </a:t>
            </a:r>
            <a:r>
              <a:rPr lang="en-US" dirty="0">
                <a:hlinkClick r:id="rId8"/>
              </a:rPr>
              <a:t>Best Practices for Building AI Agent Skills</a:t>
            </a:r>
            <a:endParaRPr lang="en-US" dirty="0"/>
          </a:p>
          <a:p>
            <a:r>
              <a:rPr lang="en-US" dirty="0">
                <a:solidFill>
                  <a:schemeClr val="bg1"/>
                </a:solidFill>
              </a:rPr>
              <a:t>Skill sample: aka.ms/</a:t>
            </a:r>
            <a:r>
              <a:rPr lang="en-US" dirty="0" err="1">
                <a:solidFill>
                  <a:schemeClr val="bg1"/>
                </a:solidFill>
              </a:rPr>
              <a:t>feedbackanalyzer</a:t>
            </a:r>
            <a:endParaRPr lang="en-US" dirty="0">
              <a:solidFill>
                <a:schemeClr val="bg1"/>
              </a:solidFill>
            </a:endParaRPr>
          </a:p>
          <a:p>
            <a:endParaRPr lang="en-US" dirty="0"/>
          </a:p>
          <a:p>
            <a:endParaRPr lang="en-US" sz="1800" dirty="0">
              <a:solidFill>
                <a:schemeClr val="bg1"/>
              </a:solidFill>
            </a:endParaRPr>
          </a:p>
          <a:p>
            <a:endParaRPr lang="en-US" sz="1800" dirty="0">
              <a:solidFill>
                <a:schemeClr val="bg1"/>
              </a:solidFill>
            </a:endParaRPr>
          </a:p>
          <a:p>
            <a:endParaRPr lang="en-US" sz="1800" dirty="0">
              <a:solidFill>
                <a:schemeClr val="bg1"/>
              </a:solidFill>
            </a:endParaRPr>
          </a:p>
          <a:p>
            <a:endParaRPr lang="en-US" sz="1800" dirty="0">
              <a:solidFill>
                <a:schemeClr val="bg2"/>
              </a:solidFill>
            </a:endParaRPr>
          </a:p>
          <a:p>
            <a:endParaRPr lang="en-US" sz="1800" dirty="0">
              <a:solidFill>
                <a:schemeClr val="bg2"/>
              </a:solidFill>
            </a:endParaRPr>
          </a:p>
        </p:txBody>
      </p:sp>
    </p:spTree>
    <p:extLst>
      <p:ext uri="{BB962C8B-B14F-4D97-AF65-F5344CB8AC3E}">
        <p14:creationId xmlns:p14="http://schemas.microsoft.com/office/powerpoint/2010/main" val="42944962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E741F6-8595-560A-4AB9-FD1AE3E9EF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AF999-F985-8B78-E78C-B961B13EDF70}"/>
              </a:ext>
            </a:extLst>
          </p:cNvPr>
          <p:cNvSpPr>
            <a:spLocks noGrp="1"/>
          </p:cNvSpPr>
          <p:nvPr>
            <p:ph type="title"/>
          </p:nvPr>
        </p:nvSpPr>
        <p:spPr>
          <a:xfrm>
            <a:off x="571500" y="522516"/>
            <a:ext cx="11049000" cy="369332"/>
          </a:xfrm>
        </p:spPr>
        <p:txBody>
          <a:bodyPr/>
          <a:lstStyle/>
          <a:p>
            <a:r>
              <a:rPr lang="en-US" dirty="0"/>
              <a:t>Six Best Practices for Building Secure AI Skills</a:t>
            </a:r>
            <a:endParaRPr lang="en-US" dirty="0">
              <a:gradFill>
                <a:gsLst>
                  <a:gs pos="0">
                    <a:schemeClr val="accent1"/>
                  </a:gs>
                  <a:gs pos="100000">
                    <a:schemeClr val="accent2"/>
                  </a:gs>
                </a:gsLst>
                <a:lin ang="0" scaled="1"/>
              </a:gradFill>
            </a:endParaRPr>
          </a:p>
        </p:txBody>
      </p:sp>
      <p:sp>
        <p:nvSpPr>
          <p:cNvPr id="4" name="Rectangle: Rounded Corners 9">
            <a:extLst>
              <a:ext uri="{FF2B5EF4-FFF2-40B4-BE49-F238E27FC236}">
                <a16:creationId xmlns:a16="http://schemas.microsoft.com/office/drawing/2014/main" id="{E1B454D9-9E37-9883-79B8-EA6382AAD38F}"/>
              </a:ext>
            </a:extLst>
          </p:cNvPr>
          <p:cNvSpPr/>
          <p:nvPr/>
        </p:nvSpPr>
        <p:spPr bwMode="auto">
          <a:xfrm>
            <a:off x="571500" y="1432885"/>
            <a:ext cx="663533" cy="663533"/>
          </a:xfrm>
          <a:prstGeom prst="roundRect">
            <a:avLst/>
          </a:prstGeom>
          <a:gradFill>
            <a:gsLst>
              <a:gs pos="0">
                <a:schemeClr val="accent1"/>
              </a:gs>
              <a:gs pos="100000">
                <a:schemeClr val="accent2"/>
              </a:gs>
            </a:gsLst>
            <a:lin ang="17400000" scaled="0"/>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Segoe UI" pitchFamily="34" charset="0"/>
              <a:cs typeface="Segoe UI" pitchFamily="34" charset="0"/>
            </a:endParaRPr>
          </a:p>
        </p:txBody>
      </p:sp>
      <p:sp>
        <p:nvSpPr>
          <p:cNvPr id="5" name="Rectangle: Rounded Corners 9">
            <a:extLst>
              <a:ext uri="{FF2B5EF4-FFF2-40B4-BE49-F238E27FC236}">
                <a16:creationId xmlns:a16="http://schemas.microsoft.com/office/drawing/2014/main" id="{17E7BF43-0711-B3BE-57D5-CAF6989ED88E}"/>
              </a:ext>
            </a:extLst>
          </p:cNvPr>
          <p:cNvSpPr/>
          <p:nvPr/>
        </p:nvSpPr>
        <p:spPr bwMode="auto">
          <a:xfrm>
            <a:off x="3404300" y="1432885"/>
            <a:ext cx="663533" cy="663533"/>
          </a:xfrm>
          <a:prstGeom prst="roundRect">
            <a:avLst/>
          </a:prstGeom>
          <a:gradFill>
            <a:gsLst>
              <a:gs pos="0">
                <a:schemeClr val="accent1"/>
              </a:gs>
              <a:gs pos="100000">
                <a:schemeClr val="accent2"/>
              </a:gs>
            </a:gsLst>
            <a:lin ang="17400000" scaled="0"/>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Segoe UI" pitchFamily="34" charset="0"/>
              <a:cs typeface="Segoe UI" pitchFamily="34" charset="0"/>
            </a:endParaRPr>
          </a:p>
        </p:txBody>
      </p:sp>
      <p:sp>
        <p:nvSpPr>
          <p:cNvPr id="6" name="Rectangle: Rounded Corners 9">
            <a:extLst>
              <a:ext uri="{FF2B5EF4-FFF2-40B4-BE49-F238E27FC236}">
                <a16:creationId xmlns:a16="http://schemas.microsoft.com/office/drawing/2014/main" id="{E54ADD54-30EE-31BE-D63F-13E8F18A5F71}"/>
              </a:ext>
            </a:extLst>
          </p:cNvPr>
          <p:cNvSpPr/>
          <p:nvPr/>
        </p:nvSpPr>
        <p:spPr bwMode="auto">
          <a:xfrm>
            <a:off x="6237100" y="1432885"/>
            <a:ext cx="663533" cy="663533"/>
          </a:xfrm>
          <a:prstGeom prst="roundRect">
            <a:avLst/>
          </a:prstGeom>
          <a:gradFill>
            <a:gsLst>
              <a:gs pos="0">
                <a:schemeClr val="accent1"/>
              </a:gs>
              <a:gs pos="100000">
                <a:schemeClr val="accent2"/>
              </a:gs>
            </a:gsLst>
            <a:lin ang="17400000" scaled="0"/>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Segoe UI" pitchFamily="34" charset="0"/>
              <a:cs typeface="Segoe UI" pitchFamily="34" charset="0"/>
            </a:endParaRPr>
          </a:p>
        </p:txBody>
      </p:sp>
      <p:sp>
        <p:nvSpPr>
          <p:cNvPr id="7" name="Rectangle: Rounded Corners 9">
            <a:extLst>
              <a:ext uri="{FF2B5EF4-FFF2-40B4-BE49-F238E27FC236}">
                <a16:creationId xmlns:a16="http://schemas.microsoft.com/office/drawing/2014/main" id="{F4D7A842-7AE9-81B8-23A4-C4F3AE1185A2}"/>
              </a:ext>
            </a:extLst>
          </p:cNvPr>
          <p:cNvSpPr/>
          <p:nvPr/>
        </p:nvSpPr>
        <p:spPr bwMode="auto">
          <a:xfrm>
            <a:off x="9069901" y="1432885"/>
            <a:ext cx="663533" cy="663533"/>
          </a:xfrm>
          <a:prstGeom prst="roundRect">
            <a:avLst/>
          </a:prstGeom>
          <a:gradFill>
            <a:gsLst>
              <a:gs pos="0">
                <a:schemeClr val="accent1"/>
              </a:gs>
              <a:gs pos="100000">
                <a:schemeClr val="accent2"/>
              </a:gs>
            </a:gsLst>
            <a:lin ang="17400000" scaled="0"/>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Segoe UI" pitchFamily="34" charset="0"/>
              <a:cs typeface="Segoe UI" pitchFamily="34" charset="0"/>
            </a:endParaRPr>
          </a:p>
        </p:txBody>
      </p:sp>
      <p:sp>
        <p:nvSpPr>
          <p:cNvPr id="13" name="Freeform: Shape 12">
            <a:extLst>
              <a:ext uri="{FF2B5EF4-FFF2-40B4-BE49-F238E27FC236}">
                <a16:creationId xmlns:a16="http://schemas.microsoft.com/office/drawing/2014/main" id="{1E07D8C4-C1DD-1F47-DFC8-76F9F769A3AE}"/>
              </a:ext>
            </a:extLst>
          </p:cNvPr>
          <p:cNvSpPr/>
          <p:nvPr/>
        </p:nvSpPr>
        <p:spPr>
          <a:xfrm>
            <a:off x="10952480" y="5273647"/>
            <a:ext cx="668019" cy="668019"/>
          </a:xfrm>
          <a:custGeom>
            <a:avLst/>
            <a:gdLst>
              <a:gd name="connsiteX0" fmla="*/ 0 w 668019"/>
              <a:gd name="connsiteY0" fmla="*/ 334010 h 668019"/>
              <a:gd name="connsiteX1" fmla="*/ 334010 w 668019"/>
              <a:gd name="connsiteY1" fmla="*/ 0 h 668019"/>
              <a:gd name="connsiteX2" fmla="*/ 668020 w 668019"/>
              <a:gd name="connsiteY2" fmla="*/ 334010 h 668019"/>
              <a:gd name="connsiteX3" fmla="*/ 334010 w 668019"/>
              <a:gd name="connsiteY3" fmla="*/ 668020 h 668019"/>
              <a:gd name="connsiteX4" fmla="*/ 0 w 668019"/>
              <a:gd name="connsiteY4" fmla="*/ 334010 h 668019"/>
              <a:gd name="connsiteX5" fmla="*/ 0 w 668019"/>
              <a:gd name="connsiteY5" fmla="*/ 334010 h 66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8019" h="668019">
                <a:moveTo>
                  <a:pt x="0" y="334010"/>
                </a:moveTo>
                <a:cubicBezTo>
                  <a:pt x="0" y="149860"/>
                  <a:pt x="149860" y="0"/>
                  <a:pt x="334010" y="0"/>
                </a:cubicBezTo>
                <a:cubicBezTo>
                  <a:pt x="518160" y="0"/>
                  <a:pt x="668020" y="149860"/>
                  <a:pt x="668020" y="334010"/>
                </a:cubicBezTo>
                <a:cubicBezTo>
                  <a:pt x="668020" y="518160"/>
                  <a:pt x="518160" y="668020"/>
                  <a:pt x="334010" y="668020"/>
                </a:cubicBezTo>
                <a:cubicBezTo>
                  <a:pt x="149860" y="668020"/>
                  <a:pt x="0" y="518160"/>
                  <a:pt x="0" y="334010"/>
                </a:cubicBezTo>
                <a:lnTo>
                  <a:pt x="0" y="334010"/>
                </a:lnTo>
                <a:close/>
              </a:path>
            </a:pathLst>
          </a:custGeom>
          <a:solidFill>
            <a:schemeClr val="accent2"/>
          </a:solidFill>
          <a:ln w="12700"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9" name="TextBox 28">
            <a:extLst>
              <a:ext uri="{FF2B5EF4-FFF2-40B4-BE49-F238E27FC236}">
                <a16:creationId xmlns:a16="http://schemas.microsoft.com/office/drawing/2014/main" id="{C0D23C24-6313-CD66-0EB8-5A49BD13FB95}"/>
              </a:ext>
            </a:extLst>
          </p:cNvPr>
          <p:cNvSpPr txBox="1"/>
          <p:nvPr/>
        </p:nvSpPr>
        <p:spPr>
          <a:xfrm>
            <a:off x="571500" y="2633181"/>
            <a:ext cx="2551112" cy="954813"/>
          </a:xfrm>
          <a:prstGeom prst="rect">
            <a:avLst/>
          </a:prstGeom>
          <a:noFill/>
        </p:spPr>
        <p:txBody>
          <a:bodyPr wrap="square" lIns="0" rIns="0" rtlCol="0">
            <a:spAutoFit/>
          </a:bodyPr>
          <a:lstStyle/>
          <a:p>
            <a:pPr marL="0" marR="0" lvl="0" indent="0" algn="l" defTabSz="914367"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rPr>
              <a:t>Include decision process, quality bar, resources, evidence standard. </a:t>
            </a:r>
            <a:r>
              <a:rPr lang="en-US" sz="1100" dirty="0">
                <a:solidFill>
                  <a:srgbClr val="FFFFFF"/>
                </a:solidFill>
                <a:latin typeface="Calibri"/>
                <a:ea typeface="Roboto" panose="02000000000000000000" pitchFamily="2" charset="0"/>
                <a:cs typeface="Rubik Light" pitchFamily="2" charset="-79"/>
              </a:rPr>
              <a:t>The skill should solve a problem or task that would otherwise require multiple prompts.</a:t>
            </a:r>
            <a:endPar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endParaRPr>
          </a:p>
        </p:txBody>
      </p:sp>
      <p:sp>
        <p:nvSpPr>
          <p:cNvPr id="31" name="TextBox 30">
            <a:extLst>
              <a:ext uri="{FF2B5EF4-FFF2-40B4-BE49-F238E27FC236}">
                <a16:creationId xmlns:a16="http://schemas.microsoft.com/office/drawing/2014/main" id="{67178446-259D-ABD3-AE29-D7054F0A4549}"/>
              </a:ext>
            </a:extLst>
          </p:cNvPr>
          <p:cNvSpPr txBox="1"/>
          <p:nvPr/>
        </p:nvSpPr>
        <p:spPr>
          <a:xfrm>
            <a:off x="571500" y="2295955"/>
            <a:ext cx="2726772" cy="246221"/>
          </a:xfrm>
          <a:prstGeom prst="rect">
            <a:avLst/>
          </a:prstGeom>
          <a:noFill/>
        </p:spPr>
        <p:txBody>
          <a:bodyPr wrap="none" lIns="0" tIns="0" rIns="0" bIns="0" rtlCol="0" anchor="ctr">
            <a:spAutoFit/>
          </a:bodyPr>
          <a:lstStyle/>
          <a:p>
            <a:pPr defTabSz="914367"/>
            <a:r>
              <a:rPr lang="en-US" sz="1600" dirty="0">
                <a:solidFill>
                  <a:srgbClr val="7B1EFF">
                    <a:lumMod val="20000"/>
                    <a:lumOff val="80000"/>
                  </a:srgbClr>
                </a:solidFill>
                <a:latin typeface="Arial Black"/>
              </a:rPr>
              <a:t>1. Use domain expertise</a:t>
            </a:r>
            <a:endParaRPr kumimoji="0" lang="en-US" sz="1600" b="0" i="0" u="none" strike="noStrike" kern="1200" cap="none" spc="0" normalizeH="0" baseline="0" noProof="0" dirty="0">
              <a:ln>
                <a:noFill/>
              </a:ln>
              <a:solidFill>
                <a:schemeClr val="bg1"/>
              </a:solidFill>
              <a:effectLst/>
              <a:uLnTx/>
              <a:uFillTx/>
              <a:latin typeface="Arial Black"/>
              <a:ea typeface="+mn-ea"/>
              <a:cs typeface="+mn-cs"/>
            </a:endParaRPr>
          </a:p>
        </p:txBody>
      </p:sp>
      <p:sp>
        <p:nvSpPr>
          <p:cNvPr id="50" name="TextBox 49">
            <a:extLst>
              <a:ext uri="{FF2B5EF4-FFF2-40B4-BE49-F238E27FC236}">
                <a16:creationId xmlns:a16="http://schemas.microsoft.com/office/drawing/2014/main" id="{0D215541-19A1-DAED-5CC4-995497985C15}"/>
              </a:ext>
            </a:extLst>
          </p:cNvPr>
          <p:cNvSpPr txBox="1"/>
          <p:nvPr/>
        </p:nvSpPr>
        <p:spPr>
          <a:xfrm>
            <a:off x="3488604" y="2685611"/>
            <a:ext cx="2551112" cy="514693"/>
          </a:xfrm>
          <a:prstGeom prst="rect">
            <a:avLst/>
          </a:prstGeom>
          <a:noFill/>
        </p:spPr>
        <p:txBody>
          <a:bodyPr wrap="square" lIns="0" rIns="0" rtlCol="0">
            <a:spAutoFit/>
          </a:bodyPr>
          <a:lstStyle/>
          <a:p>
            <a:pPr marL="0" marR="0" lvl="0" indent="0" algn="l" defTabSz="914367"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rPr>
              <a:t>Include triggers in the description of how and when a skill should fire.</a:t>
            </a:r>
          </a:p>
        </p:txBody>
      </p:sp>
      <p:sp>
        <p:nvSpPr>
          <p:cNvPr id="52" name="TextBox 51">
            <a:extLst>
              <a:ext uri="{FF2B5EF4-FFF2-40B4-BE49-F238E27FC236}">
                <a16:creationId xmlns:a16="http://schemas.microsoft.com/office/drawing/2014/main" id="{2FE0CBAC-7308-4741-03C2-C4DB6CA12D38}"/>
              </a:ext>
            </a:extLst>
          </p:cNvPr>
          <p:cNvSpPr txBox="1"/>
          <p:nvPr/>
        </p:nvSpPr>
        <p:spPr>
          <a:xfrm>
            <a:off x="3488604" y="2296536"/>
            <a:ext cx="1421543" cy="246221"/>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n-ea"/>
                <a:cs typeface="+mn-cs"/>
              </a:rPr>
              <a:t>2. Activation</a:t>
            </a:r>
          </a:p>
        </p:txBody>
      </p:sp>
      <p:sp>
        <p:nvSpPr>
          <p:cNvPr id="54" name="TextBox 53">
            <a:extLst>
              <a:ext uri="{FF2B5EF4-FFF2-40B4-BE49-F238E27FC236}">
                <a16:creationId xmlns:a16="http://schemas.microsoft.com/office/drawing/2014/main" id="{82C102FD-DBFF-4930-0CAD-0E32663A4C26}"/>
              </a:ext>
            </a:extLst>
          </p:cNvPr>
          <p:cNvSpPr txBox="1"/>
          <p:nvPr/>
        </p:nvSpPr>
        <p:spPr>
          <a:xfrm>
            <a:off x="6236758" y="2633181"/>
            <a:ext cx="2551112" cy="514693"/>
          </a:xfrm>
          <a:prstGeom prst="rect">
            <a:avLst/>
          </a:prstGeom>
          <a:noFill/>
        </p:spPr>
        <p:txBody>
          <a:bodyPr wrap="square" lIns="0" rIns="0" rtlCol="0">
            <a:spAutoFit/>
          </a:bodyPr>
          <a:lstStyle/>
          <a:p>
            <a:pPr marL="0" marR="0" lvl="0" indent="0" algn="l" defTabSz="914367"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rPr>
              <a:t>Keep the skill concise and do not overload with unnecessary context.</a:t>
            </a:r>
          </a:p>
        </p:txBody>
      </p:sp>
      <p:sp>
        <p:nvSpPr>
          <p:cNvPr id="56" name="TextBox 55">
            <a:extLst>
              <a:ext uri="{FF2B5EF4-FFF2-40B4-BE49-F238E27FC236}">
                <a16:creationId xmlns:a16="http://schemas.microsoft.com/office/drawing/2014/main" id="{D55242B4-E7E9-8526-E53A-A2A9E1ACA1E5}"/>
              </a:ext>
            </a:extLst>
          </p:cNvPr>
          <p:cNvSpPr txBox="1"/>
          <p:nvPr/>
        </p:nvSpPr>
        <p:spPr>
          <a:xfrm>
            <a:off x="6236758" y="2295955"/>
            <a:ext cx="1948675" cy="246221"/>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n-ea"/>
                <a:cs typeface="+mn-cs"/>
              </a:rPr>
              <a:t>3. </a:t>
            </a:r>
            <a:r>
              <a:rPr lang="en-US" sz="1600" dirty="0">
                <a:solidFill>
                  <a:srgbClr val="7B1EFF">
                    <a:lumMod val="20000"/>
                    <a:lumOff val="80000"/>
                  </a:srgbClr>
                </a:solidFill>
                <a:latin typeface="Arial Black"/>
              </a:rPr>
              <a:t>Focused scope</a:t>
            </a:r>
            <a:endPar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n-ea"/>
              <a:cs typeface="+mn-cs"/>
            </a:endParaRPr>
          </a:p>
        </p:txBody>
      </p:sp>
      <p:sp>
        <p:nvSpPr>
          <p:cNvPr id="58" name="TextBox 57">
            <a:extLst>
              <a:ext uri="{FF2B5EF4-FFF2-40B4-BE49-F238E27FC236}">
                <a16:creationId xmlns:a16="http://schemas.microsoft.com/office/drawing/2014/main" id="{8FA06F6B-B5F5-0CE1-D175-E1131B041DDA}"/>
              </a:ext>
            </a:extLst>
          </p:cNvPr>
          <p:cNvSpPr txBox="1"/>
          <p:nvPr/>
        </p:nvSpPr>
        <p:spPr>
          <a:xfrm>
            <a:off x="9019345" y="2633181"/>
            <a:ext cx="2551112" cy="294632"/>
          </a:xfrm>
          <a:prstGeom prst="rect">
            <a:avLst/>
          </a:prstGeom>
          <a:noFill/>
        </p:spPr>
        <p:txBody>
          <a:bodyPr wrap="square" lIns="0" rIns="0" rtlCol="0">
            <a:spAutoFit/>
          </a:bodyPr>
          <a:lstStyle/>
          <a:p>
            <a:pPr marL="0" marR="0" lvl="0" indent="0" algn="l" defTabSz="914367" rtl="0" eaLnBrk="1" fontAlgn="auto" latinLnBrk="0" hangingPunct="1">
              <a:lnSpc>
                <a:spcPct val="130000"/>
              </a:lnSpc>
              <a:spcBef>
                <a:spcPts val="0"/>
              </a:spcBef>
              <a:spcAft>
                <a:spcPts val="0"/>
              </a:spcAft>
              <a:buClrTx/>
              <a:buSzTx/>
              <a:buFontTx/>
              <a:buNone/>
              <a:tabLst/>
              <a:defRPr/>
            </a:pPr>
            <a:r>
              <a:rPr lang="en-US" sz="1100" dirty="0">
                <a:solidFill>
                  <a:srgbClr val="FFFFFF"/>
                </a:solidFill>
                <a:latin typeface="Calibri"/>
                <a:ea typeface="Roboto" panose="02000000000000000000" pitchFamily="2" charset="0"/>
                <a:cs typeface="Rubik Light" pitchFamily="2" charset="-79"/>
              </a:rPr>
              <a:t>Hard code scripts for more sensitive steps.</a:t>
            </a:r>
            <a:endPar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endParaRPr>
          </a:p>
        </p:txBody>
      </p:sp>
      <p:sp>
        <p:nvSpPr>
          <p:cNvPr id="60" name="TextBox 59">
            <a:extLst>
              <a:ext uri="{FF2B5EF4-FFF2-40B4-BE49-F238E27FC236}">
                <a16:creationId xmlns:a16="http://schemas.microsoft.com/office/drawing/2014/main" id="{7E48EC59-65E0-D3B4-8F4B-8884CCFFBDCD}"/>
              </a:ext>
            </a:extLst>
          </p:cNvPr>
          <p:cNvSpPr txBox="1"/>
          <p:nvPr/>
        </p:nvSpPr>
        <p:spPr>
          <a:xfrm>
            <a:off x="8918940" y="2279679"/>
            <a:ext cx="3182859" cy="246221"/>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n-ea"/>
                <a:cs typeface="+mn-cs"/>
              </a:rPr>
              <a:t>4. Use deterministic helpers</a:t>
            </a:r>
          </a:p>
        </p:txBody>
      </p:sp>
      <p:cxnSp>
        <p:nvCxnSpPr>
          <p:cNvPr id="4097" name="Straight Arrow Connector 4096">
            <a:extLst>
              <a:ext uri="{FF2B5EF4-FFF2-40B4-BE49-F238E27FC236}">
                <a16:creationId xmlns:a16="http://schemas.microsoft.com/office/drawing/2014/main" id="{50498522-5065-7639-A31A-1F2994AB2C38}"/>
              </a:ext>
            </a:extLst>
          </p:cNvPr>
          <p:cNvCxnSpPr>
            <a:cxnSpLocks/>
          </p:cNvCxnSpPr>
          <p:nvPr/>
        </p:nvCxnSpPr>
        <p:spPr>
          <a:xfrm>
            <a:off x="4202647" y="1774215"/>
            <a:ext cx="1883362" cy="0"/>
          </a:xfrm>
          <a:prstGeom prst="straightConnector1">
            <a:avLst/>
          </a:prstGeom>
          <a:ln>
            <a:gradFill flip="none" rotWithShape="1">
              <a:gsLst>
                <a:gs pos="0">
                  <a:schemeClr val="accent1"/>
                </a:gs>
                <a:gs pos="100000">
                  <a:schemeClr val="accent2"/>
                </a:gs>
              </a:gsLst>
              <a:lin ang="0" scaled="1"/>
              <a:tileRect/>
            </a:gradFill>
            <a:headEnd type="oval" w="med" len="med"/>
            <a:tailEnd type="triangle"/>
          </a:ln>
        </p:spPr>
        <p:style>
          <a:lnRef idx="1">
            <a:schemeClr val="accent1"/>
          </a:lnRef>
          <a:fillRef idx="0">
            <a:schemeClr val="accent1"/>
          </a:fillRef>
          <a:effectRef idx="0">
            <a:schemeClr val="accent1"/>
          </a:effectRef>
          <a:fontRef idx="minor">
            <a:schemeClr val="tx1"/>
          </a:fontRef>
        </p:style>
      </p:cxnSp>
      <p:cxnSp>
        <p:nvCxnSpPr>
          <p:cNvPr id="4099" name="Straight Arrow Connector 4098">
            <a:extLst>
              <a:ext uri="{FF2B5EF4-FFF2-40B4-BE49-F238E27FC236}">
                <a16:creationId xmlns:a16="http://schemas.microsoft.com/office/drawing/2014/main" id="{528259E9-2041-229F-336B-7B9F6BF4463B}"/>
              </a:ext>
            </a:extLst>
          </p:cNvPr>
          <p:cNvCxnSpPr>
            <a:cxnSpLocks/>
          </p:cNvCxnSpPr>
          <p:nvPr/>
        </p:nvCxnSpPr>
        <p:spPr>
          <a:xfrm flipV="1">
            <a:off x="7035276" y="1774214"/>
            <a:ext cx="1883664" cy="1"/>
          </a:xfrm>
          <a:prstGeom prst="straightConnector1">
            <a:avLst/>
          </a:prstGeom>
          <a:ln>
            <a:gradFill flip="none" rotWithShape="1">
              <a:gsLst>
                <a:gs pos="0">
                  <a:schemeClr val="accent1"/>
                </a:gs>
                <a:gs pos="100000">
                  <a:schemeClr val="accent2"/>
                </a:gs>
              </a:gsLst>
              <a:lin ang="0" scaled="1"/>
              <a:tileRect/>
            </a:gradFill>
            <a:headEnd type="oval" w="med" len="med"/>
            <a:tailEnd type="triangle"/>
          </a:ln>
        </p:spPr>
        <p:style>
          <a:lnRef idx="1">
            <a:schemeClr val="accent1"/>
          </a:lnRef>
          <a:fillRef idx="0">
            <a:schemeClr val="accent1"/>
          </a:fillRef>
          <a:effectRef idx="0">
            <a:schemeClr val="accent1"/>
          </a:effectRef>
          <a:fontRef idx="minor">
            <a:schemeClr val="tx1"/>
          </a:fontRef>
        </p:style>
      </p:cxnSp>
      <p:cxnSp>
        <p:nvCxnSpPr>
          <p:cNvPr id="4101" name="Straight Arrow Connector 4100">
            <a:extLst>
              <a:ext uri="{FF2B5EF4-FFF2-40B4-BE49-F238E27FC236}">
                <a16:creationId xmlns:a16="http://schemas.microsoft.com/office/drawing/2014/main" id="{9CE8CE04-2878-7A6E-B993-1FF040FB939E}"/>
              </a:ext>
            </a:extLst>
          </p:cNvPr>
          <p:cNvCxnSpPr>
            <a:cxnSpLocks/>
          </p:cNvCxnSpPr>
          <p:nvPr/>
        </p:nvCxnSpPr>
        <p:spPr>
          <a:xfrm>
            <a:off x="1370018" y="1774215"/>
            <a:ext cx="1887065" cy="0"/>
          </a:xfrm>
          <a:prstGeom prst="straightConnector1">
            <a:avLst/>
          </a:prstGeom>
          <a:ln>
            <a:gradFill flip="none" rotWithShape="1">
              <a:gsLst>
                <a:gs pos="0">
                  <a:schemeClr val="accent1"/>
                </a:gs>
                <a:gs pos="100000">
                  <a:schemeClr val="accent2"/>
                </a:gs>
              </a:gsLst>
              <a:lin ang="0" scaled="1"/>
              <a:tileRect/>
            </a:gradFill>
            <a:headEnd type="oval" w="med" len="med"/>
            <a:tailEnd type="triangle"/>
          </a:ln>
        </p:spPr>
        <p:style>
          <a:lnRef idx="1">
            <a:schemeClr val="accent1"/>
          </a:lnRef>
          <a:fillRef idx="0">
            <a:schemeClr val="accent1"/>
          </a:fillRef>
          <a:effectRef idx="0">
            <a:schemeClr val="accent1"/>
          </a:effectRef>
          <a:fontRef idx="minor">
            <a:schemeClr val="tx1"/>
          </a:fontRef>
        </p:style>
      </p:cxnSp>
      <p:pic>
        <p:nvPicPr>
          <p:cNvPr id="4108" name="Graphic 4107">
            <a:extLst>
              <a:ext uri="{FF2B5EF4-FFF2-40B4-BE49-F238E27FC236}">
                <a16:creationId xmlns:a16="http://schemas.microsoft.com/office/drawing/2014/main" id="{70556191-DDD1-D5B1-8808-66D54E8842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2036" y="5423203"/>
            <a:ext cx="368906" cy="368906"/>
          </a:xfrm>
          <a:prstGeom prst="rect">
            <a:avLst/>
          </a:prstGeom>
        </p:spPr>
      </p:pic>
      <p:grpSp>
        <p:nvGrpSpPr>
          <p:cNvPr id="18" name="Group 17">
            <a:extLst>
              <a:ext uri="{FF2B5EF4-FFF2-40B4-BE49-F238E27FC236}">
                <a16:creationId xmlns:a16="http://schemas.microsoft.com/office/drawing/2014/main" id="{4317A805-CDD7-C4BC-F742-F9BF5E1A963E}"/>
              </a:ext>
            </a:extLst>
          </p:cNvPr>
          <p:cNvGrpSpPr/>
          <p:nvPr/>
        </p:nvGrpSpPr>
        <p:grpSpPr>
          <a:xfrm>
            <a:off x="6472861" y="1675975"/>
            <a:ext cx="190568" cy="190493"/>
            <a:chOff x="6856544" y="3054095"/>
            <a:chExt cx="190568" cy="190493"/>
          </a:xfrm>
        </p:grpSpPr>
        <p:sp>
          <p:nvSpPr>
            <p:cNvPr id="19" name="Freeform 18">
              <a:extLst>
                <a:ext uri="{FF2B5EF4-FFF2-40B4-BE49-F238E27FC236}">
                  <a16:creationId xmlns:a16="http://schemas.microsoft.com/office/drawing/2014/main" id="{AE9918FD-2466-F7F0-266B-C063081506E2}"/>
                </a:ext>
              </a:extLst>
            </p:cNvPr>
            <p:cNvSpPr/>
            <p:nvPr/>
          </p:nvSpPr>
          <p:spPr>
            <a:xfrm>
              <a:off x="6856544" y="3054095"/>
              <a:ext cx="190568" cy="190493"/>
            </a:xfrm>
            <a:custGeom>
              <a:avLst/>
              <a:gdLst>
                <a:gd name="connsiteX0" fmla="*/ 17730 w 190568"/>
                <a:gd name="connsiteY0" fmla="*/ 63015 h 190493"/>
                <a:gd name="connsiteX1" fmla="*/ 46668 w 190568"/>
                <a:gd name="connsiteY1" fmla="*/ 17563 h 190493"/>
                <a:gd name="connsiteX2" fmla="*/ 63260 w 190568"/>
                <a:gd name="connsiteY2" fmla="*/ 17580 h 190493"/>
                <a:gd name="connsiteX3" fmla="*/ 115884 w 190568"/>
                <a:gd name="connsiteY3" fmla="*/ 6006 h 190493"/>
                <a:gd name="connsiteX4" fmla="*/ 127458 w 190568"/>
                <a:gd name="connsiteY4" fmla="*/ 17580 h 190493"/>
                <a:gd name="connsiteX5" fmla="*/ 172988 w 190568"/>
                <a:gd name="connsiteY5" fmla="*/ 46395 h 190493"/>
                <a:gd name="connsiteX6" fmla="*/ 172988 w 190568"/>
                <a:gd name="connsiteY6" fmla="*/ 63110 h 190493"/>
                <a:gd name="connsiteX7" fmla="*/ 184563 w 190568"/>
                <a:gd name="connsiteY7" fmla="*/ 115734 h 190493"/>
                <a:gd name="connsiteX8" fmla="*/ 172988 w 190568"/>
                <a:gd name="connsiteY8" fmla="*/ 127308 h 190493"/>
                <a:gd name="connsiteX9" fmla="*/ 144146 w 190568"/>
                <a:gd name="connsiteY9" fmla="*/ 172821 h 190493"/>
                <a:gd name="connsiteX10" fmla="*/ 127554 w 190568"/>
                <a:gd name="connsiteY10" fmla="*/ 172838 h 190493"/>
                <a:gd name="connsiteX11" fmla="*/ 74957 w 190568"/>
                <a:gd name="connsiteY11" fmla="*/ 184536 h 190493"/>
                <a:gd name="connsiteX12" fmla="*/ 63260 w 190568"/>
                <a:gd name="connsiteY12" fmla="*/ 172838 h 190493"/>
                <a:gd name="connsiteX13" fmla="*/ 17748 w 190568"/>
                <a:gd name="connsiteY13" fmla="*/ 143996 h 190493"/>
                <a:gd name="connsiteX14" fmla="*/ 17730 w 190568"/>
                <a:gd name="connsiteY14" fmla="*/ 127404 h 190493"/>
                <a:gd name="connsiteX15" fmla="*/ 5910 w 190568"/>
                <a:gd name="connsiteY15" fmla="*/ 74835 h 190493"/>
                <a:gd name="connsiteX16" fmla="*/ 17730 w 190568"/>
                <a:gd name="connsiteY16" fmla="*/ 63015 h 19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68" h="190493">
                  <a:moveTo>
                    <a:pt x="17730" y="63015"/>
                  </a:moveTo>
                  <a:cubicBezTo>
                    <a:pt x="13170" y="42473"/>
                    <a:pt x="26126" y="22123"/>
                    <a:pt x="46668" y="17563"/>
                  </a:cubicBezTo>
                  <a:cubicBezTo>
                    <a:pt x="52133" y="16350"/>
                    <a:pt x="57798" y="16356"/>
                    <a:pt x="63260" y="17580"/>
                  </a:cubicBezTo>
                  <a:cubicBezTo>
                    <a:pt x="74595" y="-148"/>
                    <a:pt x="98156" y="-5330"/>
                    <a:pt x="115884" y="6006"/>
                  </a:cubicBezTo>
                  <a:cubicBezTo>
                    <a:pt x="120535" y="8980"/>
                    <a:pt x="124485" y="12929"/>
                    <a:pt x="127458" y="17580"/>
                  </a:cubicBezTo>
                  <a:cubicBezTo>
                    <a:pt x="147988" y="12965"/>
                    <a:pt x="168372" y="25866"/>
                    <a:pt x="172988" y="46395"/>
                  </a:cubicBezTo>
                  <a:cubicBezTo>
                    <a:pt x="174225" y="51898"/>
                    <a:pt x="174225" y="57607"/>
                    <a:pt x="172988" y="63110"/>
                  </a:cubicBezTo>
                  <a:cubicBezTo>
                    <a:pt x="190716" y="74445"/>
                    <a:pt x="195898" y="98006"/>
                    <a:pt x="184563" y="115734"/>
                  </a:cubicBezTo>
                  <a:cubicBezTo>
                    <a:pt x="181589" y="120385"/>
                    <a:pt x="177639" y="124335"/>
                    <a:pt x="172988" y="127308"/>
                  </a:cubicBezTo>
                  <a:cubicBezTo>
                    <a:pt x="177591" y="147840"/>
                    <a:pt x="164678" y="168217"/>
                    <a:pt x="144146" y="172821"/>
                  </a:cubicBezTo>
                  <a:cubicBezTo>
                    <a:pt x="138684" y="174045"/>
                    <a:pt x="133018" y="174051"/>
                    <a:pt x="127554" y="172838"/>
                  </a:cubicBezTo>
                  <a:cubicBezTo>
                    <a:pt x="116260" y="190592"/>
                    <a:pt x="92711" y="195829"/>
                    <a:pt x="74957" y="184536"/>
                  </a:cubicBezTo>
                  <a:cubicBezTo>
                    <a:pt x="70248" y="181540"/>
                    <a:pt x="66255" y="177547"/>
                    <a:pt x="63260" y="172838"/>
                  </a:cubicBezTo>
                  <a:cubicBezTo>
                    <a:pt x="42727" y="177441"/>
                    <a:pt x="22351" y="164528"/>
                    <a:pt x="17748" y="143996"/>
                  </a:cubicBezTo>
                  <a:cubicBezTo>
                    <a:pt x="16523" y="138534"/>
                    <a:pt x="16517" y="132868"/>
                    <a:pt x="17730" y="127404"/>
                  </a:cubicBezTo>
                  <a:cubicBezTo>
                    <a:pt x="-50" y="116151"/>
                    <a:pt x="-5342" y="92615"/>
                    <a:pt x="5910" y="74835"/>
                  </a:cubicBezTo>
                  <a:cubicBezTo>
                    <a:pt x="8927" y="70068"/>
                    <a:pt x="12964" y="66031"/>
                    <a:pt x="17730" y="63015"/>
                  </a:cubicBezTo>
                  <a:close/>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 name="Freeform 19">
              <a:extLst>
                <a:ext uri="{FF2B5EF4-FFF2-40B4-BE49-F238E27FC236}">
                  <a16:creationId xmlns:a16="http://schemas.microsoft.com/office/drawing/2014/main" id="{FBD4A76E-AC19-7390-4985-ADB99FCCC29D}"/>
                </a:ext>
              </a:extLst>
            </p:cNvPr>
            <p:cNvSpPr/>
            <p:nvPr/>
          </p:nvSpPr>
          <p:spPr>
            <a:xfrm>
              <a:off x="6923329" y="3130255"/>
              <a:ext cx="57150" cy="38100"/>
            </a:xfrm>
            <a:custGeom>
              <a:avLst/>
              <a:gdLst>
                <a:gd name="connsiteX0" fmla="*/ 0 w 57150"/>
                <a:gd name="connsiteY0" fmla="*/ 19050 h 38100"/>
                <a:gd name="connsiteX1" fmla="*/ 19050 w 57150"/>
                <a:gd name="connsiteY1" fmla="*/ 38100 h 38100"/>
                <a:gd name="connsiteX2" fmla="*/ 57150 w 57150"/>
                <a:gd name="connsiteY2" fmla="*/ 0 h 38100"/>
              </a:gdLst>
              <a:ahLst/>
              <a:cxnLst>
                <a:cxn ang="0">
                  <a:pos x="connsiteX0" y="connsiteY0"/>
                </a:cxn>
                <a:cxn ang="0">
                  <a:pos x="connsiteX1" y="connsiteY1"/>
                </a:cxn>
                <a:cxn ang="0">
                  <a:pos x="connsiteX2" y="connsiteY2"/>
                </a:cxn>
              </a:cxnLst>
              <a:rect l="l" t="t" r="r" b="b"/>
              <a:pathLst>
                <a:path w="57150" h="38100">
                  <a:moveTo>
                    <a:pt x="0" y="19050"/>
                  </a:moveTo>
                  <a:lnTo>
                    <a:pt x="19050" y="38100"/>
                  </a:lnTo>
                  <a:lnTo>
                    <a:pt x="5715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grpSp>
        <p:nvGrpSpPr>
          <p:cNvPr id="21" name="Group 20">
            <a:extLst>
              <a:ext uri="{FF2B5EF4-FFF2-40B4-BE49-F238E27FC236}">
                <a16:creationId xmlns:a16="http://schemas.microsoft.com/office/drawing/2014/main" id="{2F4A2D63-6CB2-DA10-AAB9-2A05D75A5946}"/>
              </a:ext>
            </a:extLst>
          </p:cNvPr>
          <p:cNvGrpSpPr/>
          <p:nvPr/>
        </p:nvGrpSpPr>
        <p:grpSpPr>
          <a:xfrm>
            <a:off x="811722" y="1675971"/>
            <a:ext cx="190500" cy="190500"/>
            <a:chOff x="1733080" y="3673315"/>
            <a:chExt cx="190500" cy="190500"/>
          </a:xfrm>
        </p:grpSpPr>
        <p:sp>
          <p:nvSpPr>
            <p:cNvPr id="22" name="Freeform 21">
              <a:extLst>
                <a:ext uri="{FF2B5EF4-FFF2-40B4-BE49-F238E27FC236}">
                  <a16:creationId xmlns:a16="http://schemas.microsoft.com/office/drawing/2014/main" id="{23CA9DEB-B669-7D9D-379C-CE9906651CEC}"/>
                </a:ext>
              </a:extLst>
            </p:cNvPr>
            <p:cNvSpPr/>
            <p:nvPr/>
          </p:nvSpPr>
          <p:spPr>
            <a:xfrm>
              <a:off x="1733080" y="3711415"/>
              <a:ext cx="152400" cy="152400"/>
            </a:xfrm>
            <a:custGeom>
              <a:avLst/>
              <a:gdLst>
                <a:gd name="connsiteX0" fmla="*/ 76200 w 152400"/>
                <a:gd name="connsiteY0" fmla="*/ 152400 h 152400"/>
                <a:gd name="connsiteX1" fmla="*/ 76200 w 152400"/>
                <a:gd name="connsiteY1" fmla="*/ 9525 h 152400"/>
                <a:gd name="connsiteX2" fmla="*/ 66675 w 152400"/>
                <a:gd name="connsiteY2" fmla="*/ 0 h 152400"/>
                <a:gd name="connsiteX3" fmla="*/ 19050 w 152400"/>
                <a:gd name="connsiteY3" fmla="*/ 0 h 152400"/>
                <a:gd name="connsiteX4" fmla="*/ 0 w 152400"/>
                <a:gd name="connsiteY4" fmla="*/ 19050 h 152400"/>
                <a:gd name="connsiteX5" fmla="*/ 0 w 152400"/>
                <a:gd name="connsiteY5" fmla="*/ 133350 h 152400"/>
                <a:gd name="connsiteX6" fmla="*/ 19050 w 152400"/>
                <a:gd name="connsiteY6" fmla="*/ 152400 h 152400"/>
                <a:gd name="connsiteX7" fmla="*/ 133350 w 152400"/>
                <a:gd name="connsiteY7" fmla="*/ 152400 h 152400"/>
                <a:gd name="connsiteX8" fmla="*/ 152400 w 152400"/>
                <a:gd name="connsiteY8" fmla="*/ 133350 h 152400"/>
                <a:gd name="connsiteX9" fmla="*/ 152400 w 152400"/>
                <a:gd name="connsiteY9" fmla="*/ 85725 h 152400"/>
                <a:gd name="connsiteX10" fmla="*/ 142875 w 152400"/>
                <a:gd name="connsiteY10" fmla="*/ 76200 h 152400"/>
                <a:gd name="connsiteX11" fmla="*/ 0 w 152400"/>
                <a:gd name="connsiteY11" fmla="*/ 762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2400" h="152400">
                  <a:moveTo>
                    <a:pt x="76200" y="152400"/>
                  </a:moveTo>
                  <a:lnTo>
                    <a:pt x="76200" y="9525"/>
                  </a:lnTo>
                  <a:cubicBezTo>
                    <a:pt x="76200" y="4265"/>
                    <a:pt x="71936" y="0"/>
                    <a:pt x="66675" y="0"/>
                  </a:cubicBezTo>
                  <a:lnTo>
                    <a:pt x="19050" y="0"/>
                  </a:lnTo>
                  <a:cubicBezTo>
                    <a:pt x="8529" y="0"/>
                    <a:pt x="0" y="8529"/>
                    <a:pt x="0" y="19050"/>
                  </a:cubicBezTo>
                  <a:lnTo>
                    <a:pt x="0" y="133350"/>
                  </a:lnTo>
                  <a:cubicBezTo>
                    <a:pt x="0" y="143871"/>
                    <a:pt x="8529" y="152400"/>
                    <a:pt x="19050" y="152400"/>
                  </a:cubicBezTo>
                  <a:lnTo>
                    <a:pt x="133350" y="152400"/>
                  </a:lnTo>
                  <a:cubicBezTo>
                    <a:pt x="143871" y="152400"/>
                    <a:pt x="152400" y="143871"/>
                    <a:pt x="152400" y="133350"/>
                  </a:cubicBezTo>
                  <a:lnTo>
                    <a:pt x="152400" y="85725"/>
                  </a:lnTo>
                  <a:cubicBezTo>
                    <a:pt x="152400" y="80464"/>
                    <a:pt x="148136" y="76200"/>
                    <a:pt x="142875" y="76200"/>
                  </a:cubicBezTo>
                  <a:lnTo>
                    <a:pt x="0" y="7620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3" name="Freeform 22">
              <a:extLst>
                <a:ext uri="{FF2B5EF4-FFF2-40B4-BE49-F238E27FC236}">
                  <a16:creationId xmlns:a16="http://schemas.microsoft.com/office/drawing/2014/main" id="{C123D12E-DDC8-5C8E-FB76-2379775AEBBE}"/>
                </a:ext>
              </a:extLst>
            </p:cNvPr>
            <p:cNvSpPr/>
            <p:nvPr/>
          </p:nvSpPr>
          <p:spPr>
            <a:xfrm>
              <a:off x="1847380" y="3673315"/>
              <a:ext cx="76200" cy="76200"/>
            </a:xfrm>
            <a:custGeom>
              <a:avLst/>
              <a:gdLst>
                <a:gd name="connsiteX0" fmla="*/ 66675 w 76200"/>
                <a:gd name="connsiteY0" fmla="*/ 0 h 76200"/>
                <a:gd name="connsiteX1" fmla="*/ 76200 w 76200"/>
                <a:gd name="connsiteY1" fmla="*/ 0 h 76200"/>
                <a:gd name="connsiteX2" fmla="*/ 76200 w 76200"/>
                <a:gd name="connsiteY2" fmla="*/ 76200 h 76200"/>
                <a:gd name="connsiteX3" fmla="*/ 66675 w 76200"/>
                <a:gd name="connsiteY3" fmla="*/ 76200 h 76200"/>
                <a:gd name="connsiteX4" fmla="*/ 9525 w 76200"/>
                <a:gd name="connsiteY4" fmla="*/ 76200 h 76200"/>
                <a:gd name="connsiteX5" fmla="*/ 0 w 76200"/>
                <a:gd name="connsiteY5" fmla="*/ 76200 h 76200"/>
                <a:gd name="connsiteX6" fmla="*/ 0 w 76200"/>
                <a:gd name="connsiteY6" fmla="*/ 0 h 76200"/>
                <a:gd name="connsiteX7" fmla="*/ 9525 w 76200"/>
                <a:gd name="connsiteY7" fmla="*/ 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0" h="76200">
                  <a:moveTo>
                    <a:pt x="66675" y="0"/>
                  </a:moveTo>
                  <a:cubicBezTo>
                    <a:pt x="71936" y="0"/>
                    <a:pt x="76200" y="0"/>
                    <a:pt x="76200" y="0"/>
                  </a:cubicBezTo>
                  <a:lnTo>
                    <a:pt x="76200" y="76200"/>
                  </a:lnTo>
                  <a:cubicBezTo>
                    <a:pt x="76200" y="76200"/>
                    <a:pt x="71936" y="76200"/>
                    <a:pt x="66675" y="76200"/>
                  </a:cubicBezTo>
                  <a:lnTo>
                    <a:pt x="9525" y="76200"/>
                  </a:lnTo>
                  <a:cubicBezTo>
                    <a:pt x="4264" y="76200"/>
                    <a:pt x="0" y="76200"/>
                    <a:pt x="0" y="76200"/>
                  </a:cubicBezTo>
                  <a:lnTo>
                    <a:pt x="0" y="0"/>
                  </a:lnTo>
                  <a:cubicBezTo>
                    <a:pt x="0" y="0"/>
                    <a:pt x="4264" y="0"/>
                    <a:pt x="9525" y="0"/>
                  </a:cubicBezTo>
                  <a:close/>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grpSp>
        <p:nvGrpSpPr>
          <p:cNvPr id="24" name="Group 23">
            <a:extLst>
              <a:ext uri="{FF2B5EF4-FFF2-40B4-BE49-F238E27FC236}">
                <a16:creationId xmlns:a16="http://schemas.microsoft.com/office/drawing/2014/main" id="{3D553328-FDCF-6FB8-B17B-2446A202E6DD}"/>
              </a:ext>
            </a:extLst>
          </p:cNvPr>
          <p:cNvGrpSpPr/>
          <p:nvPr/>
        </p:nvGrpSpPr>
        <p:grpSpPr>
          <a:xfrm>
            <a:off x="3659634" y="1675971"/>
            <a:ext cx="152400" cy="190500"/>
            <a:chOff x="2890702" y="3673315"/>
            <a:chExt cx="152400" cy="190500"/>
          </a:xfrm>
        </p:grpSpPr>
        <p:sp>
          <p:nvSpPr>
            <p:cNvPr id="25" name="Freeform 24">
              <a:extLst>
                <a:ext uri="{FF2B5EF4-FFF2-40B4-BE49-F238E27FC236}">
                  <a16:creationId xmlns:a16="http://schemas.microsoft.com/office/drawing/2014/main" id="{7BBF30C3-BECE-D095-6572-ED4C19C89670}"/>
                </a:ext>
              </a:extLst>
            </p:cNvPr>
            <p:cNvSpPr/>
            <p:nvPr/>
          </p:nvSpPr>
          <p:spPr>
            <a:xfrm>
              <a:off x="2890702" y="3673315"/>
              <a:ext cx="152400" cy="190500"/>
            </a:xfrm>
            <a:custGeom>
              <a:avLst/>
              <a:gdLst>
                <a:gd name="connsiteX0" fmla="*/ 0 w 152400"/>
                <a:gd name="connsiteY0" fmla="*/ 166688 h 190500"/>
                <a:gd name="connsiteX1" fmla="*/ 0 w 152400"/>
                <a:gd name="connsiteY1" fmla="*/ 23813 h 190500"/>
                <a:gd name="connsiteX2" fmla="*/ 23813 w 152400"/>
                <a:gd name="connsiteY2" fmla="*/ 0 h 190500"/>
                <a:gd name="connsiteX3" fmla="*/ 142875 w 152400"/>
                <a:gd name="connsiteY3" fmla="*/ 0 h 190500"/>
                <a:gd name="connsiteX4" fmla="*/ 152400 w 152400"/>
                <a:gd name="connsiteY4" fmla="*/ 9525 h 190500"/>
                <a:gd name="connsiteX5" fmla="*/ 152400 w 152400"/>
                <a:gd name="connsiteY5" fmla="*/ 180975 h 190500"/>
                <a:gd name="connsiteX6" fmla="*/ 142875 w 152400"/>
                <a:gd name="connsiteY6" fmla="*/ 190500 h 190500"/>
                <a:gd name="connsiteX7" fmla="*/ 23813 w 152400"/>
                <a:gd name="connsiteY7" fmla="*/ 190500 h 190500"/>
                <a:gd name="connsiteX8" fmla="*/ 0 w 152400"/>
                <a:gd name="connsiteY8" fmla="*/ 166688 h 190500"/>
                <a:gd name="connsiteX9" fmla="*/ 23813 w 152400"/>
                <a:gd name="connsiteY9" fmla="*/ 142875 h 190500"/>
                <a:gd name="connsiteX10" fmla="*/ 152400 w 152400"/>
                <a:gd name="connsiteY10" fmla="*/ 1428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400" h="190500">
                  <a:moveTo>
                    <a:pt x="0" y="166688"/>
                  </a:moveTo>
                  <a:lnTo>
                    <a:pt x="0" y="23813"/>
                  </a:lnTo>
                  <a:cubicBezTo>
                    <a:pt x="0" y="10661"/>
                    <a:pt x="10661" y="0"/>
                    <a:pt x="23813" y="0"/>
                  </a:cubicBezTo>
                  <a:lnTo>
                    <a:pt x="142875" y="0"/>
                  </a:lnTo>
                  <a:cubicBezTo>
                    <a:pt x="148136" y="0"/>
                    <a:pt x="152400" y="4265"/>
                    <a:pt x="152400" y="9525"/>
                  </a:cubicBezTo>
                  <a:lnTo>
                    <a:pt x="152400" y="180975"/>
                  </a:lnTo>
                  <a:cubicBezTo>
                    <a:pt x="152400" y="186236"/>
                    <a:pt x="148136" y="190500"/>
                    <a:pt x="142875" y="190500"/>
                  </a:cubicBezTo>
                  <a:lnTo>
                    <a:pt x="23813" y="190500"/>
                  </a:lnTo>
                  <a:cubicBezTo>
                    <a:pt x="10661" y="190500"/>
                    <a:pt x="0" y="179839"/>
                    <a:pt x="0" y="166688"/>
                  </a:cubicBezTo>
                  <a:cubicBezTo>
                    <a:pt x="0" y="153536"/>
                    <a:pt x="10661" y="142875"/>
                    <a:pt x="23813" y="142875"/>
                  </a:cubicBezTo>
                  <a:lnTo>
                    <a:pt x="152400" y="142875"/>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6" name="Freeform 25">
              <a:extLst>
                <a:ext uri="{FF2B5EF4-FFF2-40B4-BE49-F238E27FC236}">
                  <a16:creationId xmlns:a16="http://schemas.microsoft.com/office/drawing/2014/main" id="{842E85A7-851C-5213-74C4-E866B8289B68}"/>
                </a:ext>
              </a:extLst>
            </p:cNvPr>
            <p:cNvSpPr/>
            <p:nvPr/>
          </p:nvSpPr>
          <p:spPr>
            <a:xfrm>
              <a:off x="2938327" y="3725702"/>
              <a:ext cx="57150" cy="38100"/>
            </a:xfrm>
            <a:custGeom>
              <a:avLst/>
              <a:gdLst>
                <a:gd name="connsiteX0" fmla="*/ 0 w 57150"/>
                <a:gd name="connsiteY0" fmla="*/ 19050 h 38100"/>
                <a:gd name="connsiteX1" fmla="*/ 19050 w 57150"/>
                <a:gd name="connsiteY1" fmla="*/ 38100 h 38100"/>
                <a:gd name="connsiteX2" fmla="*/ 57150 w 57150"/>
                <a:gd name="connsiteY2" fmla="*/ 0 h 38100"/>
              </a:gdLst>
              <a:ahLst/>
              <a:cxnLst>
                <a:cxn ang="0">
                  <a:pos x="connsiteX0" y="connsiteY0"/>
                </a:cxn>
                <a:cxn ang="0">
                  <a:pos x="connsiteX1" y="connsiteY1"/>
                </a:cxn>
                <a:cxn ang="0">
                  <a:pos x="connsiteX2" y="connsiteY2"/>
                </a:cxn>
              </a:cxnLst>
              <a:rect l="l" t="t" r="r" b="b"/>
              <a:pathLst>
                <a:path w="57150" h="38100">
                  <a:moveTo>
                    <a:pt x="0" y="19050"/>
                  </a:moveTo>
                  <a:lnTo>
                    <a:pt x="19050" y="38100"/>
                  </a:lnTo>
                  <a:lnTo>
                    <a:pt x="5715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grpSp>
        <p:nvGrpSpPr>
          <p:cNvPr id="27" name="Group 26">
            <a:extLst>
              <a:ext uri="{FF2B5EF4-FFF2-40B4-BE49-F238E27FC236}">
                <a16:creationId xmlns:a16="http://schemas.microsoft.com/office/drawing/2014/main" id="{137377CF-834A-B770-5877-509116DBF4C6}"/>
              </a:ext>
            </a:extLst>
          </p:cNvPr>
          <p:cNvGrpSpPr/>
          <p:nvPr/>
        </p:nvGrpSpPr>
        <p:grpSpPr>
          <a:xfrm>
            <a:off x="9329019" y="1685496"/>
            <a:ext cx="142875" cy="171450"/>
            <a:chOff x="9731659" y="4302100"/>
            <a:chExt cx="142875" cy="171450"/>
          </a:xfrm>
        </p:grpSpPr>
        <p:sp>
          <p:nvSpPr>
            <p:cNvPr id="28" name="Freeform 27">
              <a:extLst>
                <a:ext uri="{FF2B5EF4-FFF2-40B4-BE49-F238E27FC236}">
                  <a16:creationId xmlns:a16="http://schemas.microsoft.com/office/drawing/2014/main" id="{8010FB7C-B783-44D8-FA69-B5C1993A2774}"/>
                </a:ext>
              </a:extLst>
            </p:cNvPr>
            <p:cNvSpPr/>
            <p:nvPr/>
          </p:nvSpPr>
          <p:spPr>
            <a:xfrm>
              <a:off x="9731659" y="4416400"/>
              <a:ext cx="9525" cy="57150"/>
            </a:xfrm>
            <a:custGeom>
              <a:avLst/>
              <a:gdLst>
                <a:gd name="connsiteX0" fmla="*/ 0 w 9525"/>
                <a:gd name="connsiteY0" fmla="*/ 57150 h 57150"/>
                <a:gd name="connsiteX1" fmla="*/ 0 w 9525"/>
                <a:gd name="connsiteY1" fmla="*/ 0 h 57150"/>
              </a:gdLst>
              <a:ahLst/>
              <a:cxnLst>
                <a:cxn ang="0">
                  <a:pos x="connsiteX0" y="connsiteY0"/>
                </a:cxn>
                <a:cxn ang="0">
                  <a:pos x="connsiteX1" y="connsiteY1"/>
                </a:cxn>
              </a:cxnLst>
              <a:rect l="l" t="t" r="r" b="b"/>
              <a:pathLst>
                <a:path w="9525" h="57150">
                  <a:moveTo>
                    <a:pt x="0" y="57150"/>
                  </a:moveTo>
                  <a:lnTo>
                    <a:pt x="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2" name="Freeform 31">
              <a:extLst>
                <a:ext uri="{FF2B5EF4-FFF2-40B4-BE49-F238E27FC236}">
                  <a16:creationId xmlns:a16="http://schemas.microsoft.com/office/drawing/2014/main" id="{6073276C-D269-7FF2-2917-08813024195A}"/>
                </a:ext>
              </a:extLst>
            </p:cNvPr>
            <p:cNvSpPr/>
            <p:nvPr/>
          </p:nvSpPr>
          <p:spPr>
            <a:xfrm>
              <a:off x="9798334" y="4359250"/>
              <a:ext cx="9525" cy="114300"/>
            </a:xfrm>
            <a:custGeom>
              <a:avLst/>
              <a:gdLst>
                <a:gd name="connsiteX0" fmla="*/ 0 w 9525"/>
                <a:gd name="connsiteY0" fmla="*/ 114300 h 114300"/>
                <a:gd name="connsiteX1" fmla="*/ 0 w 9525"/>
                <a:gd name="connsiteY1" fmla="*/ 0 h 114300"/>
              </a:gdLst>
              <a:ahLst/>
              <a:cxnLst>
                <a:cxn ang="0">
                  <a:pos x="connsiteX0" y="connsiteY0"/>
                </a:cxn>
                <a:cxn ang="0">
                  <a:pos x="connsiteX1" y="connsiteY1"/>
                </a:cxn>
              </a:cxnLst>
              <a:rect l="l" t="t" r="r" b="b"/>
              <a:pathLst>
                <a:path w="9525" h="114300">
                  <a:moveTo>
                    <a:pt x="0" y="114300"/>
                  </a:moveTo>
                  <a:lnTo>
                    <a:pt x="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3" name="Freeform 32">
              <a:extLst>
                <a:ext uri="{FF2B5EF4-FFF2-40B4-BE49-F238E27FC236}">
                  <a16:creationId xmlns:a16="http://schemas.microsoft.com/office/drawing/2014/main" id="{781E536F-C4AB-451D-11AD-66F3862798CA}"/>
                </a:ext>
              </a:extLst>
            </p:cNvPr>
            <p:cNvSpPr/>
            <p:nvPr/>
          </p:nvSpPr>
          <p:spPr>
            <a:xfrm>
              <a:off x="9865009" y="4302100"/>
              <a:ext cx="9525" cy="171450"/>
            </a:xfrm>
            <a:custGeom>
              <a:avLst/>
              <a:gdLst>
                <a:gd name="connsiteX0" fmla="*/ 0 w 9525"/>
                <a:gd name="connsiteY0" fmla="*/ 171450 h 171450"/>
                <a:gd name="connsiteX1" fmla="*/ 0 w 9525"/>
                <a:gd name="connsiteY1" fmla="*/ 0 h 171450"/>
              </a:gdLst>
              <a:ahLst/>
              <a:cxnLst>
                <a:cxn ang="0">
                  <a:pos x="connsiteX0" y="connsiteY0"/>
                </a:cxn>
                <a:cxn ang="0">
                  <a:pos x="connsiteX1" y="connsiteY1"/>
                </a:cxn>
              </a:cxnLst>
              <a:rect l="l" t="t" r="r" b="b"/>
              <a:pathLst>
                <a:path w="9525" h="171450">
                  <a:moveTo>
                    <a:pt x="0" y="171450"/>
                  </a:moveTo>
                  <a:lnTo>
                    <a:pt x="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sp>
        <p:nvSpPr>
          <p:cNvPr id="9" name="Rectangle: Rounded Corners 9">
            <a:extLst>
              <a:ext uri="{FF2B5EF4-FFF2-40B4-BE49-F238E27FC236}">
                <a16:creationId xmlns:a16="http://schemas.microsoft.com/office/drawing/2014/main" id="{37156E39-DBAB-B0DE-AB15-341E0E4F621B}"/>
              </a:ext>
            </a:extLst>
          </p:cNvPr>
          <p:cNvSpPr/>
          <p:nvPr/>
        </p:nvSpPr>
        <p:spPr bwMode="auto">
          <a:xfrm>
            <a:off x="622830" y="3788496"/>
            <a:ext cx="663533" cy="663533"/>
          </a:xfrm>
          <a:prstGeom prst="roundRect">
            <a:avLst/>
          </a:prstGeom>
          <a:gradFill>
            <a:gsLst>
              <a:gs pos="0">
                <a:schemeClr val="accent1"/>
              </a:gs>
              <a:gs pos="100000">
                <a:schemeClr val="accent2"/>
              </a:gs>
            </a:gsLst>
            <a:lin ang="17400000" scaled="0"/>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Segoe UI" pitchFamily="34" charset="0"/>
              <a:cs typeface="Segoe UI" pitchFamily="34" charset="0"/>
            </a:endParaRPr>
          </a:p>
        </p:txBody>
      </p:sp>
      <p:grpSp>
        <p:nvGrpSpPr>
          <p:cNvPr id="10" name="Group 9">
            <a:extLst>
              <a:ext uri="{FF2B5EF4-FFF2-40B4-BE49-F238E27FC236}">
                <a16:creationId xmlns:a16="http://schemas.microsoft.com/office/drawing/2014/main" id="{087A5522-7F37-96C8-F2A4-5448A860F8D2}"/>
              </a:ext>
            </a:extLst>
          </p:cNvPr>
          <p:cNvGrpSpPr/>
          <p:nvPr/>
        </p:nvGrpSpPr>
        <p:grpSpPr>
          <a:xfrm>
            <a:off x="860307" y="4002345"/>
            <a:ext cx="152400" cy="190500"/>
            <a:chOff x="2890702" y="3673315"/>
            <a:chExt cx="152400" cy="190500"/>
          </a:xfrm>
        </p:grpSpPr>
        <p:sp>
          <p:nvSpPr>
            <p:cNvPr id="11" name="Freeform 24">
              <a:extLst>
                <a:ext uri="{FF2B5EF4-FFF2-40B4-BE49-F238E27FC236}">
                  <a16:creationId xmlns:a16="http://schemas.microsoft.com/office/drawing/2014/main" id="{9EC6F419-DAAC-8F14-231A-AA36551FD752}"/>
                </a:ext>
              </a:extLst>
            </p:cNvPr>
            <p:cNvSpPr/>
            <p:nvPr/>
          </p:nvSpPr>
          <p:spPr>
            <a:xfrm>
              <a:off x="2890702" y="3673315"/>
              <a:ext cx="152400" cy="190500"/>
            </a:xfrm>
            <a:custGeom>
              <a:avLst/>
              <a:gdLst>
                <a:gd name="connsiteX0" fmla="*/ 0 w 152400"/>
                <a:gd name="connsiteY0" fmla="*/ 166688 h 190500"/>
                <a:gd name="connsiteX1" fmla="*/ 0 w 152400"/>
                <a:gd name="connsiteY1" fmla="*/ 23813 h 190500"/>
                <a:gd name="connsiteX2" fmla="*/ 23813 w 152400"/>
                <a:gd name="connsiteY2" fmla="*/ 0 h 190500"/>
                <a:gd name="connsiteX3" fmla="*/ 142875 w 152400"/>
                <a:gd name="connsiteY3" fmla="*/ 0 h 190500"/>
                <a:gd name="connsiteX4" fmla="*/ 152400 w 152400"/>
                <a:gd name="connsiteY4" fmla="*/ 9525 h 190500"/>
                <a:gd name="connsiteX5" fmla="*/ 152400 w 152400"/>
                <a:gd name="connsiteY5" fmla="*/ 180975 h 190500"/>
                <a:gd name="connsiteX6" fmla="*/ 142875 w 152400"/>
                <a:gd name="connsiteY6" fmla="*/ 190500 h 190500"/>
                <a:gd name="connsiteX7" fmla="*/ 23813 w 152400"/>
                <a:gd name="connsiteY7" fmla="*/ 190500 h 190500"/>
                <a:gd name="connsiteX8" fmla="*/ 0 w 152400"/>
                <a:gd name="connsiteY8" fmla="*/ 166688 h 190500"/>
                <a:gd name="connsiteX9" fmla="*/ 23813 w 152400"/>
                <a:gd name="connsiteY9" fmla="*/ 142875 h 190500"/>
                <a:gd name="connsiteX10" fmla="*/ 152400 w 152400"/>
                <a:gd name="connsiteY10" fmla="*/ 14287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400" h="190500">
                  <a:moveTo>
                    <a:pt x="0" y="166688"/>
                  </a:moveTo>
                  <a:lnTo>
                    <a:pt x="0" y="23813"/>
                  </a:lnTo>
                  <a:cubicBezTo>
                    <a:pt x="0" y="10661"/>
                    <a:pt x="10661" y="0"/>
                    <a:pt x="23813" y="0"/>
                  </a:cubicBezTo>
                  <a:lnTo>
                    <a:pt x="142875" y="0"/>
                  </a:lnTo>
                  <a:cubicBezTo>
                    <a:pt x="148136" y="0"/>
                    <a:pt x="152400" y="4265"/>
                    <a:pt x="152400" y="9525"/>
                  </a:cubicBezTo>
                  <a:lnTo>
                    <a:pt x="152400" y="180975"/>
                  </a:lnTo>
                  <a:cubicBezTo>
                    <a:pt x="152400" y="186236"/>
                    <a:pt x="148136" y="190500"/>
                    <a:pt x="142875" y="190500"/>
                  </a:cubicBezTo>
                  <a:lnTo>
                    <a:pt x="23813" y="190500"/>
                  </a:lnTo>
                  <a:cubicBezTo>
                    <a:pt x="10661" y="190500"/>
                    <a:pt x="0" y="179839"/>
                    <a:pt x="0" y="166688"/>
                  </a:cubicBezTo>
                  <a:cubicBezTo>
                    <a:pt x="0" y="153536"/>
                    <a:pt x="10661" y="142875"/>
                    <a:pt x="23813" y="142875"/>
                  </a:cubicBezTo>
                  <a:lnTo>
                    <a:pt x="152400" y="142875"/>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2" name="Freeform 25">
              <a:extLst>
                <a:ext uri="{FF2B5EF4-FFF2-40B4-BE49-F238E27FC236}">
                  <a16:creationId xmlns:a16="http://schemas.microsoft.com/office/drawing/2014/main" id="{79D68A20-D9C2-5C6C-E5E6-99E16FCAF760}"/>
                </a:ext>
              </a:extLst>
            </p:cNvPr>
            <p:cNvSpPr/>
            <p:nvPr/>
          </p:nvSpPr>
          <p:spPr>
            <a:xfrm>
              <a:off x="2938327" y="3725702"/>
              <a:ext cx="57150" cy="38100"/>
            </a:xfrm>
            <a:custGeom>
              <a:avLst/>
              <a:gdLst>
                <a:gd name="connsiteX0" fmla="*/ 0 w 57150"/>
                <a:gd name="connsiteY0" fmla="*/ 19050 h 38100"/>
                <a:gd name="connsiteX1" fmla="*/ 19050 w 57150"/>
                <a:gd name="connsiteY1" fmla="*/ 38100 h 38100"/>
                <a:gd name="connsiteX2" fmla="*/ 57150 w 57150"/>
                <a:gd name="connsiteY2" fmla="*/ 0 h 38100"/>
              </a:gdLst>
              <a:ahLst/>
              <a:cxnLst>
                <a:cxn ang="0">
                  <a:pos x="connsiteX0" y="connsiteY0"/>
                </a:cxn>
                <a:cxn ang="0">
                  <a:pos x="connsiteX1" y="connsiteY1"/>
                </a:cxn>
                <a:cxn ang="0">
                  <a:pos x="connsiteX2" y="connsiteY2"/>
                </a:cxn>
              </a:cxnLst>
              <a:rect l="l" t="t" r="r" b="b"/>
              <a:pathLst>
                <a:path w="57150" h="38100">
                  <a:moveTo>
                    <a:pt x="0" y="19050"/>
                  </a:moveTo>
                  <a:lnTo>
                    <a:pt x="19050" y="38100"/>
                  </a:lnTo>
                  <a:lnTo>
                    <a:pt x="5715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sp>
        <p:nvSpPr>
          <p:cNvPr id="15" name="Rectangle: Rounded Corners 9">
            <a:extLst>
              <a:ext uri="{FF2B5EF4-FFF2-40B4-BE49-F238E27FC236}">
                <a16:creationId xmlns:a16="http://schemas.microsoft.com/office/drawing/2014/main" id="{CCFB061D-4BA3-814E-2D10-19ECCE6AEB79}"/>
              </a:ext>
            </a:extLst>
          </p:cNvPr>
          <p:cNvSpPr/>
          <p:nvPr/>
        </p:nvSpPr>
        <p:spPr bwMode="auto">
          <a:xfrm>
            <a:off x="3432642" y="3727761"/>
            <a:ext cx="663533" cy="663533"/>
          </a:xfrm>
          <a:prstGeom prst="roundRect">
            <a:avLst/>
          </a:prstGeom>
          <a:gradFill>
            <a:gsLst>
              <a:gs pos="0">
                <a:schemeClr val="accent1"/>
              </a:gs>
              <a:gs pos="100000">
                <a:schemeClr val="accent2"/>
              </a:gs>
            </a:gsLst>
            <a:lin ang="17400000" scaled="0"/>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Arial" panose="020B0604020202020204" pitchFamily="34" charset="0"/>
              <a:ea typeface="Segoe UI" pitchFamily="34" charset="0"/>
              <a:cs typeface="Segoe UI" pitchFamily="34" charset="0"/>
            </a:endParaRPr>
          </a:p>
        </p:txBody>
      </p:sp>
      <p:grpSp>
        <p:nvGrpSpPr>
          <p:cNvPr id="16" name="Group 15">
            <a:extLst>
              <a:ext uri="{FF2B5EF4-FFF2-40B4-BE49-F238E27FC236}">
                <a16:creationId xmlns:a16="http://schemas.microsoft.com/office/drawing/2014/main" id="{E83B03CB-459F-D54E-29AB-1EC4727921AF}"/>
              </a:ext>
            </a:extLst>
          </p:cNvPr>
          <p:cNvGrpSpPr/>
          <p:nvPr/>
        </p:nvGrpSpPr>
        <p:grpSpPr>
          <a:xfrm>
            <a:off x="3671385" y="3888085"/>
            <a:ext cx="190568" cy="190493"/>
            <a:chOff x="6856544" y="3054095"/>
            <a:chExt cx="190568" cy="190493"/>
          </a:xfrm>
        </p:grpSpPr>
        <p:sp>
          <p:nvSpPr>
            <p:cNvPr id="17" name="Freeform 18">
              <a:extLst>
                <a:ext uri="{FF2B5EF4-FFF2-40B4-BE49-F238E27FC236}">
                  <a16:creationId xmlns:a16="http://schemas.microsoft.com/office/drawing/2014/main" id="{A0FF991F-69B8-72FD-23DB-9596F502A213}"/>
                </a:ext>
              </a:extLst>
            </p:cNvPr>
            <p:cNvSpPr/>
            <p:nvPr/>
          </p:nvSpPr>
          <p:spPr>
            <a:xfrm>
              <a:off x="6856544" y="3054095"/>
              <a:ext cx="190568" cy="190493"/>
            </a:xfrm>
            <a:custGeom>
              <a:avLst/>
              <a:gdLst>
                <a:gd name="connsiteX0" fmla="*/ 17730 w 190568"/>
                <a:gd name="connsiteY0" fmla="*/ 63015 h 190493"/>
                <a:gd name="connsiteX1" fmla="*/ 46668 w 190568"/>
                <a:gd name="connsiteY1" fmla="*/ 17563 h 190493"/>
                <a:gd name="connsiteX2" fmla="*/ 63260 w 190568"/>
                <a:gd name="connsiteY2" fmla="*/ 17580 h 190493"/>
                <a:gd name="connsiteX3" fmla="*/ 115884 w 190568"/>
                <a:gd name="connsiteY3" fmla="*/ 6006 h 190493"/>
                <a:gd name="connsiteX4" fmla="*/ 127458 w 190568"/>
                <a:gd name="connsiteY4" fmla="*/ 17580 h 190493"/>
                <a:gd name="connsiteX5" fmla="*/ 172988 w 190568"/>
                <a:gd name="connsiteY5" fmla="*/ 46395 h 190493"/>
                <a:gd name="connsiteX6" fmla="*/ 172988 w 190568"/>
                <a:gd name="connsiteY6" fmla="*/ 63110 h 190493"/>
                <a:gd name="connsiteX7" fmla="*/ 184563 w 190568"/>
                <a:gd name="connsiteY7" fmla="*/ 115734 h 190493"/>
                <a:gd name="connsiteX8" fmla="*/ 172988 w 190568"/>
                <a:gd name="connsiteY8" fmla="*/ 127308 h 190493"/>
                <a:gd name="connsiteX9" fmla="*/ 144146 w 190568"/>
                <a:gd name="connsiteY9" fmla="*/ 172821 h 190493"/>
                <a:gd name="connsiteX10" fmla="*/ 127554 w 190568"/>
                <a:gd name="connsiteY10" fmla="*/ 172838 h 190493"/>
                <a:gd name="connsiteX11" fmla="*/ 74957 w 190568"/>
                <a:gd name="connsiteY11" fmla="*/ 184536 h 190493"/>
                <a:gd name="connsiteX12" fmla="*/ 63260 w 190568"/>
                <a:gd name="connsiteY12" fmla="*/ 172838 h 190493"/>
                <a:gd name="connsiteX13" fmla="*/ 17748 w 190568"/>
                <a:gd name="connsiteY13" fmla="*/ 143996 h 190493"/>
                <a:gd name="connsiteX14" fmla="*/ 17730 w 190568"/>
                <a:gd name="connsiteY14" fmla="*/ 127404 h 190493"/>
                <a:gd name="connsiteX15" fmla="*/ 5910 w 190568"/>
                <a:gd name="connsiteY15" fmla="*/ 74835 h 190493"/>
                <a:gd name="connsiteX16" fmla="*/ 17730 w 190568"/>
                <a:gd name="connsiteY16" fmla="*/ 63015 h 19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68" h="190493">
                  <a:moveTo>
                    <a:pt x="17730" y="63015"/>
                  </a:moveTo>
                  <a:cubicBezTo>
                    <a:pt x="13170" y="42473"/>
                    <a:pt x="26126" y="22123"/>
                    <a:pt x="46668" y="17563"/>
                  </a:cubicBezTo>
                  <a:cubicBezTo>
                    <a:pt x="52133" y="16350"/>
                    <a:pt x="57798" y="16356"/>
                    <a:pt x="63260" y="17580"/>
                  </a:cubicBezTo>
                  <a:cubicBezTo>
                    <a:pt x="74595" y="-148"/>
                    <a:pt x="98156" y="-5330"/>
                    <a:pt x="115884" y="6006"/>
                  </a:cubicBezTo>
                  <a:cubicBezTo>
                    <a:pt x="120535" y="8980"/>
                    <a:pt x="124485" y="12929"/>
                    <a:pt x="127458" y="17580"/>
                  </a:cubicBezTo>
                  <a:cubicBezTo>
                    <a:pt x="147988" y="12965"/>
                    <a:pt x="168372" y="25866"/>
                    <a:pt x="172988" y="46395"/>
                  </a:cubicBezTo>
                  <a:cubicBezTo>
                    <a:pt x="174225" y="51898"/>
                    <a:pt x="174225" y="57607"/>
                    <a:pt x="172988" y="63110"/>
                  </a:cubicBezTo>
                  <a:cubicBezTo>
                    <a:pt x="190716" y="74445"/>
                    <a:pt x="195898" y="98006"/>
                    <a:pt x="184563" y="115734"/>
                  </a:cubicBezTo>
                  <a:cubicBezTo>
                    <a:pt x="181589" y="120385"/>
                    <a:pt x="177639" y="124335"/>
                    <a:pt x="172988" y="127308"/>
                  </a:cubicBezTo>
                  <a:cubicBezTo>
                    <a:pt x="177591" y="147840"/>
                    <a:pt x="164678" y="168217"/>
                    <a:pt x="144146" y="172821"/>
                  </a:cubicBezTo>
                  <a:cubicBezTo>
                    <a:pt x="138684" y="174045"/>
                    <a:pt x="133018" y="174051"/>
                    <a:pt x="127554" y="172838"/>
                  </a:cubicBezTo>
                  <a:cubicBezTo>
                    <a:pt x="116260" y="190592"/>
                    <a:pt x="92711" y="195829"/>
                    <a:pt x="74957" y="184536"/>
                  </a:cubicBezTo>
                  <a:cubicBezTo>
                    <a:pt x="70248" y="181540"/>
                    <a:pt x="66255" y="177547"/>
                    <a:pt x="63260" y="172838"/>
                  </a:cubicBezTo>
                  <a:cubicBezTo>
                    <a:pt x="42727" y="177441"/>
                    <a:pt x="22351" y="164528"/>
                    <a:pt x="17748" y="143996"/>
                  </a:cubicBezTo>
                  <a:cubicBezTo>
                    <a:pt x="16523" y="138534"/>
                    <a:pt x="16517" y="132868"/>
                    <a:pt x="17730" y="127404"/>
                  </a:cubicBezTo>
                  <a:cubicBezTo>
                    <a:pt x="-50" y="116151"/>
                    <a:pt x="-5342" y="92615"/>
                    <a:pt x="5910" y="74835"/>
                  </a:cubicBezTo>
                  <a:cubicBezTo>
                    <a:pt x="8927" y="70068"/>
                    <a:pt x="12964" y="66031"/>
                    <a:pt x="17730" y="63015"/>
                  </a:cubicBezTo>
                  <a:close/>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30" name="Freeform 19">
              <a:extLst>
                <a:ext uri="{FF2B5EF4-FFF2-40B4-BE49-F238E27FC236}">
                  <a16:creationId xmlns:a16="http://schemas.microsoft.com/office/drawing/2014/main" id="{2BBF1A64-5B63-4667-3197-D7FC85228044}"/>
                </a:ext>
              </a:extLst>
            </p:cNvPr>
            <p:cNvSpPr/>
            <p:nvPr/>
          </p:nvSpPr>
          <p:spPr>
            <a:xfrm>
              <a:off x="6923329" y="3130255"/>
              <a:ext cx="57150" cy="38100"/>
            </a:xfrm>
            <a:custGeom>
              <a:avLst/>
              <a:gdLst>
                <a:gd name="connsiteX0" fmla="*/ 0 w 57150"/>
                <a:gd name="connsiteY0" fmla="*/ 19050 h 38100"/>
                <a:gd name="connsiteX1" fmla="*/ 19050 w 57150"/>
                <a:gd name="connsiteY1" fmla="*/ 38100 h 38100"/>
                <a:gd name="connsiteX2" fmla="*/ 57150 w 57150"/>
                <a:gd name="connsiteY2" fmla="*/ 0 h 38100"/>
              </a:gdLst>
              <a:ahLst/>
              <a:cxnLst>
                <a:cxn ang="0">
                  <a:pos x="connsiteX0" y="connsiteY0"/>
                </a:cxn>
                <a:cxn ang="0">
                  <a:pos x="connsiteX1" y="connsiteY1"/>
                </a:cxn>
                <a:cxn ang="0">
                  <a:pos x="connsiteX2" y="connsiteY2"/>
                </a:cxn>
              </a:cxnLst>
              <a:rect l="l" t="t" r="r" b="b"/>
              <a:pathLst>
                <a:path w="57150" h="38100">
                  <a:moveTo>
                    <a:pt x="0" y="19050"/>
                  </a:moveTo>
                  <a:lnTo>
                    <a:pt x="19050" y="38100"/>
                  </a:lnTo>
                  <a:lnTo>
                    <a:pt x="57150" y="0"/>
                  </a:lnTo>
                </a:path>
              </a:pathLst>
            </a:custGeom>
            <a:noFill/>
            <a:ln w="19050" cap="rnd">
              <a:solidFill>
                <a:schemeClr val="bg1"/>
              </a:solidFill>
              <a:prstDash val="solid"/>
              <a:round/>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sp>
        <p:nvSpPr>
          <p:cNvPr id="35" name="TextBox 34">
            <a:extLst>
              <a:ext uri="{FF2B5EF4-FFF2-40B4-BE49-F238E27FC236}">
                <a16:creationId xmlns:a16="http://schemas.microsoft.com/office/drawing/2014/main" id="{3F1BB3C9-F645-1AF6-DC4F-6B843DFA43DD}"/>
              </a:ext>
            </a:extLst>
          </p:cNvPr>
          <p:cNvSpPr txBox="1"/>
          <p:nvPr/>
        </p:nvSpPr>
        <p:spPr>
          <a:xfrm>
            <a:off x="469142" y="4827614"/>
            <a:ext cx="2138406" cy="246221"/>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n-ea"/>
                <a:cs typeface="+mn-cs"/>
              </a:rPr>
              <a:t>5. Enforced access</a:t>
            </a:r>
          </a:p>
        </p:txBody>
      </p:sp>
      <p:sp>
        <p:nvSpPr>
          <p:cNvPr id="37" name="TextBox 36">
            <a:extLst>
              <a:ext uri="{FF2B5EF4-FFF2-40B4-BE49-F238E27FC236}">
                <a16:creationId xmlns:a16="http://schemas.microsoft.com/office/drawing/2014/main" id="{1CEDDA0E-83AD-6CF5-F70F-135B33974A53}"/>
              </a:ext>
            </a:extLst>
          </p:cNvPr>
          <p:cNvSpPr txBox="1"/>
          <p:nvPr/>
        </p:nvSpPr>
        <p:spPr>
          <a:xfrm>
            <a:off x="2895884" y="4782080"/>
            <a:ext cx="3589957" cy="246221"/>
          </a:xfrm>
          <a:prstGeom prst="rect">
            <a:avLst/>
          </a:prstGeom>
          <a:noFill/>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B1EFF">
                    <a:lumMod val="20000"/>
                    <a:lumOff val="80000"/>
                  </a:srgbClr>
                </a:solidFill>
                <a:effectLst/>
                <a:uLnTx/>
                <a:uFillTx/>
                <a:latin typeface="Arial Black"/>
                <a:ea typeface="+mn-ea"/>
                <a:cs typeface="+mn-cs"/>
              </a:rPr>
              <a:t>6. Failure and approval behavior</a:t>
            </a:r>
          </a:p>
        </p:txBody>
      </p:sp>
      <p:sp>
        <p:nvSpPr>
          <p:cNvPr id="39" name="TextBox 38">
            <a:extLst>
              <a:ext uri="{FF2B5EF4-FFF2-40B4-BE49-F238E27FC236}">
                <a16:creationId xmlns:a16="http://schemas.microsoft.com/office/drawing/2014/main" id="{02915EDD-A14A-C126-4822-FB9CAFE4C803}"/>
              </a:ext>
            </a:extLst>
          </p:cNvPr>
          <p:cNvSpPr txBox="1"/>
          <p:nvPr/>
        </p:nvSpPr>
        <p:spPr>
          <a:xfrm>
            <a:off x="469142" y="5182029"/>
            <a:ext cx="2382821" cy="514693"/>
          </a:xfrm>
          <a:prstGeom prst="rect">
            <a:avLst/>
          </a:prstGeom>
          <a:noFill/>
        </p:spPr>
        <p:txBody>
          <a:bodyPr wrap="square" lIns="0" rIns="0" rtlCol="0">
            <a:spAutoFit/>
          </a:bodyPr>
          <a:lstStyle/>
          <a:p>
            <a:pPr marL="0" marR="0" lvl="0" indent="0" algn="l" defTabSz="914367"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rPr>
              <a:t>Follow least privilege and define permissions (read, write, execute)</a:t>
            </a:r>
          </a:p>
        </p:txBody>
      </p:sp>
      <p:sp>
        <p:nvSpPr>
          <p:cNvPr id="41" name="TextBox 40">
            <a:extLst>
              <a:ext uri="{FF2B5EF4-FFF2-40B4-BE49-F238E27FC236}">
                <a16:creationId xmlns:a16="http://schemas.microsoft.com/office/drawing/2014/main" id="{EABDB149-3DB2-D5FD-4404-9D72A7AA8E7E}"/>
              </a:ext>
            </a:extLst>
          </p:cNvPr>
          <p:cNvSpPr txBox="1"/>
          <p:nvPr/>
        </p:nvSpPr>
        <p:spPr>
          <a:xfrm>
            <a:off x="3001520" y="5275686"/>
            <a:ext cx="2551112" cy="514693"/>
          </a:xfrm>
          <a:prstGeom prst="rect">
            <a:avLst/>
          </a:prstGeom>
          <a:noFill/>
        </p:spPr>
        <p:txBody>
          <a:bodyPr wrap="square" lIns="0" rIns="0" rtlCol="0">
            <a:spAutoFit/>
          </a:bodyPr>
          <a:lstStyle/>
          <a:p>
            <a:pPr marL="0" marR="0" lvl="0" indent="0" algn="l" defTabSz="914367"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a:ea typeface="Roboto" panose="02000000000000000000" pitchFamily="2" charset="0"/>
                <a:cs typeface="Rubik Light" pitchFamily="2" charset="-79"/>
              </a:rPr>
              <a:t>Have the agent request more permissions before executing. Require human oversight.</a:t>
            </a:r>
          </a:p>
        </p:txBody>
      </p:sp>
      <p:cxnSp>
        <p:nvCxnSpPr>
          <p:cNvPr id="42" name="Straight Arrow Connector 41">
            <a:extLst>
              <a:ext uri="{FF2B5EF4-FFF2-40B4-BE49-F238E27FC236}">
                <a16:creationId xmlns:a16="http://schemas.microsoft.com/office/drawing/2014/main" id="{56E6C7E9-AFDA-4A98-2917-754A91F67473}"/>
              </a:ext>
            </a:extLst>
          </p:cNvPr>
          <p:cNvCxnSpPr>
            <a:cxnSpLocks/>
          </p:cNvCxnSpPr>
          <p:nvPr/>
        </p:nvCxnSpPr>
        <p:spPr>
          <a:xfrm>
            <a:off x="1449630" y="4022823"/>
            <a:ext cx="1887065" cy="0"/>
          </a:xfrm>
          <a:prstGeom prst="straightConnector1">
            <a:avLst/>
          </a:prstGeom>
          <a:ln>
            <a:gradFill flip="none" rotWithShape="1">
              <a:gsLst>
                <a:gs pos="0">
                  <a:schemeClr val="accent1"/>
                </a:gs>
                <a:gs pos="100000">
                  <a:schemeClr val="accent2"/>
                </a:gs>
              </a:gsLst>
              <a:lin ang="0" scaled="1"/>
              <a:tileRect/>
            </a:gradFill>
            <a:headEnd type="oval"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90971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0B1D9"/>
                </a:solidFill>
                <a:effectLst/>
                <a:uLnTx/>
                <a:uFillTx/>
                <a:latin typeface="Aptos"/>
                <a:ea typeface="+mn-ea"/>
                <a:cs typeface="+mn-cs"/>
              </a:rPr>
              <a:t>RISK-TO-CONTROL MAP</a:t>
            </a:r>
          </a:p>
        </p:txBody>
      </p:sp>
      <p:sp>
        <p:nvSpPr>
          <p:cNvPr id="3" name="TextBox 2"/>
          <p:cNvSpPr txBox="1"/>
          <p:nvPr/>
        </p:nvSpPr>
        <p:spPr>
          <a:xfrm>
            <a:off x="658368" y="667512"/>
            <a:ext cx="1074420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800" b="1" i="0" u="none" strike="noStrike" kern="1200" cap="none" spc="0" normalizeH="0" baseline="0" noProof="0" dirty="0">
                <a:ln>
                  <a:noFill/>
                </a:ln>
                <a:solidFill>
                  <a:srgbClr val="F8FFFD"/>
                </a:solidFill>
                <a:effectLst/>
                <a:uLnTx/>
                <a:uFillTx/>
                <a:latin typeface="Aptos"/>
                <a:ea typeface="+mn-ea"/>
                <a:cs typeface="+mn-cs"/>
              </a:rPr>
              <a:t>Each design practice closes a specific risk</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576276"/>
                </a:solidFill>
                <a:effectLst/>
                <a:uLnTx/>
                <a:uFillTx/>
                <a:latin typeface="Aptos"/>
                <a:ea typeface="+mn-ea"/>
                <a:cs typeface="+mn-cs"/>
              </a:rPr>
              <a:t>16</a:t>
            </a:r>
          </a:p>
        </p:txBody>
      </p:sp>
      <p:sp>
        <p:nvSpPr>
          <p:cNvPr id="6" name="TextBox 5"/>
          <p:cNvSpPr txBox="1"/>
          <p:nvPr/>
        </p:nvSpPr>
        <p:spPr>
          <a:xfrm>
            <a:off x="822960" y="1554480"/>
            <a:ext cx="3108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8FFFD"/>
                </a:solidFill>
                <a:effectLst/>
                <a:uLnTx/>
                <a:uFillTx/>
                <a:latin typeface="Aptos"/>
                <a:ea typeface="+mn-ea"/>
                <a:cs typeface="+mn-cs"/>
              </a:rPr>
              <a:t>Unclear scope</a:t>
            </a:r>
          </a:p>
        </p:txBody>
      </p:sp>
      <p:sp>
        <p:nvSpPr>
          <p:cNvPr id="7" name="TextBox 6"/>
          <p:cNvSpPr txBox="1"/>
          <p:nvPr/>
        </p:nvSpPr>
        <p:spPr>
          <a:xfrm>
            <a:off x="4206240" y="1517904"/>
            <a:ext cx="594360" cy="36576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00B1D9"/>
                </a:solidFill>
                <a:effectLst/>
                <a:uLnTx/>
                <a:uFillTx/>
                <a:latin typeface="Aptos"/>
                <a:ea typeface="+mn-ea"/>
                <a:cs typeface="+mn-cs"/>
              </a:rPr>
              <a:t>→</a:t>
            </a:r>
          </a:p>
        </p:txBody>
      </p:sp>
      <p:sp>
        <p:nvSpPr>
          <p:cNvPr id="8" name="TextBox 7"/>
          <p:cNvSpPr txBox="1"/>
          <p:nvPr/>
        </p:nvSpPr>
        <p:spPr>
          <a:xfrm>
            <a:off x="5074920" y="1554480"/>
            <a:ext cx="5532120" cy="31089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0B1D9"/>
                </a:solidFill>
                <a:effectLst/>
                <a:uLnTx/>
                <a:uFillTx/>
                <a:latin typeface="Aptos"/>
                <a:ea typeface="+mn-ea"/>
                <a:cs typeface="+mn-cs"/>
              </a:rPr>
              <a:t>One clear job</a:t>
            </a:r>
          </a:p>
        </p:txBody>
      </p:sp>
      <p:sp>
        <p:nvSpPr>
          <p:cNvPr id="9" name="Rectangle 8"/>
          <p:cNvSpPr/>
          <p:nvPr/>
        </p:nvSpPr>
        <p:spPr>
          <a:xfrm>
            <a:off x="822960" y="1993391"/>
            <a:ext cx="9802368"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0" name="TextBox 9"/>
          <p:cNvSpPr txBox="1"/>
          <p:nvPr/>
        </p:nvSpPr>
        <p:spPr>
          <a:xfrm>
            <a:off x="822960" y="2267712"/>
            <a:ext cx="3108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8FFFD"/>
                </a:solidFill>
                <a:effectLst/>
                <a:uLnTx/>
                <a:uFillTx/>
                <a:latin typeface="Aptos"/>
                <a:ea typeface="+mn-ea"/>
                <a:cs typeface="+mn-cs"/>
              </a:rPr>
              <a:t>Excessive context</a:t>
            </a:r>
          </a:p>
        </p:txBody>
      </p:sp>
      <p:sp>
        <p:nvSpPr>
          <p:cNvPr id="11" name="TextBox 10"/>
          <p:cNvSpPr txBox="1"/>
          <p:nvPr/>
        </p:nvSpPr>
        <p:spPr>
          <a:xfrm>
            <a:off x="4206240" y="2231136"/>
            <a:ext cx="594360" cy="36576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3361E1"/>
                </a:solidFill>
                <a:effectLst/>
                <a:uLnTx/>
                <a:uFillTx/>
                <a:latin typeface="Aptos"/>
                <a:ea typeface="+mn-ea"/>
                <a:cs typeface="+mn-cs"/>
              </a:rPr>
              <a:t>→</a:t>
            </a:r>
          </a:p>
        </p:txBody>
      </p:sp>
      <p:sp>
        <p:nvSpPr>
          <p:cNvPr id="12" name="TextBox 11"/>
          <p:cNvSpPr txBox="1"/>
          <p:nvPr/>
        </p:nvSpPr>
        <p:spPr>
          <a:xfrm>
            <a:off x="5074920" y="2267712"/>
            <a:ext cx="5532120" cy="31089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361E1"/>
                </a:solidFill>
                <a:effectLst/>
                <a:uLnTx/>
                <a:uFillTx/>
                <a:latin typeface="Aptos"/>
                <a:ea typeface="+mn-ea"/>
                <a:cs typeface="+mn-cs"/>
              </a:rPr>
              <a:t>Progressive disclosure</a:t>
            </a:r>
          </a:p>
        </p:txBody>
      </p:sp>
      <p:sp>
        <p:nvSpPr>
          <p:cNvPr id="13" name="Rectangle 12"/>
          <p:cNvSpPr/>
          <p:nvPr/>
        </p:nvSpPr>
        <p:spPr>
          <a:xfrm>
            <a:off x="822960" y="2706624"/>
            <a:ext cx="9802368"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4" name="TextBox 13"/>
          <p:cNvSpPr txBox="1"/>
          <p:nvPr/>
        </p:nvSpPr>
        <p:spPr>
          <a:xfrm>
            <a:off x="822960" y="2980944"/>
            <a:ext cx="3108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8FFFD"/>
                </a:solidFill>
                <a:effectLst/>
                <a:uLnTx/>
                <a:uFillTx/>
                <a:latin typeface="Aptos"/>
                <a:ea typeface="+mn-ea"/>
                <a:cs typeface="+mn-cs"/>
              </a:rPr>
              <a:t>Ambiguous authority</a:t>
            </a:r>
          </a:p>
        </p:txBody>
      </p:sp>
      <p:sp>
        <p:nvSpPr>
          <p:cNvPr id="15" name="TextBox 14"/>
          <p:cNvSpPr txBox="1"/>
          <p:nvPr/>
        </p:nvSpPr>
        <p:spPr>
          <a:xfrm>
            <a:off x="4206240" y="2944368"/>
            <a:ext cx="594360" cy="36576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7E41E8"/>
                </a:solidFill>
                <a:effectLst/>
                <a:uLnTx/>
                <a:uFillTx/>
                <a:latin typeface="Aptos"/>
                <a:ea typeface="+mn-ea"/>
                <a:cs typeface="+mn-cs"/>
              </a:rPr>
              <a:t>→</a:t>
            </a:r>
          </a:p>
        </p:txBody>
      </p:sp>
      <p:sp>
        <p:nvSpPr>
          <p:cNvPr id="16" name="TextBox 15"/>
          <p:cNvSpPr txBox="1"/>
          <p:nvPr/>
        </p:nvSpPr>
        <p:spPr>
          <a:xfrm>
            <a:off x="5074920" y="2980944"/>
            <a:ext cx="5532120" cy="31089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7E41E8"/>
                </a:solidFill>
                <a:effectLst/>
                <a:uLnTx/>
                <a:uFillTx/>
                <a:latin typeface="Aptos"/>
                <a:ea typeface="+mn-ea"/>
                <a:cs typeface="+mn-cs"/>
              </a:rPr>
              <a:t>Explicit access + approvals</a:t>
            </a:r>
          </a:p>
        </p:txBody>
      </p:sp>
      <p:sp>
        <p:nvSpPr>
          <p:cNvPr id="17" name="Rectangle 16"/>
          <p:cNvSpPr/>
          <p:nvPr/>
        </p:nvSpPr>
        <p:spPr>
          <a:xfrm>
            <a:off x="822960" y="3419856"/>
            <a:ext cx="9802368"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18" name="TextBox 17"/>
          <p:cNvSpPr txBox="1"/>
          <p:nvPr/>
        </p:nvSpPr>
        <p:spPr>
          <a:xfrm>
            <a:off x="822960" y="3694176"/>
            <a:ext cx="3108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8FFFD"/>
                </a:solidFill>
                <a:effectLst/>
                <a:uLnTx/>
                <a:uFillTx/>
                <a:latin typeface="Aptos"/>
                <a:ea typeface="+mn-ea"/>
                <a:cs typeface="+mn-cs"/>
              </a:rPr>
              <a:t>Undefined inputs</a:t>
            </a:r>
          </a:p>
        </p:txBody>
      </p:sp>
      <p:sp>
        <p:nvSpPr>
          <p:cNvPr id="19" name="TextBox 18"/>
          <p:cNvSpPr txBox="1"/>
          <p:nvPr/>
        </p:nvSpPr>
        <p:spPr>
          <a:xfrm>
            <a:off x="4206240" y="3657600"/>
            <a:ext cx="594360" cy="36576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E69326"/>
                </a:solidFill>
                <a:effectLst/>
                <a:uLnTx/>
                <a:uFillTx/>
                <a:latin typeface="Aptos"/>
                <a:ea typeface="+mn-ea"/>
                <a:cs typeface="+mn-cs"/>
              </a:rPr>
              <a:t>→</a:t>
            </a:r>
          </a:p>
        </p:txBody>
      </p:sp>
      <p:sp>
        <p:nvSpPr>
          <p:cNvPr id="20" name="TextBox 19"/>
          <p:cNvSpPr txBox="1"/>
          <p:nvPr/>
        </p:nvSpPr>
        <p:spPr>
          <a:xfrm>
            <a:off x="5074920" y="3694176"/>
            <a:ext cx="5532120" cy="31089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E69326"/>
                </a:solidFill>
                <a:effectLst/>
                <a:uLnTx/>
                <a:uFillTx/>
                <a:latin typeface="Aptos"/>
                <a:ea typeface="+mn-ea"/>
                <a:cs typeface="+mn-cs"/>
              </a:rPr>
              <a:t>Required-input validation</a:t>
            </a:r>
          </a:p>
        </p:txBody>
      </p:sp>
      <p:sp>
        <p:nvSpPr>
          <p:cNvPr id="21" name="Rectangle 20"/>
          <p:cNvSpPr/>
          <p:nvPr/>
        </p:nvSpPr>
        <p:spPr>
          <a:xfrm>
            <a:off x="822960" y="4133087"/>
            <a:ext cx="9802368"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2" name="TextBox 21"/>
          <p:cNvSpPr txBox="1"/>
          <p:nvPr/>
        </p:nvSpPr>
        <p:spPr>
          <a:xfrm>
            <a:off x="822960" y="4407408"/>
            <a:ext cx="3108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8FFFD"/>
                </a:solidFill>
                <a:effectLst/>
                <a:uLnTx/>
                <a:uFillTx/>
                <a:latin typeface="Aptos"/>
                <a:ea typeface="+mn-ea"/>
                <a:cs typeface="+mn-cs"/>
              </a:rPr>
              <a:t>Broad capabilities</a:t>
            </a:r>
          </a:p>
        </p:txBody>
      </p:sp>
      <p:sp>
        <p:nvSpPr>
          <p:cNvPr id="23" name="TextBox 22"/>
          <p:cNvSpPr txBox="1"/>
          <p:nvPr/>
        </p:nvSpPr>
        <p:spPr>
          <a:xfrm>
            <a:off x="4206240" y="4370832"/>
            <a:ext cx="594360" cy="36576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EF3281"/>
                </a:solidFill>
                <a:effectLst/>
                <a:uLnTx/>
                <a:uFillTx/>
                <a:latin typeface="Aptos"/>
                <a:ea typeface="+mn-ea"/>
                <a:cs typeface="+mn-cs"/>
              </a:rPr>
              <a:t>→</a:t>
            </a:r>
          </a:p>
        </p:txBody>
      </p:sp>
      <p:sp>
        <p:nvSpPr>
          <p:cNvPr id="24" name="TextBox 23"/>
          <p:cNvSpPr txBox="1"/>
          <p:nvPr/>
        </p:nvSpPr>
        <p:spPr>
          <a:xfrm>
            <a:off x="5074920" y="4407408"/>
            <a:ext cx="5532120" cy="31089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EF3281"/>
                </a:solidFill>
                <a:effectLst/>
                <a:uLnTx/>
                <a:uFillTx/>
                <a:latin typeface="Aptos"/>
                <a:ea typeface="+mn-ea"/>
                <a:cs typeface="+mn-cs"/>
              </a:rPr>
              <a:t>Minimum necessary permissions</a:t>
            </a:r>
          </a:p>
        </p:txBody>
      </p:sp>
      <p:sp>
        <p:nvSpPr>
          <p:cNvPr id="25" name="Rectangle 24"/>
          <p:cNvSpPr/>
          <p:nvPr/>
        </p:nvSpPr>
        <p:spPr>
          <a:xfrm>
            <a:off x="822960" y="4846320"/>
            <a:ext cx="9802368"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26" name="TextBox 25"/>
          <p:cNvSpPr txBox="1"/>
          <p:nvPr/>
        </p:nvSpPr>
        <p:spPr>
          <a:xfrm>
            <a:off x="822960" y="5120640"/>
            <a:ext cx="3108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8FFFD"/>
                </a:solidFill>
                <a:effectLst/>
                <a:uLnTx/>
                <a:uFillTx/>
                <a:latin typeface="Aptos"/>
                <a:ea typeface="+mn-ea"/>
                <a:cs typeface="+mn-cs"/>
              </a:rPr>
              <a:t>Missing failure behavior</a:t>
            </a:r>
          </a:p>
        </p:txBody>
      </p:sp>
      <p:sp>
        <p:nvSpPr>
          <p:cNvPr id="27" name="TextBox 26"/>
          <p:cNvSpPr txBox="1"/>
          <p:nvPr/>
        </p:nvSpPr>
        <p:spPr>
          <a:xfrm>
            <a:off x="4206240" y="5084064"/>
            <a:ext cx="594360" cy="36576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00AA80"/>
                </a:solidFill>
                <a:effectLst/>
                <a:uLnTx/>
                <a:uFillTx/>
                <a:latin typeface="Aptos"/>
                <a:ea typeface="+mn-ea"/>
                <a:cs typeface="+mn-cs"/>
              </a:rPr>
              <a:t>→</a:t>
            </a:r>
          </a:p>
        </p:txBody>
      </p:sp>
      <p:sp>
        <p:nvSpPr>
          <p:cNvPr id="28" name="TextBox 27"/>
          <p:cNvSpPr txBox="1"/>
          <p:nvPr/>
        </p:nvSpPr>
        <p:spPr>
          <a:xfrm>
            <a:off x="5074920" y="5120640"/>
            <a:ext cx="5532120" cy="31089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0AA80"/>
                </a:solidFill>
                <a:effectLst/>
                <a:uLnTx/>
                <a:uFillTx/>
                <a:latin typeface="Aptos"/>
                <a:ea typeface="+mn-ea"/>
                <a:cs typeface="+mn-cs"/>
              </a:rPr>
              <a:t>Ask, fail safely, or stop</a:t>
            </a:r>
          </a:p>
        </p:txBody>
      </p:sp>
      <p:sp>
        <p:nvSpPr>
          <p:cNvPr id="29" name="Rectangle 28"/>
          <p:cNvSpPr/>
          <p:nvPr/>
        </p:nvSpPr>
        <p:spPr>
          <a:xfrm>
            <a:off x="822960" y="5559552"/>
            <a:ext cx="9802368"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TextBox 29"/>
          <p:cNvSpPr txBox="1"/>
          <p:nvPr/>
        </p:nvSpPr>
        <p:spPr>
          <a:xfrm>
            <a:off x="822960" y="5925312"/>
            <a:ext cx="9802368" cy="24622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EF3281"/>
                </a:solidFill>
                <a:effectLst/>
                <a:uLnTx/>
                <a:uFillTx/>
                <a:latin typeface="Aptos"/>
                <a:ea typeface="+mn-ea"/>
                <a:cs typeface="+mn-cs"/>
              </a:rPr>
              <a:t>Precision is a security control.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dirty="0">
                <a:ln>
                  <a:noFill/>
                </a:ln>
                <a:solidFill>
                  <a:srgbClr val="00B1D9"/>
                </a:solidFill>
                <a:effectLst/>
                <a:uLnTx/>
                <a:uFillTx/>
                <a:latin typeface="Aptos"/>
                <a:ea typeface="+mn-ea"/>
                <a:cs typeface="+mn-cs"/>
              </a:rPr>
              <a:t>BUILDING PRECISE AGENT SKILLS</a:t>
            </a:r>
          </a:p>
        </p:txBody>
      </p:sp>
      <p:sp>
        <p:nvSpPr>
          <p:cNvPr id="3" name="TextBox 2"/>
          <p:cNvSpPr txBox="1"/>
          <p:nvPr/>
        </p:nvSpPr>
        <p:spPr>
          <a:xfrm>
            <a:off x="658368" y="667512"/>
            <a:ext cx="10744200" cy="430887"/>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Aptos"/>
                <a:ea typeface="+mn-ea"/>
                <a:cs typeface="+mn-cs"/>
              </a:rPr>
              <a:t>Building precise agent skills</a:t>
            </a:r>
            <a:endParaRPr kumimoji="0" sz="2800" b="1" i="0" u="none" strike="noStrike" kern="1200" cap="none" spc="0" normalizeH="0" baseline="0" noProof="0" dirty="0">
              <a:ln>
                <a:noFill/>
              </a:ln>
              <a:solidFill>
                <a:srgbClr val="FFFFFF"/>
              </a:solidFill>
              <a:effectLst/>
              <a:uLnTx/>
              <a:uFillTx/>
              <a:latin typeface="Aptos"/>
              <a:ea typeface="+mn-ea"/>
              <a:cs typeface="+mn-cs"/>
            </a:endParaRP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576276"/>
                </a:solidFill>
                <a:effectLst/>
                <a:uLnTx/>
                <a:uFillTx/>
                <a:latin typeface="Aptos"/>
                <a:ea typeface="+mn-ea"/>
                <a:cs typeface="+mn-cs"/>
              </a:rPr>
              <a:t>04</a:t>
            </a:r>
          </a:p>
        </p:txBody>
      </p:sp>
      <p:sp>
        <p:nvSpPr>
          <p:cNvPr id="6" name="TextBox 5"/>
          <p:cNvSpPr txBox="1"/>
          <p:nvPr/>
        </p:nvSpPr>
        <p:spPr>
          <a:xfrm>
            <a:off x="868680" y="1591056"/>
            <a:ext cx="4206240" cy="320040"/>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00B1D9"/>
                </a:solidFill>
                <a:effectLst/>
                <a:uLnTx/>
                <a:uFillTx/>
                <a:latin typeface="Aptos"/>
                <a:ea typeface="+mn-ea"/>
                <a:cs typeface="+mn-cs"/>
              </a:rPr>
              <a:t>MORE USEFUL</a:t>
            </a:r>
          </a:p>
        </p:txBody>
      </p:sp>
      <p:sp>
        <p:nvSpPr>
          <p:cNvPr id="7" name="TextBox 6"/>
          <p:cNvSpPr txBox="1"/>
          <p:nvPr/>
        </p:nvSpPr>
        <p:spPr>
          <a:xfrm>
            <a:off x="5623560" y="1481328"/>
            <a:ext cx="777240" cy="548640"/>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3400" b="1" i="0" u="none" strike="noStrike" kern="1200" cap="none" spc="0" normalizeH="0" baseline="0" noProof="0">
                <a:ln>
                  <a:noFill/>
                </a:ln>
                <a:solidFill>
                  <a:srgbClr val="00AA80"/>
                </a:solidFill>
                <a:effectLst/>
                <a:uLnTx/>
                <a:uFillTx/>
                <a:latin typeface="Aptos"/>
                <a:ea typeface="+mn-ea"/>
                <a:cs typeface="+mn-cs"/>
              </a:rPr>
              <a:t>+</a:t>
            </a:r>
          </a:p>
        </p:txBody>
      </p:sp>
      <p:sp>
        <p:nvSpPr>
          <p:cNvPr id="8" name="TextBox 7"/>
          <p:cNvSpPr txBox="1"/>
          <p:nvPr/>
        </p:nvSpPr>
        <p:spPr>
          <a:xfrm>
            <a:off x="6812280" y="1591056"/>
            <a:ext cx="4206240" cy="320040"/>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7E41E8"/>
                </a:solidFill>
                <a:effectLst/>
                <a:uLnTx/>
                <a:uFillTx/>
                <a:latin typeface="Aptos"/>
                <a:ea typeface="+mn-ea"/>
                <a:cs typeface="+mn-cs"/>
              </a:rPr>
              <a:t>MORE SECURE</a:t>
            </a:r>
          </a:p>
        </p:txBody>
      </p:sp>
      <p:sp>
        <p:nvSpPr>
          <p:cNvPr id="9" name="TextBox 8"/>
          <p:cNvSpPr txBox="1"/>
          <p:nvPr/>
        </p:nvSpPr>
        <p:spPr>
          <a:xfrm>
            <a:off x="868680" y="2304288"/>
            <a:ext cx="4315968" cy="21544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Clear purpose + quality bar</a:t>
            </a:r>
          </a:p>
        </p:txBody>
      </p:sp>
      <p:sp>
        <p:nvSpPr>
          <p:cNvPr id="10" name="TextBox 9"/>
          <p:cNvSpPr txBox="1"/>
          <p:nvPr/>
        </p:nvSpPr>
        <p:spPr>
          <a:xfrm>
            <a:off x="5623560" y="2276856"/>
            <a:ext cx="777240" cy="365760"/>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00AA80"/>
                </a:solidFill>
                <a:effectLst/>
                <a:uLnTx/>
                <a:uFillTx/>
                <a:latin typeface="Aptos"/>
                <a:ea typeface="+mn-ea"/>
                <a:cs typeface="+mn-cs"/>
              </a:rPr>
              <a:t>→</a:t>
            </a:r>
          </a:p>
        </p:txBody>
      </p:sp>
      <p:sp>
        <p:nvSpPr>
          <p:cNvPr id="11" name="TextBox 10"/>
          <p:cNvSpPr txBox="1"/>
          <p:nvPr/>
        </p:nvSpPr>
        <p:spPr>
          <a:xfrm>
            <a:off x="6812280" y="2304288"/>
            <a:ext cx="4315968" cy="21544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Less room for injected instructions</a:t>
            </a:r>
          </a:p>
        </p:txBody>
      </p:sp>
      <p:sp>
        <p:nvSpPr>
          <p:cNvPr id="12" name="Rectangle 11"/>
          <p:cNvSpPr/>
          <p:nvPr/>
        </p:nvSpPr>
        <p:spPr>
          <a:xfrm>
            <a:off x="868680" y="2761488"/>
            <a:ext cx="10259568"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sz="1765" b="0" i="0" u="none" strike="noStrike" kern="1200" cap="none" spc="0" normalizeH="0" baseline="0" noProof="0">
              <a:ln>
                <a:noFill/>
              </a:ln>
              <a:solidFill>
                <a:srgbClr val="FFFFFF"/>
              </a:solidFill>
              <a:effectLst/>
              <a:uLnTx/>
              <a:uFillTx/>
              <a:latin typeface="Calibri"/>
              <a:ea typeface="+mn-ea"/>
              <a:cs typeface="+mn-cs"/>
            </a:endParaRPr>
          </a:p>
        </p:txBody>
      </p:sp>
      <p:sp>
        <p:nvSpPr>
          <p:cNvPr id="13" name="TextBox 12"/>
          <p:cNvSpPr txBox="1"/>
          <p:nvPr/>
        </p:nvSpPr>
        <p:spPr>
          <a:xfrm>
            <a:off x="868680" y="3026664"/>
            <a:ext cx="4315968" cy="21544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Relevant expert context</a:t>
            </a:r>
          </a:p>
        </p:txBody>
      </p:sp>
      <p:sp>
        <p:nvSpPr>
          <p:cNvPr id="14" name="TextBox 13"/>
          <p:cNvSpPr txBox="1"/>
          <p:nvPr/>
        </p:nvSpPr>
        <p:spPr>
          <a:xfrm>
            <a:off x="5623560" y="2999232"/>
            <a:ext cx="777240" cy="365760"/>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00AA80"/>
                </a:solidFill>
                <a:effectLst/>
                <a:uLnTx/>
                <a:uFillTx/>
                <a:latin typeface="Aptos"/>
                <a:ea typeface="+mn-ea"/>
                <a:cs typeface="+mn-cs"/>
              </a:rPr>
              <a:t>→</a:t>
            </a:r>
          </a:p>
        </p:txBody>
      </p:sp>
      <p:sp>
        <p:nvSpPr>
          <p:cNvPr id="15" name="TextBox 14"/>
          <p:cNvSpPr txBox="1"/>
          <p:nvPr/>
        </p:nvSpPr>
        <p:spPr>
          <a:xfrm>
            <a:off x="6812280" y="3026664"/>
            <a:ext cx="4315968" cy="21544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Fewer unnecessary </a:t>
            </a:r>
            <a:r>
              <a:rPr kumimoji="0" lang="en-US" sz="1400" b="1" i="0" u="none" strike="noStrike" kern="1200" cap="none" spc="0" normalizeH="0" baseline="0" noProof="0" dirty="0">
                <a:ln>
                  <a:noFill/>
                </a:ln>
                <a:solidFill>
                  <a:srgbClr val="FFFFFF"/>
                </a:solidFill>
                <a:effectLst/>
                <a:uLnTx/>
                <a:uFillTx/>
                <a:latin typeface="Aptos"/>
                <a:ea typeface="+mn-ea"/>
                <a:cs typeface="+mn-cs"/>
              </a:rPr>
              <a:t>resources and </a:t>
            </a:r>
            <a:r>
              <a:rPr kumimoji="0" sz="1400" b="1" i="0" u="none" strike="noStrike" kern="1200" cap="none" spc="0" normalizeH="0" baseline="0" noProof="0" dirty="0">
                <a:ln>
                  <a:noFill/>
                </a:ln>
                <a:solidFill>
                  <a:srgbClr val="FFFFFF"/>
                </a:solidFill>
                <a:effectLst/>
                <a:uLnTx/>
                <a:uFillTx/>
                <a:latin typeface="Aptos"/>
                <a:ea typeface="+mn-ea"/>
                <a:cs typeface="+mn-cs"/>
              </a:rPr>
              <a:t>secrets</a:t>
            </a:r>
          </a:p>
        </p:txBody>
      </p:sp>
      <p:sp>
        <p:nvSpPr>
          <p:cNvPr id="16" name="Rectangle 15"/>
          <p:cNvSpPr/>
          <p:nvPr/>
        </p:nvSpPr>
        <p:spPr>
          <a:xfrm>
            <a:off x="868680" y="3483864"/>
            <a:ext cx="10259568"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sz="1765" b="0" i="0" u="none" strike="noStrike" kern="1200" cap="none" spc="0" normalizeH="0" baseline="0" noProof="0">
              <a:ln>
                <a:noFill/>
              </a:ln>
              <a:solidFill>
                <a:srgbClr val="FFFFFF"/>
              </a:solidFill>
              <a:effectLst/>
              <a:uLnTx/>
              <a:uFillTx/>
              <a:latin typeface="Calibri"/>
              <a:ea typeface="+mn-ea"/>
              <a:cs typeface="+mn-cs"/>
            </a:endParaRPr>
          </a:p>
        </p:txBody>
      </p:sp>
      <p:sp>
        <p:nvSpPr>
          <p:cNvPr id="17" name="TextBox 16"/>
          <p:cNvSpPr txBox="1"/>
          <p:nvPr/>
        </p:nvSpPr>
        <p:spPr>
          <a:xfrm>
            <a:off x="868680" y="3749039"/>
            <a:ext cx="4315968" cy="21544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Consistent inputs + outputs</a:t>
            </a:r>
          </a:p>
        </p:txBody>
      </p:sp>
      <p:sp>
        <p:nvSpPr>
          <p:cNvPr id="18" name="TextBox 17"/>
          <p:cNvSpPr txBox="1"/>
          <p:nvPr/>
        </p:nvSpPr>
        <p:spPr>
          <a:xfrm>
            <a:off x="5623560" y="3721607"/>
            <a:ext cx="777240" cy="365760"/>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00AA80"/>
                </a:solidFill>
                <a:effectLst/>
                <a:uLnTx/>
                <a:uFillTx/>
                <a:latin typeface="Aptos"/>
                <a:ea typeface="+mn-ea"/>
                <a:cs typeface="+mn-cs"/>
              </a:rPr>
              <a:t>→</a:t>
            </a:r>
          </a:p>
        </p:txBody>
      </p:sp>
      <p:sp>
        <p:nvSpPr>
          <p:cNvPr id="19" name="TextBox 18"/>
          <p:cNvSpPr txBox="1"/>
          <p:nvPr/>
        </p:nvSpPr>
        <p:spPr>
          <a:xfrm>
            <a:off x="6812280" y="3749039"/>
            <a:ext cx="4315968" cy="21544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Actions are easier to review</a:t>
            </a:r>
          </a:p>
        </p:txBody>
      </p:sp>
      <p:sp>
        <p:nvSpPr>
          <p:cNvPr id="20" name="Rectangle 19"/>
          <p:cNvSpPr/>
          <p:nvPr/>
        </p:nvSpPr>
        <p:spPr>
          <a:xfrm>
            <a:off x="868680" y="4206240"/>
            <a:ext cx="10259568"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sz="1765" b="0" i="0" u="none" strike="noStrike" kern="1200" cap="none" spc="0" normalizeH="0" baseline="0" noProof="0">
              <a:ln>
                <a:noFill/>
              </a:ln>
              <a:solidFill>
                <a:srgbClr val="FFFFFF"/>
              </a:solidFill>
              <a:effectLst/>
              <a:uLnTx/>
              <a:uFillTx/>
              <a:latin typeface="Calibri"/>
              <a:ea typeface="+mn-ea"/>
              <a:cs typeface="+mn-cs"/>
            </a:endParaRPr>
          </a:p>
        </p:txBody>
      </p:sp>
      <p:sp>
        <p:nvSpPr>
          <p:cNvPr id="21" name="TextBox 20"/>
          <p:cNvSpPr txBox="1"/>
          <p:nvPr/>
        </p:nvSpPr>
        <p:spPr>
          <a:xfrm>
            <a:off x="868680" y="4471416"/>
            <a:ext cx="4315968" cy="21544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Predictable </a:t>
            </a:r>
            <a:r>
              <a:rPr kumimoji="0" lang="en-US" sz="1400" b="1" i="0" u="none" strike="noStrike" kern="1200" cap="none" spc="0" normalizeH="0" baseline="0" noProof="0" dirty="0">
                <a:ln>
                  <a:noFill/>
                </a:ln>
                <a:solidFill>
                  <a:srgbClr val="FFFFFF"/>
                </a:solidFill>
                <a:effectLst/>
                <a:uLnTx/>
                <a:uFillTx/>
                <a:latin typeface="Aptos"/>
                <a:ea typeface="+mn-ea"/>
                <a:cs typeface="+mn-cs"/>
              </a:rPr>
              <a:t>fail</a:t>
            </a:r>
            <a:r>
              <a:rPr kumimoji="0" sz="1400" b="1" i="0" u="none" strike="noStrike" kern="1200" cap="none" spc="0" normalizeH="0" baseline="0" noProof="0" dirty="0">
                <a:ln>
                  <a:noFill/>
                </a:ln>
                <a:solidFill>
                  <a:srgbClr val="FFFFFF"/>
                </a:solidFill>
                <a:effectLst/>
                <a:uLnTx/>
                <a:uFillTx/>
                <a:latin typeface="Aptos"/>
                <a:ea typeface="+mn-ea"/>
                <a:cs typeface="+mn-cs"/>
              </a:rPr>
              <a:t> condition</a:t>
            </a:r>
          </a:p>
        </p:txBody>
      </p:sp>
      <p:sp>
        <p:nvSpPr>
          <p:cNvPr id="22" name="TextBox 21"/>
          <p:cNvSpPr txBox="1"/>
          <p:nvPr/>
        </p:nvSpPr>
        <p:spPr>
          <a:xfrm>
            <a:off x="5623560" y="4443984"/>
            <a:ext cx="777240" cy="365760"/>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sz="2000" b="1" i="0" u="none" strike="noStrike" kern="1200" cap="none" spc="0" normalizeH="0" baseline="0" noProof="0">
                <a:ln>
                  <a:noFill/>
                </a:ln>
                <a:solidFill>
                  <a:srgbClr val="00AA80"/>
                </a:solidFill>
                <a:effectLst/>
                <a:uLnTx/>
                <a:uFillTx/>
                <a:latin typeface="Aptos"/>
                <a:ea typeface="+mn-ea"/>
                <a:cs typeface="+mn-cs"/>
              </a:rPr>
              <a:t>→</a:t>
            </a:r>
          </a:p>
        </p:txBody>
      </p:sp>
      <p:sp>
        <p:nvSpPr>
          <p:cNvPr id="23" name="TextBox 22"/>
          <p:cNvSpPr txBox="1"/>
          <p:nvPr/>
        </p:nvSpPr>
        <p:spPr>
          <a:xfrm>
            <a:off x="6812280" y="4471416"/>
            <a:ext cx="4315968" cy="21544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ptos"/>
                <a:ea typeface="+mn-ea"/>
                <a:cs typeface="+mn-cs"/>
              </a:rPr>
              <a:t>Narrower file and tool use</a:t>
            </a:r>
          </a:p>
        </p:txBody>
      </p:sp>
      <p:sp>
        <p:nvSpPr>
          <p:cNvPr id="24" name="Rectangle 23"/>
          <p:cNvSpPr/>
          <p:nvPr/>
        </p:nvSpPr>
        <p:spPr>
          <a:xfrm>
            <a:off x="868680" y="4928616"/>
            <a:ext cx="10259568" cy="1097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sz="1765" b="0" i="0" u="none" strike="noStrike" kern="1200" cap="none" spc="0" normalizeH="0" baseline="0" noProof="0">
              <a:ln>
                <a:noFill/>
              </a:ln>
              <a:solidFill>
                <a:srgbClr val="FFFFFF"/>
              </a:solidFill>
              <a:effectLst/>
              <a:uLnTx/>
              <a:uFillTx/>
              <a:latin typeface="Calibri"/>
              <a:ea typeface="+mn-ea"/>
              <a:cs typeface="+mn-cs"/>
            </a:endParaRPr>
          </a:p>
        </p:txBody>
      </p:sp>
      <p:sp>
        <p:nvSpPr>
          <p:cNvPr id="25" name="Rectangle 24"/>
          <p:cNvSpPr/>
          <p:nvPr/>
        </p:nvSpPr>
        <p:spPr>
          <a:xfrm>
            <a:off x="1508760" y="5486400"/>
            <a:ext cx="9171432" cy="594360"/>
          </a:xfrm>
          <a:prstGeom prst="rect">
            <a:avLst/>
          </a:prstGeom>
          <a:solidFill>
            <a:srgbClr val="3361E1"/>
          </a:solidFill>
          <a:ln>
            <a:solidFill>
              <a:srgbClr val="3361E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sz="1765" b="0" i="0" u="none" strike="noStrike" kern="1200" cap="none" spc="0" normalizeH="0" baseline="0" noProof="0" dirty="0">
              <a:ln>
                <a:noFill/>
              </a:ln>
              <a:solidFill>
                <a:srgbClr val="FFFFFF"/>
              </a:solidFill>
              <a:effectLst/>
              <a:uLnTx/>
              <a:uFillTx/>
              <a:latin typeface="Calibri"/>
              <a:ea typeface="+mn-ea"/>
              <a:cs typeface="+mn-cs"/>
            </a:endParaRPr>
          </a:p>
        </p:txBody>
      </p:sp>
      <p:sp>
        <p:nvSpPr>
          <p:cNvPr id="26" name="TextBox 25"/>
          <p:cNvSpPr txBox="1"/>
          <p:nvPr/>
        </p:nvSpPr>
        <p:spPr>
          <a:xfrm>
            <a:off x="1737360" y="5669280"/>
            <a:ext cx="8732520" cy="184666"/>
          </a:xfrm>
          <a:prstGeom prst="rect">
            <a:avLst/>
          </a:prstGeom>
          <a:noFill/>
        </p:spPr>
        <p:txBody>
          <a:bodyPr wrap="square" lIns="0" tIns="0" rIns="0" bIns="0" anchor="t">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ptos"/>
                <a:ea typeface="+mn-ea"/>
                <a:cs typeface="+mn-cs"/>
              </a:rPr>
              <a:t>Security that requires perfect behavior from busy people will lose. Good skills make the safer path the faster path.</a:t>
            </a:r>
            <a:endParaRPr kumimoji="0" sz="1200" b="1" i="0" u="none" strike="noStrike" kern="1200" cap="none" spc="0" normalizeH="0" baseline="0" noProof="0" dirty="0">
              <a:ln>
                <a:noFill/>
              </a:ln>
              <a:solidFill>
                <a:srgbClr val="FFFFFF"/>
              </a:solidFill>
              <a:effectLst/>
              <a:uLnTx/>
              <a:uFillTx/>
              <a:latin typeface="Aptos"/>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1A812CC-F590-95B6-B822-A5AF354951C0}"/>
            </a:ext>
          </a:extLst>
        </p:cNvPr>
        <p:cNvGrpSpPr/>
        <p:nvPr/>
      </p:nvGrpSpPr>
      <p:grpSpPr>
        <a:xfrm>
          <a:off x="0" y="0"/>
          <a:ext cx="0" cy="0"/>
          <a:chOff x="0" y="0"/>
          <a:chExt cx="0" cy="0"/>
        </a:xfrm>
      </p:grpSpPr>
      <p:pic>
        <p:nvPicPr>
          <p:cNvPr id="2" name="Picture 1" descr="image1.jpeg">
            <a:extLst>
              <a:ext uri="{FF2B5EF4-FFF2-40B4-BE49-F238E27FC236}">
                <a16:creationId xmlns:a16="http://schemas.microsoft.com/office/drawing/2014/main" id="{805CC544-E24C-5AD9-4CD1-69A9B45BF2EC}"/>
              </a:ext>
            </a:extLst>
          </p:cNvPr>
          <p:cNvPicPr>
            <a:picLocks noChangeAspect="1"/>
          </p:cNvPicPr>
          <p:nvPr/>
        </p:nvPicPr>
        <p:blipFill>
          <a:blip r:embed="rId2"/>
          <a:stretch>
            <a:fillRect/>
          </a:stretch>
        </p:blipFill>
        <p:spPr>
          <a:xfrm>
            <a:off x="0" y="0"/>
            <a:ext cx="12191695" cy="6858000"/>
          </a:xfrm>
          <a:prstGeom prst="rect">
            <a:avLst/>
          </a:prstGeom>
        </p:spPr>
      </p:pic>
      <p:sp>
        <p:nvSpPr>
          <p:cNvPr id="3" name="TextBox 2">
            <a:extLst>
              <a:ext uri="{FF2B5EF4-FFF2-40B4-BE49-F238E27FC236}">
                <a16:creationId xmlns:a16="http://schemas.microsoft.com/office/drawing/2014/main" id="{C6BA7AA7-703E-408F-2A0D-97E8EA63CB72}"/>
              </a:ext>
            </a:extLst>
          </p:cNvPr>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4" name="TextBox 3">
            <a:extLst>
              <a:ext uri="{FF2B5EF4-FFF2-40B4-BE49-F238E27FC236}">
                <a16:creationId xmlns:a16="http://schemas.microsoft.com/office/drawing/2014/main" id="{C448C3B7-9D88-5E2F-5005-032512A18CD1}"/>
              </a:ext>
            </a:extLst>
          </p:cNvPr>
          <p:cNvSpPr txBox="1"/>
          <p:nvPr/>
        </p:nvSpPr>
        <p:spPr>
          <a:xfrm>
            <a:off x="11091672" y="6473952"/>
            <a:ext cx="438912" cy="123111"/>
          </a:xfrm>
          <a:prstGeom prst="rect">
            <a:avLst/>
          </a:prstGeom>
          <a:noFill/>
        </p:spPr>
        <p:txBody>
          <a:bodyPr wrap="square" lIns="0" tIns="0" rIns="0" bIns="0" anchor="t">
            <a:spAutoFit/>
          </a:bodyPr>
          <a:lstStyle/>
          <a:p>
            <a:pPr algn="r"/>
            <a:r>
              <a:rPr lang="en-US" sz="800" b="1">
                <a:solidFill>
                  <a:srgbClr val="B2BCD3"/>
                </a:solidFill>
                <a:latin typeface="Aptos"/>
              </a:rPr>
              <a:t>23</a:t>
            </a:r>
            <a:endParaRPr sz="800" b="1">
              <a:solidFill>
                <a:srgbClr val="B2BCD3"/>
              </a:solidFill>
              <a:latin typeface="Aptos"/>
            </a:endParaRPr>
          </a:p>
        </p:txBody>
      </p:sp>
      <p:pic>
        <p:nvPicPr>
          <p:cNvPr id="12" name="Picture 11" descr="A GitHub repository page listing a security review process for a software project, including a list of files to audit and steps for checking and fixing vulnerabilities.&#10;&#10;AI-generated content may be incorrect.">
            <a:extLst>
              <a:ext uri="{FF2B5EF4-FFF2-40B4-BE49-F238E27FC236}">
                <a16:creationId xmlns:a16="http://schemas.microsoft.com/office/drawing/2014/main" id="{A20743A0-E8F7-DF60-E441-99AF0C0C761B}"/>
              </a:ext>
            </a:extLst>
          </p:cNvPr>
          <p:cNvPicPr>
            <a:picLocks noChangeAspect="1"/>
          </p:cNvPicPr>
          <p:nvPr/>
        </p:nvPicPr>
        <p:blipFill>
          <a:blip r:embed="rId3"/>
          <a:stretch>
            <a:fillRect/>
          </a:stretch>
        </p:blipFill>
        <p:spPr>
          <a:xfrm>
            <a:off x="0" y="370249"/>
            <a:ext cx="12192000" cy="5733454"/>
          </a:xfrm>
          <a:prstGeom prst="rect">
            <a:avLst/>
          </a:prstGeom>
        </p:spPr>
      </p:pic>
    </p:spTree>
    <p:extLst>
      <p:ext uri="{BB962C8B-B14F-4D97-AF65-F5344CB8AC3E}">
        <p14:creationId xmlns:p14="http://schemas.microsoft.com/office/powerpoint/2010/main" val="22097600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D864C2B-FB14-88C0-BCC5-822038695E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33BEFC-8661-1FFC-1F9E-BB311DA67936}"/>
              </a:ext>
            </a:extLst>
          </p:cNvPr>
          <p:cNvSpPr txBox="1"/>
          <p:nvPr/>
        </p:nvSpPr>
        <p:spPr>
          <a:xfrm>
            <a:off x="658368" y="667512"/>
            <a:ext cx="10744200" cy="430887"/>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8FFFD"/>
                </a:solidFill>
                <a:effectLst/>
                <a:uLnTx/>
                <a:uFillTx/>
                <a:latin typeface="Aptos"/>
                <a:ea typeface="+mn-ea"/>
                <a:cs typeface="+mn-cs"/>
              </a:rPr>
              <a:t>Progressive Disclosure (Source: Anthropic)</a:t>
            </a:r>
            <a:endParaRPr kumimoji="0" sz="2800" b="1" i="0" u="none" strike="noStrike" kern="1200" cap="none" spc="0" normalizeH="0" baseline="0" noProof="0" dirty="0">
              <a:ln>
                <a:noFill/>
              </a:ln>
              <a:solidFill>
                <a:srgbClr val="F8FFFD"/>
              </a:solidFill>
              <a:effectLst/>
              <a:uLnTx/>
              <a:uFillTx/>
              <a:latin typeface="Aptos"/>
              <a:ea typeface="+mn-ea"/>
              <a:cs typeface="+mn-cs"/>
            </a:endParaRPr>
          </a:p>
        </p:txBody>
      </p:sp>
      <p:sp>
        <p:nvSpPr>
          <p:cNvPr id="4" name="TextBox 3">
            <a:extLst>
              <a:ext uri="{FF2B5EF4-FFF2-40B4-BE49-F238E27FC236}">
                <a16:creationId xmlns:a16="http://schemas.microsoft.com/office/drawing/2014/main" id="{B41C7D1D-65CF-CF9F-3AE4-8AF88F0C29E9}"/>
              </a:ext>
            </a:extLst>
          </p:cNvPr>
          <p:cNvSpPr txBox="1"/>
          <p:nvPr/>
        </p:nvSpPr>
        <p:spPr>
          <a:xfrm>
            <a:off x="11091672" y="6473952"/>
            <a:ext cx="438912" cy="164592"/>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0" normalizeH="0" baseline="0" noProof="0">
                <a:ln>
                  <a:noFill/>
                </a:ln>
                <a:solidFill>
                  <a:srgbClr val="576276"/>
                </a:solidFill>
                <a:effectLst/>
                <a:uLnTx/>
                <a:uFillTx/>
                <a:latin typeface="Aptos"/>
                <a:ea typeface="+mn-ea"/>
                <a:cs typeface="+mn-cs"/>
              </a:rPr>
              <a:t>11</a:t>
            </a:r>
          </a:p>
        </p:txBody>
      </p:sp>
      <p:sp>
        <p:nvSpPr>
          <p:cNvPr id="7" name="TextBox 6">
            <a:extLst>
              <a:ext uri="{FF2B5EF4-FFF2-40B4-BE49-F238E27FC236}">
                <a16:creationId xmlns:a16="http://schemas.microsoft.com/office/drawing/2014/main" id="{CA2D4C2F-D2B8-825E-918F-78A1472083A3}"/>
              </a:ext>
            </a:extLst>
          </p:cNvPr>
          <p:cNvSpPr txBox="1"/>
          <p:nvPr/>
        </p:nvSpPr>
        <p:spPr>
          <a:xfrm>
            <a:off x="1459522" y="1477851"/>
            <a:ext cx="8161215" cy="3539430"/>
          </a:xfrm>
          <a:prstGeom prst="rect">
            <a:avLst/>
          </a:prstGeom>
          <a:noFill/>
        </p:spPr>
        <p:txBody>
          <a:bodyPr wrap="square">
            <a:spAutoFit/>
          </a:bodyPr>
          <a:lstStyle/>
          <a:p>
            <a:pPr marL="0" marR="0" indent="0" algn="l">
              <a:buNone/>
            </a:pPr>
            <a:r>
              <a:rPr lang="en-US" sz="2800" b="1" i="0" dirty="0">
                <a:solidFill>
                  <a:schemeClr val="bg1"/>
                </a:solidFill>
                <a:effectLst/>
                <a:latin typeface="+mn-lt"/>
              </a:rPr>
              <a:t>Progressive Disclosure System</a:t>
            </a:r>
          </a:p>
          <a:p>
            <a:pPr marL="342900" marR="0" lvl="0" indent="-342900" algn="l">
              <a:buFont typeface="Arial" panose="020B0604020202020204" pitchFamily="34" charset="0"/>
              <a:buChar char="•"/>
            </a:pPr>
            <a:r>
              <a:rPr lang="en-US" sz="2800" b="1" i="0" dirty="0">
                <a:solidFill>
                  <a:schemeClr val="bg1"/>
                </a:solidFill>
                <a:effectLst/>
                <a:latin typeface="+mn-lt"/>
              </a:rPr>
              <a:t>Metadata Layer (Frontmatter)</a:t>
            </a:r>
            <a:r>
              <a:rPr lang="en-US" sz="2800" b="0" i="0" dirty="0">
                <a:solidFill>
                  <a:schemeClr val="bg1"/>
                </a:solidFill>
                <a:effectLst/>
                <a:latin typeface="+mn-lt"/>
              </a:rPr>
              <a:t>: Always active or indexable for routing decisions.</a:t>
            </a:r>
          </a:p>
          <a:p>
            <a:pPr marL="342900" marR="0" lvl="0" indent="-342900" algn="l">
              <a:buFont typeface="Arial" panose="020B0604020202020204" pitchFamily="34" charset="0"/>
              <a:buChar char="•"/>
            </a:pPr>
            <a:r>
              <a:rPr lang="en-US" sz="2800" b="1" i="0" dirty="0">
                <a:solidFill>
                  <a:schemeClr val="bg1"/>
                </a:solidFill>
                <a:effectLst/>
                <a:latin typeface="+mn-lt"/>
              </a:rPr>
              <a:t>Instruction Body</a:t>
            </a:r>
            <a:r>
              <a:rPr lang="en-US" sz="2800" b="0" i="0" dirty="0">
                <a:solidFill>
                  <a:schemeClr val="bg1"/>
                </a:solidFill>
                <a:effectLst/>
                <a:latin typeface="+mn-lt"/>
              </a:rPr>
              <a:t>: Dynamically loaded into context only when the skill is invoked </a:t>
            </a:r>
            <a:r>
              <a:rPr lang="en-US" sz="2800" b="0" i="0" u="sng" dirty="0">
                <a:solidFill>
                  <a:schemeClr val="bg1"/>
                </a:solidFill>
                <a:effectLst/>
                <a:latin typeface="+mn-lt"/>
                <a:hlinkClick r:id="rId3">
                  <a:extLst>
                    <a:ext uri="{A12FA001-AC4F-418D-AE19-62706E023703}">
                      <ahyp:hlinkClr xmlns:ahyp="http://schemas.microsoft.com/office/drawing/2018/hyperlinkcolor" val="tx"/>
                    </a:ext>
                  </a:extLst>
                </a:hlinkClick>
              </a:rPr>
              <a:t>README.md6-11</a:t>
            </a:r>
            <a:endParaRPr lang="en-US" sz="2800" b="0" i="0" dirty="0">
              <a:solidFill>
                <a:schemeClr val="bg1"/>
              </a:solidFill>
              <a:effectLst/>
              <a:latin typeface="+mn-lt"/>
            </a:endParaRPr>
          </a:p>
          <a:p>
            <a:pPr marL="342900" marR="0" lvl="0" indent="-342900" algn="l">
              <a:buFont typeface="Arial" panose="020B0604020202020204" pitchFamily="34" charset="0"/>
              <a:buChar char="•"/>
            </a:pPr>
            <a:r>
              <a:rPr lang="en-US" sz="2800" b="1" i="0" dirty="0">
                <a:solidFill>
                  <a:schemeClr val="bg1"/>
                </a:solidFill>
                <a:effectLst/>
                <a:latin typeface="+mn-lt"/>
              </a:rPr>
              <a:t>Bundled Resources</a:t>
            </a:r>
            <a:r>
              <a:rPr lang="en-US" sz="2800" b="0" i="0" dirty="0">
                <a:solidFill>
                  <a:schemeClr val="bg1"/>
                </a:solidFill>
                <a:effectLst/>
                <a:latin typeface="+mn-lt"/>
              </a:rPr>
              <a:t>: Reference scripts, templates, and assets embedded in the skill folder that Claude can access via tool calls as needed </a:t>
            </a:r>
            <a:r>
              <a:rPr lang="en-US" sz="2800" b="0" i="0" u="sng" dirty="0">
                <a:solidFill>
                  <a:schemeClr val="bg1"/>
                </a:solidFill>
                <a:effectLst/>
                <a:latin typeface="+mn-lt"/>
                <a:hlinkClick r:id="rId4">
                  <a:extLst>
                    <a:ext uri="{A12FA001-AC4F-418D-AE19-62706E023703}">
                      <ahyp:hlinkClr xmlns:ahyp="http://schemas.microsoft.com/office/drawing/2018/hyperlinkcolor" val="tx"/>
                    </a:ext>
                  </a:extLst>
                </a:hlinkClick>
              </a:rPr>
              <a:t>README.md6</a:t>
            </a:r>
            <a:endParaRPr lang="en-US" sz="2800" b="0" i="0" dirty="0">
              <a:solidFill>
                <a:schemeClr val="bg1"/>
              </a:solidFill>
              <a:effectLst/>
              <a:latin typeface="Geist"/>
            </a:endParaRPr>
          </a:p>
        </p:txBody>
      </p:sp>
    </p:spTree>
    <p:extLst>
      <p:ext uri="{BB962C8B-B14F-4D97-AF65-F5344CB8AC3E}">
        <p14:creationId xmlns:p14="http://schemas.microsoft.com/office/powerpoint/2010/main" val="15096968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919F09B-A190-D13E-BB04-5AB170C0194B}"/>
            </a:ext>
          </a:extLst>
        </p:cNvPr>
        <p:cNvGrpSpPr/>
        <p:nvPr/>
      </p:nvGrpSpPr>
      <p:grpSpPr>
        <a:xfrm>
          <a:off x="0" y="0"/>
          <a:ext cx="0" cy="0"/>
          <a:chOff x="0" y="0"/>
          <a:chExt cx="0" cy="0"/>
        </a:xfrm>
      </p:grpSpPr>
      <p:pic>
        <p:nvPicPr>
          <p:cNvPr id="2" name="Picture 1" descr="image1.jpeg">
            <a:extLst>
              <a:ext uri="{FF2B5EF4-FFF2-40B4-BE49-F238E27FC236}">
                <a16:creationId xmlns:a16="http://schemas.microsoft.com/office/drawing/2014/main" id="{16E54D48-EDC3-6843-8ABF-1FAEC563B3BD}"/>
              </a:ext>
            </a:extLst>
          </p:cNvPr>
          <p:cNvPicPr>
            <a:picLocks noChangeAspect="1"/>
          </p:cNvPicPr>
          <p:nvPr/>
        </p:nvPicPr>
        <p:blipFill>
          <a:blip r:embed="rId2"/>
          <a:stretch>
            <a:fillRect/>
          </a:stretch>
        </p:blipFill>
        <p:spPr>
          <a:xfrm>
            <a:off x="0" y="0"/>
            <a:ext cx="12191695" cy="6858000"/>
          </a:xfrm>
          <a:prstGeom prst="rect">
            <a:avLst/>
          </a:prstGeom>
        </p:spPr>
      </p:pic>
      <p:sp>
        <p:nvSpPr>
          <p:cNvPr id="3" name="TextBox 2">
            <a:extLst>
              <a:ext uri="{FF2B5EF4-FFF2-40B4-BE49-F238E27FC236}">
                <a16:creationId xmlns:a16="http://schemas.microsoft.com/office/drawing/2014/main" id="{10E0F59E-3864-CEE9-D007-9F268266BBA8}"/>
              </a:ext>
            </a:extLst>
          </p:cNvPr>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4" name="TextBox 3">
            <a:extLst>
              <a:ext uri="{FF2B5EF4-FFF2-40B4-BE49-F238E27FC236}">
                <a16:creationId xmlns:a16="http://schemas.microsoft.com/office/drawing/2014/main" id="{CACD527C-1F7E-637A-724F-7D65672436AE}"/>
              </a:ext>
            </a:extLst>
          </p:cNvPr>
          <p:cNvSpPr txBox="1"/>
          <p:nvPr/>
        </p:nvSpPr>
        <p:spPr>
          <a:xfrm>
            <a:off x="11091672" y="6473952"/>
            <a:ext cx="438912" cy="123111"/>
          </a:xfrm>
          <a:prstGeom prst="rect">
            <a:avLst/>
          </a:prstGeom>
          <a:noFill/>
        </p:spPr>
        <p:txBody>
          <a:bodyPr wrap="square" lIns="0" tIns="0" rIns="0" bIns="0" anchor="t">
            <a:spAutoFit/>
          </a:bodyPr>
          <a:lstStyle/>
          <a:p>
            <a:pPr algn="r"/>
            <a:r>
              <a:rPr lang="en-US" sz="800" b="1">
                <a:solidFill>
                  <a:srgbClr val="B2BCD3"/>
                </a:solidFill>
                <a:latin typeface="Aptos"/>
              </a:rPr>
              <a:t>23</a:t>
            </a:r>
            <a:endParaRPr sz="800" b="1">
              <a:solidFill>
                <a:srgbClr val="B2BCD3"/>
              </a:solidFill>
              <a:latin typeface="Aptos"/>
            </a:endParaRPr>
          </a:p>
        </p:txBody>
      </p:sp>
      <p:pic>
        <p:nvPicPr>
          <p:cNvPr id="6" name="Picture 5" descr="The image shows a command line interface with various Git commands and terminal messages indicating the execution of security audit fixes and status checks in a software repository.&#10;&#10;AI-generated content may be incorrect.">
            <a:extLst>
              <a:ext uri="{FF2B5EF4-FFF2-40B4-BE49-F238E27FC236}">
                <a16:creationId xmlns:a16="http://schemas.microsoft.com/office/drawing/2014/main" id="{71CB45BE-B6BA-5C5C-0C30-4B5118067B71}"/>
              </a:ext>
            </a:extLst>
          </p:cNvPr>
          <p:cNvPicPr>
            <a:picLocks noChangeAspect="1"/>
          </p:cNvPicPr>
          <p:nvPr/>
        </p:nvPicPr>
        <p:blipFill>
          <a:blip r:embed="rId3"/>
          <a:stretch>
            <a:fillRect/>
          </a:stretch>
        </p:blipFill>
        <p:spPr>
          <a:xfrm>
            <a:off x="0" y="1216314"/>
            <a:ext cx="12192000" cy="3846468"/>
          </a:xfrm>
          <a:prstGeom prst="rect">
            <a:avLst/>
          </a:prstGeom>
        </p:spPr>
      </p:pic>
    </p:spTree>
    <p:extLst>
      <p:ext uri="{BB962C8B-B14F-4D97-AF65-F5344CB8AC3E}">
        <p14:creationId xmlns:p14="http://schemas.microsoft.com/office/powerpoint/2010/main" val="41858058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5E1812A-50CB-066B-60DE-5D6D11ECD6B9}"/>
            </a:ext>
          </a:extLst>
        </p:cNvPr>
        <p:cNvGrpSpPr/>
        <p:nvPr/>
      </p:nvGrpSpPr>
      <p:grpSpPr>
        <a:xfrm>
          <a:off x="0" y="0"/>
          <a:ext cx="0" cy="0"/>
          <a:chOff x="0" y="0"/>
          <a:chExt cx="0" cy="0"/>
        </a:xfrm>
      </p:grpSpPr>
      <p:pic>
        <p:nvPicPr>
          <p:cNvPr id="2" name="Picture 1" descr="image1.jpeg">
            <a:extLst>
              <a:ext uri="{FF2B5EF4-FFF2-40B4-BE49-F238E27FC236}">
                <a16:creationId xmlns:a16="http://schemas.microsoft.com/office/drawing/2014/main" id="{C376301E-4389-076A-6C38-40508159D94F}"/>
              </a:ext>
            </a:extLst>
          </p:cNvPr>
          <p:cNvPicPr>
            <a:picLocks noChangeAspect="1"/>
          </p:cNvPicPr>
          <p:nvPr/>
        </p:nvPicPr>
        <p:blipFill>
          <a:blip r:embed="rId2"/>
          <a:stretch>
            <a:fillRect/>
          </a:stretch>
        </p:blipFill>
        <p:spPr>
          <a:xfrm>
            <a:off x="0" y="0"/>
            <a:ext cx="12191695" cy="6858000"/>
          </a:xfrm>
          <a:prstGeom prst="rect">
            <a:avLst/>
          </a:prstGeom>
        </p:spPr>
      </p:pic>
      <p:sp>
        <p:nvSpPr>
          <p:cNvPr id="3" name="TextBox 2">
            <a:extLst>
              <a:ext uri="{FF2B5EF4-FFF2-40B4-BE49-F238E27FC236}">
                <a16:creationId xmlns:a16="http://schemas.microsoft.com/office/drawing/2014/main" id="{D1D28271-C22C-DA3E-D9DE-373594FDF270}"/>
              </a:ext>
            </a:extLst>
          </p:cNvPr>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4" name="TextBox 3">
            <a:extLst>
              <a:ext uri="{FF2B5EF4-FFF2-40B4-BE49-F238E27FC236}">
                <a16:creationId xmlns:a16="http://schemas.microsoft.com/office/drawing/2014/main" id="{B9E726E0-C9C2-D43F-7E49-FFFE3D3B19E3}"/>
              </a:ext>
            </a:extLst>
          </p:cNvPr>
          <p:cNvSpPr txBox="1"/>
          <p:nvPr/>
        </p:nvSpPr>
        <p:spPr>
          <a:xfrm>
            <a:off x="11091672" y="6473952"/>
            <a:ext cx="438912" cy="123111"/>
          </a:xfrm>
          <a:prstGeom prst="rect">
            <a:avLst/>
          </a:prstGeom>
          <a:noFill/>
        </p:spPr>
        <p:txBody>
          <a:bodyPr wrap="square" lIns="0" tIns="0" rIns="0" bIns="0" anchor="t">
            <a:spAutoFit/>
          </a:bodyPr>
          <a:lstStyle/>
          <a:p>
            <a:pPr algn="r"/>
            <a:r>
              <a:rPr lang="en-US" sz="800" b="1">
                <a:solidFill>
                  <a:srgbClr val="B2BCD3"/>
                </a:solidFill>
                <a:latin typeface="Aptos"/>
              </a:rPr>
              <a:t>23</a:t>
            </a:r>
            <a:endParaRPr sz="800" b="1">
              <a:solidFill>
                <a:srgbClr val="B2BCD3"/>
              </a:solidFill>
              <a:latin typeface="Aptos"/>
            </a:endParaRPr>
          </a:p>
        </p:txBody>
      </p:sp>
      <p:pic>
        <p:nvPicPr>
          <p:cNvPr id="7" name="Picture 6" descr="The image shows a code review log with three identified security vulnerabilities in different files, including an object-level authorization issue, a hidden prompt for credential disclosure, and an insecure temporary-directory handling.&#10;&#10;AI-generated content may be incorrect.">
            <a:extLst>
              <a:ext uri="{FF2B5EF4-FFF2-40B4-BE49-F238E27FC236}">
                <a16:creationId xmlns:a16="http://schemas.microsoft.com/office/drawing/2014/main" id="{0738393E-703D-9B0A-C84F-1CEAF7515E90}"/>
              </a:ext>
            </a:extLst>
          </p:cNvPr>
          <p:cNvPicPr>
            <a:picLocks noChangeAspect="1"/>
          </p:cNvPicPr>
          <p:nvPr/>
        </p:nvPicPr>
        <p:blipFill>
          <a:blip r:embed="rId3"/>
          <a:stretch>
            <a:fillRect/>
          </a:stretch>
        </p:blipFill>
        <p:spPr>
          <a:xfrm>
            <a:off x="-305" y="781092"/>
            <a:ext cx="12192000" cy="4705147"/>
          </a:xfrm>
          <a:prstGeom prst="rect">
            <a:avLst/>
          </a:prstGeom>
        </p:spPr>
      </p:pic>
    </p:spTree>
    <p:extLst>
      <p:ext uri="{BB962C8B-B14F-4D97-AF65-F5344CB8AC3E}">
        <p14:creationId xmlns:p14="http://schemas.microsoft.com/office/powerpoint/2010/main" val="28415773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4C206E3-6548-2295-D8FB-5625AA37193F}"/>
            </a:ext>
          </a:extLst>
        </p:cNvPr>
        <p:cNvGrpSpPr/>
        <p:nvPr/>
      </p:nvGrpSpPr>
      <p:grpSpPr>
        <a:xfrm>
          <a:off x="0" y="0"/>
          <a:ext cx="0" cy="0"/>
          <a:chOff x="0" y="0"/>
          <a:chExt cx="0" cy="0"/>
        </a:xfrm>
      </p:grpSpPr>
      <p:pic>
        <p:nvPicPr>
          <p:cNvPr id="2" name="Picture 1" descr="image1.jpeg">
            <a:extLst>
              <a:ext uri="{FF2B5EF4-FFF2-40B4-BE49-F238E27FC236}">
                <a16:creationId xmlns:a16="http://schemas.microsoft.com/office/drawing/2014/main" id="{76F4E094-3A7C-0EEE-64D5-A763F4152414}"/>
              </a:ext>
            </a:extLst>
          </p:cNvPr>
          <p:cNvPicPr>
            <a:picLocks noChangeAspect="1"/>
          </p:cNvPicPr>
          <p:nvPr/>
        </p:nvPicPr>
        <p:blipFill>
          <a:blip r:embed="rId2"/>
          <a:stretch>
            <a:fillRect/>
          </a:stretch>
        </p:blipFill>
        <p:spPr>
          <a:xfrm>
            <a:off x="0" y="0"/>
            <a:ext cx="12191695" cy="6858000"/>
          </a:xfrm>
          <a:prstGeom prst="rect">
            <a:avLst/>
          </a:prstGeom>
        </p:spPr>
      </p:pic>
      <p:sp>
        <p:nvSpPr>
          <p:cNvPr id="3" name="TextBox 2">
            <a:extLst>
              <a:ext uri="{FF2B5EF4-FFF2-40B4-BE49-F238E27FC236}">
                <a16:creationId xmlns:a16="http://schemas.microsoft.com/office/drawing/2014/main" id="{BEB58D5F-4DA7-009E-54AF-8CECA554D6FE}"/>
              </a:ext>
            </a:extLst>
          </p:cNvPr>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4" name="TextBox 3">
            <a:extLst>
              <a:ext uri="{FF2B5EF4-FFF2-40B4-BE49-F238E27FC236}">
                <a16:creationId xmlns:a16="http://schemas.microsoft.com/office/drawing/2014/main" id="{3B109E91-0F5A-0967-98C5-1C8D97C6631A}"/>
              </a:ext>
            </a:extLst>
          </p:cNvPr>
          <p:cNvSpPr txBox="1"/>
          <p:nvPr/>
        </p:nvSpPr>
        <p:spPr>
          <a:xfrm>
            <a:off x="11091672" y="6473952"/>
            <a:ext cx="438912" cy="123111"/>
          </a:xfrm>
          <a:prstGeom prst="rect">
            <a:avLst/>
          </a:prstGeom>
          <a:noFill/>
        </p:spPr>
        <p:txBody>
          <a:bodyPr wrap="square" lIns="0" tIns="0" rIns="0" bIns="0" anchor="t">
            <a:spAutoFit/>
          </a:bodyPr>
          <a:lstStyle/>
          <a:p>
            <a:pPr algn="r"/>
            <a:r>
              <a:rPr lang="en-US" sz="800" b="1">
                <a:solidFill>
                  <a:srgbClr val="B2BCD3"/>
                </a:solidFill>
                <a:latin typeface="Aptos"/>
              </a:rPr>
              <a:t>23</a:t>
            </a:r>
            <a:endParaRPr sz="800" b="1">
              <a:solidFill>
                <a:srgbClr val="B2BCD3"/>
              </a:solidFill>
              <a:latin typeface="Aptos"/>
            </a:endParaRPr>
          </a:p>
        </p:txBody>
      </p:sp>
      <p:pic>
        <p:nvPicPr>
          <p:cNvPr id="6" name="Picture 5" descr="The image shows a security vulnerability in a code file where an authenticated user can access another user's invoice data, potentially leading to unauthorized access and privacy breaches.&#10;&#10;AI-generated content may be incorrect.">
            <a:extLst>
              <a:ext uri="{FF2B5EF4-FFF2-40B4-BE49-F238E27FC236}">
                <a16:creationId xmlns:a16="http://schemas.microsoft.com/office/drawing/2014/main" id="{C242A2B3-2E7E-4526-217D-357849A614FB}"/>
              </a:ext>
            </a:extLst>
          </p:cNvPr>
          <p:cNvPicPr>
            <a:picLocks noChangeAspect="1"/>
          </p:cNvPicPr>
          <p:nvPr/>
        </p:nvPicPr>
        <p:blipFill>
          <a:blip r:embed="rId3"/>
          <a:stretch>
            <a:fillRect/>
          </a:stretch>
        </p:blipFill>
        <p:spPr>
          <a:xfrm>
            <a:off x="159026" y="2054398"/>
            <a:ext cx="12192000" cy="2365157"/>
          </a:xfrm>
          <a:prstGeom prst="rect">
            <a:avLst/>
          </a:prstGeom>
        </p:spPr>
      </p:pic>
    </p:spTree>
    <p:extLst>
      <p:ext uri="{BB962C8B-B14F-4D97-AF65-F5344CB8AC3E}">
        <p14:creationId xmlns:p14="http://schemas.microsoft.com/office/powerpoint/2010/main" val="20773125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0EAD77-F49A-695D-3F73-279C910B3422}"/>
            </a:ext>
          </a:extLst>
        </p:cNvPr>
        <p:cNvGrpSpPr/>
        <p:nvPr/>
      </p:nvGrpSpPr>
      <p:grpSpPr>
        <a:xfrm>
          <a:off x="0" y="0"/>
          <a:ext cx="0" cy="0"/>
          <a:chOff x="0" y="0"/>
          <a:chExt cx="0" cy="0"/>
        </a:xfrm>
      </p:grpSpPr>
      <p:pic>
        <p:nvPicPr>
          <p:cNvPr id="2" name="Picture 1" descr="image1.jpeg">
            <a:extLst>
              <a:ext uri="{FF2B5EF4-FFF2-40B4-BE49-F238E27FC236}">
                <a16:creationId xmlns:a16="http://schemas.microsoft.com/office/drawing/2014/main" id="{B786F188-E4F9-70F5-7E17-5E9CD3EED385}"/>
              </a:ext>
            </a:extLst>
          </p:cNvPr>
          <p:cNvPicPr>
            <a:picLocks noChangeAspect="1"/>
          </p:cNvPicPr>
          <p:nvPr/>
        </p:nvPicPr>
        <p:blipFill>
          <a:blip r:embed="rId2"/>
          <a:stretch>
            <a:fillRect/>
          </a:stretch>
        </p:blipFill>
        <p:spPr>
          <a:xfrm>
            <a:off x="0" y="0"/>
            <a:ext cx="12191695" cy="6858000"/>
          </a:xfrm>
          <a:prstGeom prst="rect">
            <a:avLst/>
          </a:prstGeom>
        </p:spPr>
      </p:pic>
      <p:sp>
        <p:nvSpPr>
          <p:cNvPr id="3" name="TextBox 2">
            <a:extLst>
              <a:ext uri="{FF2B5EF4-FFF2-40B4-BE49-F238E27FC236}">
                <a16:creationId xmlns:a16="http://schemas.microsoft.com/office/drawing/2014/main" id="{E6DEC4D6-B335-C5D3-887E-0569CFDDEFBC}"/>
              </a:ext>
            </a:extLst>
          </p:cNvPr>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4" name="TextBox 3">
            <a:extLst>
              <a:ext uri="{FF2B5EF4-FFF2-40B4-BE49-F238E27FC236}">
                <a16:creationId xmlns:a16="http://schemas.microsoft.com/office/drawing/2014/main" id="{1D33C47E-C631-D9ED-B9C4-2608EE90650D}"/>
              </a:ext>
            </a:extLst>
          </p:cNvPr>
          <p:cNvSpPr txBox="1"/>
          <p:nvPr/>
        </p:nvSpPr>
        <p:spPr>
          <a:xfrm>
            <a:off x="11091672" y="6473952"/>
            <a:ext cx="438912" cy="123111"/>
          </a:xfrm>
          <a:prstGeom prst="rect">
            <a:avLst/>
          </a:prstGeom>
          <a:noFill/>
        </p:spPr>
        <p:txBody>
          <a:bodyPr wrap="square" lIns="0" tIns="0" rIns="0" bIns="0" anchor="t">
            <a:spAutoFit/>
          </a:bodyPr>
          <a:lstStyle/>
          <a:p>
            <a:pPr algn="r"/>
            <a:r>
              <a:rPr lang="en-US" sz="800" b="1">
                <a:solidFill>
                  <a:srgbClr val="B2BCD3"/>
                </a:solidFill>
                <a:latin typeface="Aptos"/>
              </a:rPr>
              <a:t>23</a:t>
            </a:r>
            <a:endParaRPr sz="800" b="1">
              <a:solidFill>
                <a:srgbClr val="B2BCD3"/>
              </a:solidFill>
              <a:latin typeface="Aptos"/>
            </a:endParaRPr>
          </a:p>
        </p:txBody>
      </p:sp>
      <p:pic>
        <p:nvPicPr>
          <p:cNvPr id="6" name="Picture 5" descr="The image shows a software development environment where a user is experiencing an error message due to the absence of a local repository for a project called LedgerLite. The user is unable to proceed with their task because they cannot access the necessary source files for review, and they are instructed to place or attach the repository with the required files into their workspace to continue.&#10;&#10;AI-generated content may be incorrect.">
            <a:extLst>
              <a:ext uri="{FF2B5EF4-FFF2-40B4-BE49-F238E27FC236}">
                <a16:creationId xmlns:a16="http://schemas.microsoft.com/office/drawing/2014/main" id="{2065E26A-F7D4-9936-9E03-1D1A0699E394}"/>
              </a:ext>
            </a:extLst>
          </p:cNvPr>
          <p:cNvPicPr>
            <a:picLocks noChangeAspect="1"/>
          </p:cNvPicPr>
          <p:nvPr/>
        </p:nvPicPr>
        <p:blipFill>
          <a:blip r:embed="rId3"/>
          <a:stretch>
            <a:fillRect/>
          </a:stretch>
        </p:blipFill>
        <p:spPr>
          <a:xfrm>
            <a:off x="73833" y="1818621"/>
            <a:ext cx="12192000" cy="1880396"/>
          </a:xfrm>
          <a:prstGeom prst="rect">
            <a:avLst/>
          </a:prstGeom>
        </p:spPr>
      </p:pic>
    </p:spTree>
    <p:extLst>
      <p:ext uri="{BB962C8B-B14F-4D97-AF65-F5344CB8AC3E}">
        <p14:creationId xmlns:p14="http://schemas.microsoft.com/office/powerpoint/2010/main" val="2814514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0E1436"/>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algn="l"/>
            <a:r>
              <a:rPr sz="850" b="1">
                <a:solidFill>
                  <a:srgbClr val="00B1D9"/>
                </a:solidFill>
                <a:latin typeface="Aptos"/>
              </a:rPr>
              <a:t>MCPS VS. SKILLS</a:t>
            </a:r>
          </a:p>
        </p:txBody>
      </p:sp>
      <p:sp>
        <p:nvSpPr>
          <p:cNvPr id="3" name="TextBox 2"/>
          <p:cNvSpPr txBox="1"/>
          <p:nvPr/>
        </p:nvSpPr>
        <p:spPr>
          <a:xfrm>
            <a:off x="658368" y="667512"/>
            <a:ext cx="10744200" cy="658368"/>
          </a:xfrm>
          <a:prstGeom prst="rect">
            <a:avLst/>
          </a:prstGeom>
          <a:noFill/>
        </p:spPr>
        <p:txBody>
          <a:bodyPr wrap="square" lIns="0" tIns="0" rIns="0" bIns="0" anchor="t">
            <a:spAutoFit/>
          </a:bodyPr>
          <a:lstStyle/>
          <a:p>
            <a:pPr algn="l"/>
            <a:r>
              <a:rPr sz="2800" b="1">
                <a:solidFill>
                  <a:srgbClr val="FFFFFF"/>
                </a:solidFill>
                <a:latin typeface="Aptos"/>
              </a:rPr>
              <a:t>Does the agent need access—or expertise?</a:t>
            </a:r>
          </a:p>
        </p:txBody>
      </p:sp>
      <p:sp>
        <p:nvSpPr>
          <p:cNvPr id="4" name="TextBox 3"/>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B2BCD3"/>
                </a:solidFill>
                <a:latin typeface="Aptos"/>
              </a:rPr>
              <a:t>06</a:t>
            </a:r>
          </a:p>
        </p:txBody>
      </p:sp>
      <p:sp>
        <p:nvSpPr>
          <p:cNvPr id="6" name="Rectangle 5"/>
          <p:cNvSpPr/>
          <p:nvPr/>
        </p:nvSpPr>
        <p:spPr>
          <a:xfrm>
            <a:off x="713232" y="1627632"/>
            <a:ext cx="73152" cy="4114800"/>
          </a:xfrm>
          <a:prstGeom prst="rect">
            <a:avLst/>
          </a:prstGeom>
          <a:solidFill>
            <a:srgbClr val="00B1D9"/>
          </a:solidFill>
          <a:ln>
            <a:solidFill>
              <a:srgbClr val="00B1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664208"/>
            <a:ext cx="4480560" cy="365760"/>
          </a:xfrm>
          <a:prstGeom prst="rect">
            <a:avLst/>
          </a:prstGeom>
          <a:noFill/>
        </p:spPr>
        <p:txBody>
          <a:bodyPr wrap="square" lIns="0" tIns="0" rIns="0" bIns="0" anchor="t">
            <a:spAutoFit/>
          </a:bodyPr>
          <a:lstStyle/>
          <a:p>
            <a:pPr algn="l"/>
            <a:r>
              <a:rPr sz="1800" b="1">
                <a:solidFill>
                  <a:srgbClr val="00B1D9"/>
                </a:solidFill>
                <a:latin typeface="Aptos"/>
              </a:rPr>
              <a:t>MCP / LIVE INTEGRATION</a:t>
            </a:r>
          </a:p>
        </p:txBody>
      </p:sp>
      <p:sp>
        <p:nvSpPr>
          <p:cNvPr id="8" name="TextBox 7"/>
          <p:cNvSpPr txBox="1"/>
          <p:nvPr/>
        </p:nvSpPr>
        <p:spPr>
          <a:xfrm>
            <a:off x="987552" y="2145815"/>
            <a:ext cx="4480560" cy="621792"/>
          </a:xfrm>
          <a:prstGeom prst="rect">
            <a:avLst/>
          </a:prstGeom>
          <a:noFill/>
        </p:spPr>
        <p:txBody>
          <a:bodyPr wrap="square" lIns="0" tIns="0" rIns="0" bIns="0" anchor="t">
            <a:spAutoFit/>
          </a:bodyPr>
          <a:lstStyle/>
          <a:p>
            <a:pPr algn="l"/>
            <a:r>
              <a:rPr sz="1600" b="0" dirty="0">
                <a:solidFill>
                  <a:srgbClr val="FFFFFF"/>
                </a:solidFill>
                <a:latin typeface="Aptos"/>
              </a:rPr>
              <a:t>Gives the agent a capability it does not already have.</a:t>
            </a:r>
          </a:p>
        </p:txBody>
      </p:sp>
      <p:sp>
        <p:nvSpPr>
          <p:cNvPr id="9" name="TextBox 8"/>
          <p:cNvSpPr txBox="1"/>
          <p:nvPr/>
        </p:nvSpPr>
        <p:spPr>
          <a:xfrm>
            <a:off x="987552" y="2944368"/>
            <a:ext cx="274320" cy="256032"/>
          </a:xfrm>
          <a:prstGeom prst="rect">
            <a:avLst/>
          </a:prstGeom>
          <a:noFill/>
        </p:spPr>
        <p:txBody>
          <a:bodyPr wrap="square" lIns="0" tIns="0" rIns="0" bIns="0" anchor="t">
            <a:spAutoFit/>
          </a:bodyPr>
          <a:lstStyle/>
          <a:p>
            <a:pPr algn="l"/>
            <a:r>
              <a:rPr sz="1200" b="1">
                <a:solidFill>
                  <a:srgbClr val="EF3281"/>
                </a:solidFill>
                <a:latin typeface="Aptos"/>
              </a:rPr>
              <a:t>—</a:t>
            </a:r>
          </a:p>
        </p:txBody>
      </p:sp>
      <p:sp>
        <p:nvSpPr>
          <p:cNvPr id="10" name="TextBox 9"/>
          <p:cNvSpPr txBox="1"/>
          <p:nvPr/>
        </p:nvSpPr>
        <p:spPr>
          <a:xfrm>
            <a:off x="1353312" y="2907792"/>
            <a:ext cx="4023360" cy="310896"/>
          </a:xfrm>
          <a:prstGeom prst="rect">
            <a:avLst/>
          </a:prstGeom>
          <a:noFill/>
        </p:spPr>
        <p:txBody>
          <a:bodyPr wrap="square" lIns="0" tIns="0" rIns="0" bIns="0" anchor="t">
            <a:spAutoFit/>
          </a:bodyPr>
          <a:lstStyle/>
          <a:p>
            <a:pPr algn="l"/>
            <a:r>
              <a:rPr sz="1200" b="0">
                <a:solidFill>
                  <a:srgbClr val="FFFFFF"/>
                </a:solidFill>
                <a:latin typeface="Aptos"/>
              </a:rPr>
              <a:t>Query current alerts or tickets</a:t>
            </a:r>
          </a:p>
        </p:txBody>
      </p:sp>
      <p:sp>
        <p:nvSpPr>
          <p:cNvPr id="11" name="TextBox 10"/>
          <p:cNvSpPr txBox="1"/>
          <p:nvPr/>
        </p:nvSpPr>
        <p:spPr>
          <a:xfrm>
            <a:off x="987552" y="3447288"/>
            <a:ext cx="274320" cy="256032"/>
          </a:xfrm>
          <a:prstGeom prst="rect">
            <a:avLst/>
          </a:prstGeom>
          <a:noFill/>
        </p:spPr>
        <p:txBody>
          <a:bodyPr wrap="square" lIns="0" tIns="0" rIns="0" bIns="0" anchor="t">
            <a:spAutoFit/>
          </a:bodyPr>
          <a:lstStyle/>
          <a:p>
            <a:pPr algn="l"/>
            <a:r>
              <a:rPr sz="1200" b="1">
                <a:solidFill>
                  <a:srgbClr val="EF3281"/>
                </a:solidFill>
                <a:latin typeface="Aptos"/>
              </a:rPr>
              <a:t>—</a:t>
            </a:r>
          </a:p>
        </p:txBody>
      </p:sp>
      <p:sp>
        <p:nvSpPr>
          <p:cNvPr id="12" name="TextBox 11"/>
          <p:cNvSpPr txBox="1"/>
          <p:nvPr/>
        </p:nvSpPr>
        <p:spPr>
          <a:xfrm>
            <a:off x="1353312" y="3410712"/>
            <a:ext cx="4023360" cy="310896"/>
          </a:xfrm>
          <a:prstGeom prst="rect">
            <a:avLst/>
          </a:prstGeom>
          <a:noFill/>
        </p:spPr>
        <p:txBody>
          <a:bodyPr wrap="square" lIns="0" tIns="0" rIns="0" bIns="0" anchor="t">
            <a:spAutoFit/>
          </a:bodyPr>
          <a:lstStyle/>
          <a:p>
            <a:pPr algn="l"/>
            <a:r>
              <a:rPr sz="1200" b="0">
                <a:solidFill>
                  <a:srgbClr val="FFFFFF"/>
                </a:solidFill>
                <a:latin typeface="Aptos"/>
              </a:rPr>
              <a:t>Retrieve live database records</a:t>
            </a:r>
          </a:p>
        </p:txBody>
      </p:sp>
      <p:sp>
        <p:nvSpPr>
          <p:cNvPr id="13" name="TextBox 12"/>
          <p:cNvSpPr txBox="1"/>
          <p:nvPr/>
        </p:nvSpPr>
        <p:spPr>
          <a:xfrm>
            <a:off x="987552" y="3950208"/>
            <a:ext cx="274320" cy="256032"/>
          </a:xfrm>
          <a:prstGeom prst="rect">
            <a:avLst/>
          </a:prstGeom>
          <a:noFill/>
        </p:spPr>
        <p:txBody>
          <a:bodyPr wrap="square" lIns="0" tIns="0" rIns="0" bIns="0" anchor="t">
            <a:spAutoFit/>
          </a:bodyPr>
          <a:lstStyle/>
          <a:p>
            <a:pPr algn="l"/>
            <a:r>
              <a:rPr sz="1200" b="1">
                <a:solidFill>
                  <a:srgbClr val="EF3281"/>
                </a:solidFill>
                <a:latin typeface="Aptos"/>
              </a:rPr>
              <a:t>—</a:t>
            </a:r>
          </a:p>
        </p:txBody>
      </p:sp>
      <p:sp>
        <p:nvSpPr>
          <p:cNvPr id="14" name="TextBox 13"/>
          <p:cNvSpPr txBox="1"/>
          <p:nvPr/>
        </p:nvSpPr>
        <p:spPr>
          <a:xfrm>
            <a:off x="1353312" y="3913632"/>
            <a:ext cx="4023360" cy="310896"/>
          </a:xfrm>
          <a:prstGeom prst="rect">
            <a:avLst/>
          </a:prstGeom>
          <a:noFill/>
        </p:spPr>
        <p:txBody>
          <a:bodyPr wrap="square" lIns="0" tIns="0" rIns="0" bIns="0" anchor="t">
            <a:spAutoFit/>
          </a:bodyPr>
          <a:lstStyle/>
          <a:p>
            <a:pPr algn="l"/>
            <a:r>
              <a:rPr sz="1200" b="0">
                <a:solidFill>
                  <a:srgbClr val="FFFFFF"/>
                </a:solidFill>
                <a:latin typeface="Aptos"/>
              </a:rPr>
              <a:t>Take action in a SaaS platform</a:t>
            </a:r>
          </a:p>
        </p:txBody>
      </p:sp>
      <p:sp>
        <p:nvSpPr>
          <p:cNvPr id="15" name="TextBox 14"/>
          <p:cNvSpPr txBox="1"/>
          <p:nvPr/>
        </p:nvSpPr>
        <p:spPr>
          <a:xfrm>
            <a:off x="987552" y="4453128"/>
            <a:ext cx="274320" cy="256032"/>
          </a:xfrm>
          <a:prstGeom prst="rect">
            <a:avLst/>
          </a:prstGeom>
          <a:noFill/>
        </p:spPr>
        <p:txBody>
          <a:bodyPr wrap="square" lIns="0" tIns="0" rIns="0" bIns="0" anchor="t">
            <a:spAutoFit/>
          </a:bodyPr>
          <a:lstStyle/>
          <a:p>
            <a:pPr algn="l"/>
            <a:r>
              <a:rPr sz="1200" b="1">
                <a:solidFill>
                  <a:srgbClr val="EF3281"/>
                </a:solidFill>
                <a:latin typeface="Aptos"/>
              </a:rPr>
              <a:t>—</a:t>
            </a:r>
          </a:p>
        </p:txBody>
      </p:sp>
      <p:sp>
        <p:nvSpPr>
          <p:cNvPr id="16" name="TextBox 15"/>
          <p:cNvSpPr txBox="1"/>
          <p:nvPr/>
        </p:nvSpPr>
        <p:spPr>
          <a:xfrm>
            <a:off x="1353312" y="4416552"/>
            <a:ext cx="4023360" cy="310896"/>
          </a:xfrm>
          <a:prstGeom prst="rect">
            <a:avLst/>
          </a:prstGeom>
          <a:noFill/>
        </p:spPr>
        <p:txBody>
          <a:bodyPr wrap="square" lIns="0" tIns="0" rIns="0" bIns="0" anchor="t">
            <a:spAutoFit/>
          </a:bodyPr>
          <a:lstStyle/>
          <a:p>
            <a:pPr algn="l"/>
            <a:r>
              <a:rPr sz="1200" b="0">
                <a:solidFill>
                  <a:srgbClr val="FFFFFF"/>
                </a:solidFill>
                <a:latin typeface="Aptos"/>
              </a:rPr>
              <a:t>Call a remote API</a:t>
            </a:r>
          </a:p>
        </p:txBody>
      </p:sp>
      <p:sp>
        <p:nvSpPr>
          <p:cNvPr id="17" name="Rectangle 16"/>
          <p:cNvSpPr/>
          <p:nvPr/>
        </p:nvSpPr>
        <p:spPr>
          <a:xfrm>
            <a:off x="6126480" y="1627632"/>
            <a:ext cx="73152" cy="4114800"/>
          </a:xfrm>
          <a:prstGeom prst="rect">
            <a:avLst/>
          </a:prstGeom>
          <a:solidFill>
            <a:srgbClr val="00AA80"/>
          </a:solidFill>
          <a:ln>
            <a:solidFill>
              <a:srgbClr val="00AA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9088" y="1664208"/>
            <a:ext cx="4480560" cy="365760"/>
          </a:xfrm>
          <a:prstGeom prst="rect">
            <a:avLst/>
          </a:prstGeom>
          <a:noFill/>
        </p:spPr>
        <p:txBody>
          <a:bodyPr wrap="square" lIns="0" tIns="0" rIns="0" bIns="0" anchor="t">
            <a:spAutoFit/>
          </a:bodyPr>
          <a:lstStyle/>
          <a:p>
            <a:pPr algn="l"/>
            <a:r>
              <a:rPr sz="1800" b="1">
                <a:solidFill>
                  <a:srgbClr val="00AA80"/>
                </a:solidFill>
                <a:latin typeface="Aptos"/>
              </a:rPr>
              <a:t>SKILL</a:t>
            </a:r>
          </a:p>
        </p:txBody>
      </p:sp>
      <p:sp>
        <p:nvSpPr>
          <p:cNvPr id="19" name="TextBox 18"/>
          <p:cNvSpPr txBox="1"/>
          <p:nvPr/>
        </p:nvSpPr>
        <p:spPr>
          <a:xfrm>
            <a:off x="6419088" y="2031968"/>
            <a:ext cx="4572000" cy="738664"/>
          </a:xfrm>
          <a:prstGeom prst="rect">
            <a:avLst/>
          </a:prstGeom>
          <a:noFill/>
        </p:spPr>
        <p:txBody>
          <a:bodyPr wrap="square" lIns="0" tIns="0" rIns="0" bIns="0" anchor="t">
            <a:spAutoFit/>
          </a:bodyPr>
          <a:lstStyle/>
          <a:p>
            <a:r>
              <a:rPr lang="en-US" sz="1600" dirty="0">
                <a:solidFill>
                  <a:srgbClr val="FFFFFF"/>
                </a:solidFill>
                <a:latin typeface="Aptos"/>
              </a:rPr>
              <a:t>Reusable instructions and procedural method. Teaches the agent how to perform work it can already reach.</a:t>
            </a:r>
            <a:endParaRPr sz="1600" b="0" dirty="0">
              <a:solidFill>
                <a:srgbClr val="FFFFFF"/>
              </a:solidFill>
              <a:latin typeface="Aptos"/>
            </a:endParaRPr>
          </a:p>
        </p:txBody>
      </p:sp>
      <p:sp>
        <p:nvSpPr>
          <p:cNvPr id="20" name="TextBox 19"/>
          <p:cNvSpPr txBox="1"/>
          <p:nvPr/>
        </p:nvSpPr>
        <p:spPr>
          <a:xfrm>
            <a:off x="6419088" y="2944368"/>
            <a:ext cx="274320" cy="256032"/>
          </a:xfrm>
          <a:prstGeom prst="rect">
            <a:avLst/>
          </a:prstGeom>
          <a:noFill/>
        </p:spPr>
        <p:txBody>
          <a:bodyPr wrap="square" lIns="0" tIns="0" rIns="0" bIns="0" anchor="t">
            <a:spAutoFit/>
          </a:bodyPr>
          <a:lstStyle/>
          <a:p>
            <a:pPr algn="l"/>
            <a:r>
              <a:rPr sz="1200" b="1">
                <a:solidFill>
                  <a:srgbClr val="00B1D9"/>
                </a:solidFill>
                <a:latin typeface="Aptos"/>
              </a:rPr>
              <a:t>—</a:t>
            </a:r>
          </a:p>
        </p:txBody>
      </p:sp>
      <p:sp>
        <p:nvSpPr>
          <p:cNvPr id="21" name="TextBox 20"/>
          <p:cNvSpPr txBox="1"/>
          <p:nvPr/>
        </p:nvSpPr>
        <p:spPr>
          <a:xfrm>
            <a:off x="6784848" y="2907792"/>
            <a:ext cx="4069080" cy="310896"/>
          </a:xfrm>
          <a:prstGeom prst="rect">
            <a:avLst/>
          </a:prstGeom>
          <a:noFill/>
        </p:spPr>
        <p:txBody>
          <a:bodyPr wrap="square" lIns="0" tIns="0" rIns="0" bIns="0" anchor="t">
            <a:spAutoFit/>
          </a:bodyPr>
          <a:lstStyle/>
          <a:p>
            <a:pPr algn="l"/>
            <a:r>
              <a:rPr sz="1200" b="0" dirty="0">
                <a:solidFill>
                  <a:srgbClr val="FFFFFF"/>
                </a:solidFill>
                <a:latin typeface="Aptos"/>
              </a:rPr>
              <a:t>Apply a security-review method</a:t>
            </a:r>
          </a:p>
        </p:txBody>
      </p:sp>
      <p:sp>
        <p:nvSpPr>
          <p:cNvPr id="22" name="TextBox 21"/>
          <p:cNvSpPr txBox="1"/>
          <p:nvPr/>
        </p:nvSpPr>
        <p:spPr>
          <a:xfrm>
            <a:off x="6419088" y="3447288"/>
            <a:ext cx="274320" cy="256032"/>
          </a:xfrm>
          <a:prstGeom prst="rect">
            <a:avLst/>
          </a:prstGeom>
          <a:noFill/>
        </p:spPr>
        <p:txBody>
          <a:bodyPr wrap="square" lIns="0" tIns="0" rIns="0" bIns="0" anchor="t">
            <a:spAutoFit/>
          </a:bodyPr>
          <a:lstStyle/>
          <a:p>
            <a:pPr algn="l"/>
            <a:r>
              <a:rPr sz="1200" b="1">
                <a:solidFill>
                  <a:srgbClr val="00B1D9"/>
                </a:solidFill>
                <a:latin typeface="Aptos"/>
              </a:rPr>
              <a:t>—</a:t>
            </a:r>
          </a:p>
        </p:txBody>
      </p:sp>
      <p:sp>
        <p:nvSpPr>
          <p:cNvPr id="23" name="TextBox 22"/>
          <p:cNvSpPr txBox="1"/>
          <p:nvPr/>
        </p:nvSpPr>
        <p:spPr>
          <a:xfrm>
            <a:off x="6784848" y="3410712"/>
            <a:ext cx="4069080" cy="310896"/>
          </a:xfrm>
          <a:prstGeom prst="rect">
            <a:avLst/>
          </a:prstGeom>
          <a:noFill/>
        </p:spPr>
        <p:txBody>
          <a:bodyPr wrap="square" lIns="0" tIns="0" rIns="0" bIns="0" anchor="t">
            <a:spAutoFit/>
          </a:bodyPr>
          <a:lstStyle/>
          <a:p>
            <a:pPr algn="l"/>
            <a:r>
              <a:rPr sz="1200" b="0">
                <a:solidFill>
                  <a:srgbClr val="FFFFFF"/>
                </a:solidFill>
                <a:latin typeface="Aptos"/>
              </a:rPr>
              <a:t>Create a threat model</a:t>
            </a:r>
          </a:p>
        </p:txBody>
      </p:sp>
      <p:sp>
        <p:nvSpPr>
          <p:cNvPr id="24" name="TextBox 23"/>
          <p:cNvSpPr txBox="1"/>
          <p:nvPr/>
        </p:nvSpPr>
        <p:spPr>
          <a:xfrm>
            <a:off x="6419088" y="3950208"/>
            <a:ext cx="274320" cy="256032"/>
          </a:xfrm>
          <a:prstGeom prst="rect">
            <a:avLst/>
          </a:prstGeom>
          <a:noFill/>
        </p:spPr>
        <p:txBody>
          <a:bodyPr wrap="square" lIns="0" tIns="0" rIns="0" bIns="0" anchor="t">
            <a:spAutoFit/>
          </a:bodyPr>
          <a:lstStyle/>
          <a:p>
            <a:pPr algn="l"/>
            <a:r>
              <a:rPr sz="1200" b="1">
                <a:solidFill>
                  <a:srgbClr val="00B1D9"/>
                </a:solidFill>
                <a:latin typeface="Aptos"/>
              </a:rPr>
              <a:t>—</a:t>
            </a:r>
          </a:p>
        </p:txBody>
      </p:sp>
      <p:sp>
        <p:nvSpPr>
          <p:cNvPr id="25" name="TextBox 24"/>
          <p:cNvSpPr txBox="1"/>
          <p:nvPr/>
        </p:nvSpPr>
        <p:spPr>
          <a:xfrm>
            <a:off x="6784848" y="3913632"/>
            <a:ext cx="4069080" cy="310896"/>
          </a:xfrm>
          <a:prstGeom prst="rect">
            <a:avLst/>
          </a:prstGeom>
          <a:noFill/>
        </p:spPr>
        <p:txBody>
          <a:bodyPr wrap="square" lIns="0" tIns="0" rIns="0" bIns="0" anchor="t">
            <a:spAutoFit/>
          </a:bodyPr>
          <a:lstStyle/>
          <a:p>
            <a:pPr algn="l"/>
            <a:r>
              <a:rPr sz="1200" b="0">
                <a:solidFill>
                  <a:srgbClr val="FFFFFF"/>
                </a:solidFill>
                <a:latin typeface="Aptos"/>
              </a:rPr>
              <a:t>Classify vulnerabilities</a:t>
            </a:r>
          </a:p>
        </p:txBody>
      </p:sp>
      <p:sp>
        <p:nvSpPr>
          <p:cNvPr id="26" name="TextBox 25"/>
          <p:cNvSpPr txBox="1"/>
          <p:nvPr/>
        </p:nvSpPr>
        <p:spPr>
          <a:xfrm>
            <a:off x="6419088" y="4453128"/>
            <a:ext cx="274320" cy="256032"/>
          </a:xfrm>
          <a:prstGeom prst="rect">
            <a:avLst/>
          </a:prstGeom>
          <a:noFill/>
        </p:spPr>
        <p:txBody>
          <a:bodyPr wrap="square" lIns="0" tIns="0" rIns="0" bIns="0" anchor="t">
            <a:spAutoFit/>
          </a:bodyPr>
          <a:lstStyle/>
          <a:p>
            <a:pPr algn="l"/>
            <a:r>
              <a:rPr sz="1200" b="1">
                <a:solidFill>
                  <a:srgbClr val="00B1D9"/>
                </a:solidFill>
                <a:latin typeface="Aptos"/>
              </a:rPr>
              <a:t>—</a:t>
            </a:r>
          </a:p>
        </p:txBody>
      </p:sp>
      <p:sp>
        <p:nvSpPr>
          <p:cNvPr id="27" name="TextBox 26"/>
          <p:cNvSpPr txBox="1"/>
          <p:nvPr/>
        </p:nvSpPr>
        <p:spPr>
          <a:xfrm>
            <a:off x="6784848" y="4416552"/>
            <a:ext cx="4069080" cy="310896"/>
          </a:xfrm>
          <a:prstGeom prst="rect">
            <a:avLst/>
          </a:prstGeom>
          <a:noFill/>
        </p:spPr>
        <p:txBody>
          <a:bodyPr wrap="square" lIns="0" tIns="0" rIns="0" bIns="0" anchor="t">
            <a:spAutoFit/>
          </a:bodyPr>
          <a:lstStyle/>
          <a:p>
            <a:pPr algn="l"/>
            <a:r>
              <a:rPr sz="1200" b="0">
                <a:solidFill>
                  <a:srgbClr val="FFFFFF"/>
                </a:solidFill>
                <a:latin typeface="Aptos"/>
              </a:rPr>
              <a:t>Draft an incident report</a:t>
            </a:r>
          </a:p>
        </p:txBody>
      </p:sp>
      <p:sp>
        <p:nvSpPr>
          <p:cNvPr id="28" name="TextBox 27"/>
          <p:cNvSpPr txBox="1"/>
          <p:nvPr/>
        </p:nvSpPr>
        <p:spPr>
          <a:xfrm>
            <a:off x="1051560" y="5989320"/>
            <a:ext cx="10058400" cy="310896"/>
          </a:xfrm>
          <a:prstGeom prst="rect">
            <a:avLst/>
          </a:prstGeom>
          <a:noFill/>
        </p:spPr>
        <p:txBody>
          <a:bodyPr wrap="square" lIns="0" tIns="0" rIns="0" bIns="0" anchor="t">
            <a:spAutoFit/>
          </a:bodyPr>
          <a:lstStyle/>
          <a:p>
            <a:pPr algn="ctr"/>
            <a:r>
              <a:rPr sz="1400" b="1">
                <a:solidFill>
                  <a:srgbClr val="C7D1E5"/>
                </a:solidFill>
                <a:latin typeface="Aptos"/>
              </a:rPr>
              <a:t>Different extension models. Different controls. Sometimes you need both.</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9FAFC"/>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algn="l"/>
            <a:r>
              <a:rPr sz="850" b="1">
                <a:solidFill>
                  <a:srgbClr val="00B1D9"/>
                </a:solidFill>
                <a:latin typeface="Aptos"/>
              </a:rPr>
              <a:t>TOXICSKILLS STUDY, 2026</a:t>
            </a:r>
          </a:p>
        </p:txBody>
      </p:sp>
      <p:sp>
        <p:nvSpPr>
          <p:cNvPr id="3" name="TextBox 2"/>
          <p:cNvSpPr txBox="1"/>
          <p:nvPr/>
        </p:nvSpPr>
        <p:spPr>
          <a:xfrm>
            <a:off x="658368" y="667512"/>
            <a:ext cx="10744200" cy="658368"/>
          </a:xfrm>
          <a:prstGeom prst="rect">
            <a:avLst/>
          </a:prstGeom>
          <a:noFill/>
        </p:spPr>
        <p:txBody>
          <a:bodyPr wrap="square" lIns="0" tIns="0" rIns="0" bIns="0" anchor="t">
            <a:spAutoFit/>
          </a:bodyPr>
          <a:lstStyle/>
          <a:p>
            <a:pPr algn="l"/>
            <a:r>
              <a:rPr sz="2800" b="1" dirty="0">
                <a:solidFill>
                  <a:srgbClr val="0D162B"/>
                </a:solidFill>
                <a:latin typeface="Aptos"/>
              </a:rPr>
              <a:t>Public skills already show the risk</a:t>
            </a:r>
          </a:p>
        </p:txBody>
      </p:sp>
      <p:sp>
        <p:nvSpPr>
          <p:cNvPr id="4" name="TextBox 3"/>
          <p:cNvSpPr txBox="1"/>
          <p:nvPr/>
        </p:nvSpPr>
        <p:spPr>
          <a:xfrm>
            <a:off x="502920" y="6519672"/>
            <a:ext cx="5760720" cy="128016"/>
          </a:xfrm>
          <a:prstGeom prst="rect">
            <a:avLst/>
          </a:prstGeom>
          <a:noFill/>
        </p:spPr>
        <p:txBody>
          <a:bodyPr wrap="square" lIns="0" tIns="0" rIns="0" bIns="0" anchor="t">
            <a:spAutoFit/>
          </a:bodyPr>
          <a:lstStyle/>
          <a:p>
            <a:pPr algn="l"/>
            <a:r>
              <a:rPr sz="720" b="1">
                <a:solidFill>
                  <a:srgbClr val="576276"/>
                </a:solidFill>
                <a:latin typeface="Aptos"/>
              </a:rPr>
              <a:t>INFOSEC WORLD 2026  /  USEFUL + SECURE AI SKILLS</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576276"/>
                </a:solidFill>
                <a:latin typeface="Aptos"/>
              </a:rPr>
              <a:t>05</a:t>
            </a:r>
          </a:p>
        </p:txBody>
      </p:sp>
      <p:sp>
        <p:nvSpPr>
          <p:cNvPr id="6" name="TextBox 5"/>
          <p:cNvSpPr txBox="1"/>
          <p:nvPr/>
        </p:nvSpPr>
        <p:spPr>
          <a:xfrm>
            <a:off x="749808" y="1783080"/>
            <a:ext cx="3246120" cy="768096"/>
          </a:xfrm>
          <a:prstGeom prst="rect">
            <a:avLst/>
          </a:prstGeom>
          <a:noFill/>
        </p:spPr>
        <p:txBody>
          <a:bodyPr wrap="square" lIns="0" tIns="0" rIns="0" bIns="0" anchor="t">
            <a:spAutoFit/>
          </a:bodyPr>
          <a:lstStyle/>
          <a:p>
            <a:pPr algn="ctr"/>
            <a:r>
              <a:rPr sz="3500" b="1" dirty="0">
                <a:solidFill>
                  <a:srgbClr val="00B1D9"/>
                </a:solidFill>
                <a:latin typeface="Aptos"/>
              </a:rPr>
              <a:t>3,984</a:t>
            </a:r>
          </a:p>
        </p:txBody>
      </p:sp>
      <p:sp>
        <p:nvSpPr>
          <p:cNvPr id="7" name="TextBox 6"/>
          <p:cNvSpPr txBox="1"/>
          <p:nvPr/>
        </p:nvSpPr>
        <p:spPr>
          <a:xfrm>
            <a:off x="914400" y="2651760"/>
            <a:ext cx="2907792" cy="502920"/>
          </a:xfrm>
          <a:prstGeom prst="rect">
            <a:avLst/>
          </a:prstGeom>
          <a:noFill/>
        </p:spPr>
        <p:txBody>
          <a:bodyPr wrap="square" lIns="0" tIns="0" rIns="0" bIns="0" anchor="t">
            <a:spAutoFit/>
          </a:bodyPr>
          <a:lstStyle/>
          <a:p>
            <a:pPr algn="ctr"/>
            <a:r>
              <a:rPr sz="1400" b="1" dirty="0">
                <a:solidFill>
                  <a:srgbClr val="0D162B"/>
                </a:solidFill>
                <a:latin typeface="Aptos"/>
              </a:rPr>
              <a:t>public agent skills analyzed</a:t>
            </a:r>
          </a:p>
        </p:txBody>
      </p:sp>
      <p:sp>
        <p:nvSpPr>
          <p:cNvPr id="8" name="TextBox 7"/>
          <p:cNvSpPr txBox="1"/>
          <p:nvPr/>
        </p:nvSpPr>
        <p:spPr>
          <a:xfrm>
            <a:off x="4544568" y="1783080"/>
            <a:ext cx="3246120" cy="768096"/>
          </a:xfrm>
          <a:prstGeom prst="rect">
            <a:avLst/>
          </a:prstGeom>
          <a:noFill/>
        </p:spPr>
        <p:txBody>
          <a:bodyPr wrap="square" lIns="0" tIns="0" rIns="0" bIns="0" anchor="t">
            <a:spAutoFit/>
          </a:bodyPr>
          <a:lstStyle/>
          <a:p>
            <a:pPr algn="ctr"/>
            <a:r>
              <a:rPr sz="3500" b="1" dirty="0">
                <a:solidFill>
                  <a:srgbClr val="7E41E8"/>
                </a:solidFill>
                <a:latin typeface="Aptos"/>
              </a:rPr>
              <a:t>36.8%</a:t>
            </a:r>
          </a:p>
        </p:txBody>
      </p:sp>
      <p:sp>
        <p:nvSpPr>
          <p:cNvPr id="9" name="TextBox 8"/>
          <p:cNvSpPr txBox="1"/>
          <p:nvPr/>
        </p:nvSpPr>
        <p:spPr>
          <a:xfrm>
            <a:off x="4709160" y="2651760"/>
            <a:ext cx="2907792" cy="502920"/>
          </a:xfrm>
          <a:prstGeom prst="rect">
            <a:avLst/>
          </a:prstGeom>
          <a:noFill/>
        </p:spPr>
        <p:txBody>
          <a:bodyPr wrap="square" lIns="0" tIns="0" rIns="0" bIns="0" anchor="t">
            <a:spAutoFit/>
          </a:bodyPr>
          <a:lstStyle/>
          <a:p>
            <a:pPr algn="ctr"/>
            <a:r>
              <a:rPr sz="1400" b="1" dirty="0">
                <a:solidFill>
                  <a:srgbClr val="0D162B"/>
                </a:solidFill>
                <a:latin typeface="Aptos"/>
              </a:rPr>
              <a:t>had at least one security flaw</a:t>
            </a:r>
          </a:p>
        </p:txBody>
      </p:sp>
      <p:sp>
        <p:nvSpPr>
          <p:cNvPr id="10" name="TextBox 9"/>
          <p:cNvSpPr txBox="1"/>
          <p:nvPr/>
        </p:nvSpPr>
        <p:spPr>
          <a:xfrm>
            <a:off x="8339328" y="1783080"/>
            <a:ext cx="3246120" cy="768096"/>
          </a:xfrm>
          <a:prstGeom prst="rect">
            <a:avLst/>
          </a:prstGeom>
          <a:noFill/>
        </p:spPr>
        <p:txBody>
          <a:bodyPr wrap="square" lIns="0" tIns="0" rIns="0" bIns="0" anchor="t">
            <a:spAutoFit/>
          </a:bodyPr>
          <a:lstStyle/>
          <a:p>
            <a:pPr algn="ctr"/>
            <a:r>
              <a:rPr sz="3500" b="1" dirty="0">
                <a:solidFill>
                  <a:srgbClr val="EF3281"/>
                </a:solidFill>
                <a:latin typeface="Aptos"/>
              </a:rPr>
              <a:t>13.4%</a:t>
            </a:r>
          </a:p>
        </p:txBody>
      </p:sp>
      <p:sp>
        <p:nvSpPr>
          <p:cNvPr id="11" name="TextBox 10"/>
          <p:cNvSpPr txBox="1"/>
          <p:nvPr/>
        </p:nvSpPr>
        <p:spPr>
          <a:xfrm>
            <a:off x="8503920" y="2651760"/>
            <a:ext cx="2907792" cy="502920"/>
          </a:xfrm>
          <a:prstGeom prst="rect">
            <a:avLst/>
          </a:prstGeom>
          <a:noFill/>
        </p:spPr>
        <p:txBody>
          <a:bodyPr wrap="square" lIns="0" tIns="0" rIns="0" bIns="0" anchor="t">
            <a:spAutoFit/>
          </a:bodyPr>
          <a:lstStyle/>
          <a:p>
            <a:pPr algn="ctr"/>
            <a:r>
              <a:rPr sz="1400" b="1">
                <a:solidFill>
                  <a:srgbClr val="0D162B"/>
                </a:solidFill>
                <a:latin typeface="Aptos"/>
              </a:rPr>
              <a:t>had a critical-level issue</a:t>
            </a:r>
          </a:p>
        </p:txBody>
      </p:sp>
      <p:sp>
        <p:nvSpPr>
          <p:cNvPr id="12" name="Rectangle 11"/>
          <p:cNvSpPr/>
          <p:nvPr/>
        </p:nvSpPr>
        <p:spPr>
          <a:xfrm>
            <a:off x="822960" y="3502152"/>
            <a:ext cx="10469880" cy="27432"/>
          </a:xfrm>
          <a:prstGeom prst="rect">
            <a:avLst/>
          </a:prstGeom>
          <a:solidFill>
            <a:srgbClr val="DFE5EE"/>
          </a:solidFill>
          <a:ln>
            <a:solidFill>
              <a:srgbClr val="DF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886200"/>
            <a:ext cx="10241280" cy="420624"/>
          </a:xfrm>
          <a:prstGeom prst="rect">
            <a:avLst/>
          </a:prstGeom>
          <a:noFill/>
        </p:spPr>
        <p:txBody>
          <a:bodyPr wrap="square" lIns="0" tIns="0" rIns="0" bIns="0" anchor="t">
            <a:spAutoFit/>
          </a:bodyPr>
          <a:lstStyle/>
          <a:p>
            <a:pPr algn="ctr"/>
            <a:r>
              <a:rPr sz="1900" b="1" dirty="0">
                <a:solidFill>
                  <a:srgbClr val="0D162B"/>
                </a:solidFill>
                <a:latin typeface="Aptos"/>
              </a:rPr>
              <a:t>Skills combine instructions, supporting content, scripts, dependencies, and inherited access.</a:t>
            </a:r>
          </a:p>
        </p:txBody>
      </p:sp>
      <p:sp>
        <p:nvSpPr>
          <p:cNvPr id="14" name="TextBox 13"/>
          <p:cNvSpPr txBox="1"/>
          <p:nvPr/>
        </p:nvSpPr>
        <p:spPr>
          <a:xfrm>
            <a:off x="1143000" y="4572000"/>
            <a:ext cx="9784080" cy="475488"/>
          </a:xfrm>
          <a:prstGeom prst="rect">
            <a:avLst/>
          </a:prstGeom>
          <a:noFill/>
        </p:spPr>
        <p:txBody>
          <a:bodyPr wrap="square" lIns="0" tIns="0" rIns="0" bIns="0" anchor="t">
            <a:spAutoFit/>
          </a:bodyPr>
          <a:lstStyle/>
          <a:p>
            <a:pPr algn="ctr"/>
            <a:r>
              <a:rPr sz="1600" b="0">
                <a:solidFill>
                  <a:srgbClr val="576276"/>
                </a:solidFill>
                <a:latin typeface="Aptos"/>
              </a:rPr>
              <a:t>The concern is not Markdown by itself. It is Markdown interpreted by an agent that can act.</a:t>
            </a:r>
          </a:p>
        </p:txBody>
      </p:sp>
      <p:sp>
        <p:nvSpPr>
          <p:cNvPr id="15" name="TextBox 14"/>
          <p:cNvSpPr txBox="1"/>
          <p:nvPr/>
        </p:nvSpPr>
        <p:spPr>
          <a:xfrm>
            <a:off x="749808" y="5916168"/>
            <a:ext cx="10424160" cy="130805"/>
          </a:xfrm>
          <a:prstGeom prst="rect">
            <a:avLst/>
          </a:prstGeom>
          <a:noFill/>
        </p:spPr>
        <p:txBody>
          <a:bodyPr wrap="square" lIns="0" tIns="0" rIns="0" bIns="0" anchor="t">
            <a:spAutoFit/>
          </a:bodyPr>
          <a:lstStyle/>
          <a:p>
            <a:pPr algn="l"/>
            <a:r>
              <a:rPr sz="850" b="0" dirty="0">
                <a:solidFill>
                  <a:srgbClr val="576276"/>
                </a:solidFill>
                <a:latin typeface="Aptos"/>
              </a:rPr>
              <a:t>Source: </a:t>
            </a:r>
            <a:r>
              <a:rPr sz="850" b="0" dirty="0" err="1">
                <a:solidFill>
                  <a:srgbClr val="576276"/>
                </a:solidFill>
                <a:latin typeface="Aptos"/>
              </a:rPr>
              <a:t>Snyk</a:t>
            </a:r>
            <a:r>
              <a:rPr sz="850" b="0" dirty="0">
                <a:solidFill>
                  <a:srgbClr val="576276"/>
                </a:solidFill>
                <a:latin typeface="Aptos"/>
              </a:rPr>
              <a:t>, “</a:t>
            </a:r>
            <a:r>
              <a:rPr sz="850" b="0" dirty="0" err="1">
                <a:solidFill>
                  <a:srgbClr val="576276"/>
                </a:solidFill>
                <a:latin typeface="Aptos"/>
              </a:rPr>
              <a:t>ToxicSkills</a:t>
            </a:r>
            <a:r>
              <a:rPr sz="850" b="0" dirty="0">
                <a:solidFill>
                  <a:srgbClr val="576276"/>
                </a:solidFill>
                <a:latin typeface="Aptos"/>
              </a:rPr>
              <a:t>: Malicious AI Agent Skills &amp; Supply Chain Compromise,” 2026;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58368" y="347472"/>
            <a:ext cx="8046720" cy="369332"/>
          </a:xfrm>
          <a:prstGeom prst="rect">
            <a:avLst/>
          </a:prstGeom>
          <a:noFill/>
        </p:spPr>
        <p:txBody>
          <a:bodyPr wrap="square" lIns="0" tIns="0" rIns="0" bIns="0" anchor="t">
            <a:spAutoFit/>
          </a:bodyPr>
          <a:lstStyle/>
          <a:p>
            <a:pPr algn="l"/>
            <a:r>
              <a:rPr lang="en-US" sz="2400" b="1" dirty="0">
                <a:solidFill>
                  <a:srgbClr val="00B1D9"/>
                </a:solidFill>
                <a:latin typeface="Aptos"/>
              </a:rPr>
              <a:t>RECAP</a:t>
            </a:r>
            <a:endParaRPr sz="2400" b="1" dirty="0">
              <a:solidFill>
                <a:srgbClr val="00B1D9"/>
              </a:solidFill>
              <a:latin typeface="Aptos"/>
            </a:endParaRPr>
          </a:p>
        </p:txBody>
      </p:sp>
      <p:sp>
        <p:nvSpPr>
          <p:cNvPr id="3" name="TextBox 2"/>
          <p:cNvSpPr txBox="1"/>
          <p:nvPr/>
        </p:nvSpPr>
        <p:spPr>
          <a:xfrm>
            <a:off x="658368" y="667512"/>
            <a:ext cx="10744200" cy="658368"/>
          </a:xfrm>
          <a:prstGeom prst="rect">
            <a:avLst/>
          </a:prstGeom>
          <a:noFill/>
        </p:spPr>
        <p:txBody>
          <a:bodyPr wrap="square" lIns="0" tIns="0" rIns="0" bIns="0" anchor="t">
            <a:spAutoFit/>
          </a:bodyPr>
          <a:lstStyle/>
          <a:p>
            <a:pPr algn="l"/>
            <a:r>
              <a:rPr sz="2800" b="1" dirty="0">
                <a:solidFill>
                  <a:srgbClr val="FFFFFF"/>
                </a:solidFill>
                <a:latin typeface="Aptos"/>
              </a:rPr>
              <a:t>Six principles for useful—and secure—skills</a:t>
            </a:r>
          </a:p>
        </p:txBody>
      </p:sp>
      <p:sp>
        <p:nvSpPr>
          <p:cNvPr id="4" name="TextBox 3"/>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B2BCD3"/>
                </a:solidFill>
                <a:latin typeface="Aptos"/>
              </a:rPr>
              <a:t>21</a:t>
            </a:r>
          </a:p>
        </p:txBody>
      </p:sp>
      <p:sp>
        <p:nvSpPr>
          <p:cNvPr id="6" name="TextBox 5"/>
          <p:cNvSpPr txBox="1"/>
          <p:nvPr/>
        </p:nvSpPr>
        <p:spPr>
          <a:xfrm>
            <a:off x="749808" y="1490472"/>
            <a:ext cx="420624" cy="329184"/>
          </a:xfrm>
          <a:prstGeom prst="rect">
            <a:avLst/>
          </a:prstGeom>
          <a:noFill/>
        </p:spPr>
        <p:txBody>
          <a:bodyPr wrap="square" lIns="0" tIns="0" rIns="0" bIns="0" anchor="t">
            <a:spAutoFit/>
          </a:bodyPr>
          <a:lstStyle/>
          <a:p>
            <a:pPr algn="l"/>
            <a:r>
              <a:rPr sz="1900" b="1">
                <a:solidFill>
                  <a:srgbClr val="00B1D9"/>
                </a:solidFill>
                <a:latin typeface="Aptos"/>
              </a:rPr>
              <a:t>1</a:t>
            </a:r>
          </a:p>
        </p:txBody>
      </p:sp>
      <p:sp>
        <p:nvSpPr>
          <p:cNvPr id="7" name="TextBox 6"/>
          <p:cNvSpPr txBox="1"/>
          <p:nvPr/>
        </p:nvSpPr>
        <p:spPr>
          <a:xfrm>
            <a:off x="1371600" y="1472184"/>
            <a:ext cx="2514600" cy="329184"/>
          </a:xfrm>
          <a:prstGeom prst="rect">
            <a:avLst/>
          </a:prstGeom>
          <a:noFill/>
        </p:spPr>
        <p:txBody>
          <a:bodyPr wrap="square" lIns="0" tIns="0" rIns="0" bIns="0" anchor="t">
            <a:spAutoFit/>
          </a:bodyPr>
          <a:lstStyle/>
          <a:p>
            <a:pPr algn="l"/>
            <a:r>
              <a:rPr sz="1600" b="1">
                <a:solidFill>
                  <a:srgbClr val="FFFFFF"/>
                </a:solidFill>
                <a:latin typeface="Aptos"/>
              </a:rPr>
              <a:t>Start with expertise</a:t>
            </a:r>
          </a:p>
        </p:txBody>
      </p:sp>
      <p:sp>
        <p:nvSpPr>
          <p:cNvPr id="8" name="TextBox 7"/>
          <p:cNvSpPr txBox="1"/>
          <p:nvPr/>
        </p:nvSpPr>
        <p:spPr>
          <a:xfrm>
            <a:off x="1385316" y="1490472"/>
            <a:ext cx="2057400" cy="215444"/>
          </a:xfrm>
          <a:prstGeom prst="rect">
            <a:avLst/>
          </a:prstGeom>
          <a:noFill/>
        </p:spPr>
        <p:txBody>
          <a:bodyPr wrap="square" lIns="0" tIns="0" rIns="0" bIns="0" anchor="t">
            <a:spAutoFit/>
          </a:bodyPr>
          <a:lstStyle/>
          <a:p>
            <a:pPr algn="l"/>
            <a:r>
              <a:rPr lang="en-US" sz="1400" b="0" dirty="0">
                <a:solidFill>
                  <a:srgbClr val="576276"/>
                </a:solidFill>
                <a:latin typeface="Aptos"/>
              </a:rPr>
              <a:t>Bring domain expertise</a:t>
            </a:r>
            <a:endParaRPr sz="1400" b="0" dirty="0">
              <a:solidFill>
                <a:srgbClr val="576276"/>
              </a:solidFill>
              <a:latin typeface="Aptos"/>
            </a:endParaRPr>
          </a:p>
        </p:txBody>
      </p:sp>
      <p:sp>
        <p:nvSpPr>
          <p:cNvPr id="9" name="Rectangle 8"/>
          <p:cNvSpPr/>
          <p:nvPr/>
        </p:nvSpPr>
        <p:spPr>
          <a:xfrm>
            <a:off x="1371600" y="2249424"/>
            <a:ext cx="4434840" cy="10972"/>
          </a:xfrm>
          <a:prstGeom prst="rect">
            <a:avLst/>
          </a:prstGeom>
          <a:solidFill>
            <a:srgbClr val="303C59"/>
          </a:solidFill>
          <a:ln>
            <a:solidFill>
              <a:srgbClr val="303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490472"/>
            <a:ext cx="420624" cy="329184"/>
          </a:xfrm>
          <a:prstGeom prst="rect">
            <a:avLst/>
          </a:prstGeom>
          <a:noFill/>
        </p:spPr>
        <p:txBody>
          <a:bodyPr wrap="square" lIns="0" tIns="0" rIns="0" bIns="0" anchor="t">
            <a:spAutoFit/>
          </a:bodyPr>
          <a:lstStyle/>
          <a:p>
            <a:pPr algn="l"/>
            <a:r>
              <a:rPr sz="1900" b="1">
                <a:solidFill>
                  <a:srgbClr val="3361E1"/>
                </a:solidFill>
                <a:latin typeface="Aptos"/>
              </a:rPr>
              <a:t>2</a:t>
            </a:r>
          </a:p>
        </p:txBody>
      </p:sp>
      <p:sp>
        <p:nvSpPr>
          <p:cNvPr id="11" name="TextBox 10"/>
          <p:cNvSpPr txBox="1"/>
          <p:nvPr/>
        </p:nvSpPr>
        <p:spPr>
          <a:xfrm>
            <a:off x="6995160" y="1472184"/>
            <a:ext cx="2514600" cy="329184"/>
          </a:xfrm>
          <a:prstGeom prst="rect">
            <a:avLst/>
          </a:prstGeom>
          <a:noFill/>
        </p:spPr>
        <p:txBody>
          <a:bodyPr wrap="square" lIns="0" tIns="0" rIns="0" bIns="0" anchor="t">
            <a:spAutoFit/>
          </a:bodyPr>
          <a:lstStyle/>
          <a:p>
            <a:pPr algn="l"/>
            <a:r>
              <a:rPr sz="1600" b="1">
                <a:solidFill>
                  <a:srgbClr val="FFFFFF"/>
                </a:solidFill>
                <a:latin typeface="Aptos"/>
              </a:rPr>
              <a:t>Trigger intentionally</a:t>
            </a:r>
          </a:p>
        </p:txBody>
      </p:sp>
      <p:sp>
        <p:nvSpPr>
          <p:cNvPr id="12" name="TextBox 11"/>
          <p:cNvSpPr txBox="1"/>
          <p:nvPr/>
        </p:nvSpPr>
        <p:spPr>
          <a:xfrm>
            <a:off x="7031736" y="1460447"/>
            <a:ext cx="2057400" cy="646331"/>
          </a:xfrm>
          <a:prstGeom prst="rect">
            <a:avLst/>
          </a:prstGeom>
          <a:noFill/>
        </p:spPr>
        <p:txBody>
          <a:bodyPr wrap="square" lIns="0" tIns="0" rIns="0" bIns="0" anchor="t">
            <a:spAutoFit/>
          </a:bodyPr>
          <a:lstStyle/>
          <a:p>
            <a:pPr algn="l"/>
            <a:r>
              <a:rPr sz="1400" b="0" dirty="0">
                <a:solidFill>
                  <a:srgbClr val="576276"/>
                </a:solidFill>
                <a:latin typeface="Aptos"/>
              </a:rPr>
              <a:t>Describe when the skill should—and should not—activate.</a:t>
            </a:r>
          </a:p>
        </p:txBody>
      </p:sp>
      <p:sp>
        <p:nvSpPr>
          <p:cNvPr id="13" name="Rectangle 12"/>
          <p:cNvSpPr/>
          <p:nvPr/>
        </p:nvSpPr>
        <p:spPr>
          <a:xfrm>
            <a:off x="6995160" y="2249424"/>
            <a:ext cx="4434840" cy="10972"/>
          </a:xfrm>
          <a:prstGeom prst="rect">
            <a:avLst/>
          </a:prstGeom>
          <a:solidFill>
            <a:srgbClr val="303C59"/>
          </a:solidFill>
          <a:ln>
            <a:solidFill>
              <a:srgbClr val="303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2816352"/>
            <a:ext cx="420624" cy="329184"/>
          </a:xfrm>
          <a:prstGeom prst="rect">
            <a:avLst/>
          </a:prstGeom>
          <a:noFill/>
        </p:spPr>
        <p:txBody>
          <a:bodyPr wrap="square" lIns="0" tIns="0" rIns="0" bIns="0" anchor="t">
            <a:spAutoFit/>
          </a:bodyPr>
          <a:lstStyle/>
          <a:p>
            <a:pPr algn="l"/>
            <a:r>
              <a:rPr sz="1900" b="1">
                <a:solidFill>
                  <a:srgbClr val="7E41E8"/>
                </a:solidFill>
                <a:latin typeface="Aptos"/>
              </a:rPr>
              <a:t>3</a:t>
            </a:r>
          </a:p>
        </p:txBody>
      </p:sp>
      <p:sp>
        <p:nvSpPr>
          <p:cNvPr id="15" name="TextBox 14"/>
          <p:cNvSpPr txBox="1"/>
          <p:nvPr/>
        </p:nvSpPr>
        <p:spPr>
          <a:xfrm>
            <a:off x="1371600" y="2798064"/>
            <a:ext cx="2514600" cy="329184"/>
          </a:xfrm>
          <a:prstGeom prst="rect">
            <a:avLst/>
          </a:prstGeom>
          <a:noFill/>
        </p:spPr>
        <p:txBody>
          <a:bodyPr wrap="square" lIns="0" tIns="0" rIns="0" bIns="0" anchor="t">
            <a:spAutoFit/>
          </a:bodyPr>
          <a:lstStyle/>
          <a:p>
            <a:pPr algn="l"/>
            <a:r>
              <a:rPr sz="1600" b="1">
                <a:solidFill>
                  <a:srgbClr val="FFFFFF"/>
                </a:solidFill>
                <a:latin typeface="Aptos"/>
              </a:rPr>
              <a:t>Give it one clear job</a:t>
            </a:r>
          </a:p>
        </p:txBody>
      </p:sp>
      <p:sp>
        <p:nvSpPr>
          <p:cNvPr id="16" name="TextBox 15"/>
          <p:cNvSpPr txBox="1"/>
          <p:nvPr/>
        </p:nvSpPr>
        <p:spPr>
          <a:xfrm>
            <a:off x="1371600" y="2813448"/>
            <a:ext cx="2057400" cy="215444"/>
          </a:xfrm>
          <a:prstGeom prst="rect">
            <a:avLst/>
          </a:prstGeom>
          <a:noFill/>
        </p:spPr>
        <p:txBody>
          <a:bodyPr wrap="square" lIns="0" tIns="0" rIns="0" bIns="0" anchor="t">
            <a:spAutoFit/>
          </a:bodyPr>
          <a:lstStyle/>
          <a:p>
            <a:pPr algn="l"/>
            <a:r>
              <a:rPr lang="en-US" sz="1400" b="0" dirty="0">
                <a:solidFill>
                  <a:srgbClr val="576276"/>
                </a:solidFill>
                <a:latin typeface="Aptos"/>
              </a:rPr>
              <a:t>Keep skill </a:t>
            </a:r>
            <a:r>
              <a:rPr lang="en-US" sz="1400" dirty="0">
                <a:solidFill>
                  <a:srgbClr val="576276"/>
                </a:solidFill>
                <a:latin typeface="Aptos"/>
              </a:rPr>
              <a:t>concise</a:t>
            </a:r>
            <a:endParaRPr sz="1400" b="0" dirty="0">
              <a:solidFill>
                <a:srgbClr val="576276"/>
              </a:solidFill>
              <a:latin typeface="Aptos"/>
            </a:endParaRPr>
          </a:p>
        </p:txBody>
      </p:sp>
      <p:sp>
        <p:nvSpPr>
          <p:cNvPr id="17" name="Rectangle 16"/>
          <p:cNvSpPr/>
          <p:nvPr/>
        </p:nvSpPr>
        <p:spPr>
          <a:xfrm>
            <a:off x="1371600" y="3575304"/>
            <a:ext cx="4434840" cy="10972"/>
          </a:xfrm>
          <a:prstGeom prst="rect">
            <a:avLst/>
          </a:prstGeom>
          <a:solidFill>
            <a:srgbClr val="303C59"/>
          </a:solidFill>
          <a:ln>
            <a:solidFill>
              <a:srgbClr val="303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73368" y="2816352"/>
            <a:ext cx="420624" cy="329184"/>
          </a:xfrm>
          <a:prstGeom prst="rect">
            <a:avLst/>
          </a:prstGeom>
          <a:noFill/>
        </p:spPr>
        <p:txBody>
          <a:bodyPr wrap="square" lIns="0" tIns="0" rIns="0" bIns="0" anchor="t">
            <a:spAutoFit/>
          </a:bodyPr>
          <a:lstStyle/>
          <a:p>
            <a:pPr algn="l"/>
            <a:r>
              <a:rPr sz="1900" b="1">
                <a:solidFill>
                  <a:srgbClr val="E69326"/>
                </a:solidFill>
                <a:latin typeface="Aptos"/>
              </a:rPr>
              <a:t>4</a:t>
            </a:r>
          </a:p>
        </p:txBody>
      </p:sp>
      <p:sp>
        <p:nvSpPr>
          <p:cNvPr id="19" name="TextBox 18"/>
          <p:cNvSpPr txBox="1"/>
          <p:nvPr/>
        </p:nvSpPr>
        <p:spPr>
          <a:xfrm>
            <a:off x="6995160" y="2798064"/>
            <a:ext cx="2514600" cy="329184"/>
          </a:xfrm>
          <a:prstGeom prst="rect">
            <a:avLst/>
          </a:prstGeom>
          <a:noFill/>
        </p:spPr>
        <p:txBody>
          <a:bodyPr wrap="square" lIns="0" tIns="0" rIns="0" bIns="0" anchor="t">
            <a:spAutoFit/>
          </a:bodyPr>
          <a:lstStyle/>
          <a:p>
            <a:pPr algn="l"/>
            <a:r>
              <a:rPr sz="1600" b="1">
                <a:solidFill>
                  <a:srgbClr val="FFFFFF"/>
                </a:solidFill>
                <a:latin typeface="Aptos"/>
              </a:rPr>
              <a:t>Use deterministic logic</a:t>
            </a:r>
          </a:p>
        </p:txBody>
      </p:sp>
      <p:sp>
        <p:nvSpPr>
          <p:cNvPr id="20" name="TextBox 19"/>
          <p:cNvSpPr txBox="1"/>
          <p:nvPr/>
        </p:nvSpPr>
        <p:spPr>
          <a:xfrm>
            <a:off x="7047931" y="2681018"/>
            <a:ext cx="2057400" cy="658368"/>
          </a:xfrm>
          <a:prstGeom prst="rect">
            <a:avLst/>
          </a:prstGeom>
          <a:noFill/>
        </p:spPr>
        <p:txBody>
          <a:bodyPr wrap="square" lIns="0" tIns="0" rIns="0" bIns="0" anchor="t">
            <a:spAutoFit/>
          </a:bodyPr>
          <a:lstStyle/>
          <a:p>
            <a:pPr algn="l"/>
            <a:r>
              <a:rPr sz="1400" b="0" dirty="0">
                <a:solidFill>
                  <a:srgbClr val="576276"/>
                </a:solidFill>
                <a:latin typeface="Aptos"/>
              </a:rPr>
              <a:t>Use reviewed scripts</a:t>
            </a:r>
            <a:r>
              <a:rPr lang="en-US" sz="1400" b="0" dirty="0">
                <a:solidFill>
                  <a:srgbClr val="576276"/>
                </a:solidFill>
                <a:latin typeface="Aptos"/>
              </a:rPr>
              <a:t> and code</a:t>
            </a:r>
            <a:r>
              <a:rPr sz="1400" b="0" dirty="0">
                <a:solidFill>
                  <a:srgbClr val="576276"/>
                </a:solidFill>
                <a:latin typeface="Aptos"/>
              </a:rPr>
              <a:t> where rules must remain exact.</a:t>
            </a:r>
          </a:p>
        </p:txBody>
      </p:sp>
      <p:sp>
        <p:nvSpPr>
          <p:cNvPr id="21" name="Rectangle 20"/>
          <p:cNvSpPr/>
          <p:nvPr/>
        </p:nvSpPr>
        <p:spPr>
          <a:xfrm>
            <a:off x="6995160" y="3575304"/>
            <a:ext cx="4434840" cy="10972"/>
          </a:xfrm>
          <a:prstGeom prst="rect">
            <a:avLst/>
          </a:prstGeom>
          <a:solidFill>
            <a:srgbClr val="303C59"/>
          </a:solidFill>
          <a:ln>
            <a:solidFill>
              <a:srgbClr val="303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4142231"/>
            <a:ext cx="420624" cy="329184"/>
          </a:xfrm>
          <a:prstGeom prst="rect">
            <a:avLst/>
          </a:prstGeom>
          <a:noFill/>
        </p:spPr>
        <p:txBody>
          <a:bodyPr wrap="square" lIns="0" tIns="0" rIns="0" bIns="0" anchor="t">
            <a:spAutoFit/>
          </a:bodyPr>
          <a:lstStyle/>
          <a:p>
            <a:pPr algn="l"/>
            <a:r>
              <a:rPr sz="1900" b="1">
                <a:solidFill>
                  <a:srgbClr val="EF3281"/>
                </a:solidFill>
                <a:latin typeface="Aptos"/>
              </a:rPr>
              <a:t>5</a:t>
            </a:r>
          </a:p>
        </p:txBody>
      </p:sp>
      <p:sp>
        <p:nvSpPr>
          <p:cNvPr id="23" name="TextBox 22"/>
          <p:cNvSpPr txBox="1"/>
          <p:nvPr/>
        </p:nvSpPr>
        <p:spPr>
          <a:xfrm>
            <a:off x="1371600" y="4123944"/>
            <a:ext cx="2514600" cy="329184"/>
          </a:xfrm>
          <a:prstGeom prst="rect">
            <a:avLst/>
          </a:prstGeom>
          <a:noFill/>
        </p:spPr>
        <p:txBody>
          <a:bodyPr wrap="square" lIns="0" tIns="0" rIns="0" bIns="0" anchor="t">
            <a:spAutoFit/>
          </a:bodyPr>
          <a:lstStyle/>
          <a:p>
            <a:pPr algn="l"/>
            <a:r>
              <a:rPr sz="1600" b="1">
                <a:solidFill>
                  <a:srgbClr val="FFFFFF"/>
                </a:solidFill>
                <a:latin typeface="Aptos"/>
              </a:rPr>
              <a:t>Scope access to the task</a:t>
            </a:r>
          </a:p>
        </p:txBody>
      </p:sp>
      <p:sp>
        <p:nvSpPr>
          <p:cNvPr id="24" name="TextBox 23"/>
          <p:cNvSpPr txBox="1"/>
          <p:nvPr/>
        </p:nvSpPr>
        <p:spPr>
          <a:xfrm>
            <a:off x="1424371" y="3999500"/>
            <a:ext cx="2057400" cy="658368"/>
          </a:xfrm>
          <a:prstGeom prst="rect">
            <a:avLst/>
          </a:prstGeom>
          <a:noFill/>
        </p:spPr>
        <p:txBody>
          <a:bodyPr wrap="square" lIns="0" tIns="0" rIns="0" bIns="0" anchor="t">
            <a:spAutoFit/>
          </a:bodyPr>
          <a:lstStyle/>
          <a:p>
            <a:pPr algn="l"/>
            <a:r>
              <a:rPr sz="1400" b="0" dirty="0">
                <a:solidFill>
                  <a:srgbClr val="576276"/>
                </a:solidFill>
                <a:latin typeface="Aptos"/>
              </a:rPr>
              <a:t>Name files, tools, identity, destinations, and approvals.</a:t>
            </a:r>
          </a:p>
        </p:txBody>
      </p:sp>
      <p:sp>
        <p:nvSpPr>
          <p:cNvPr id="25" name="Rectangle 24"/>
          <p:cNvSpPr/>
          <p:nvPr/>
        </p:nvSpPr>
        <p:spPr>
          <a:xfrm>
            <a:off x="1371600" y="4901183"/>
            <a:ext cx="4434840" cy="10972"/>
          </a:xfrm>
          <a:prstGeom prst="rect">
            <a:avLst/>
          </a:prstGeom>
          <a:solidFill>
            <a:srgbClr val="303C59"/>
          </a:solidFill>
          <a:ln>
            <a:solidFill>
              <a:srgbClr val="303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73368" y="4142231"/>
            <a:ext cx="420624" cy="329184"/>
          </a:xfrm>
          <a:prstGeom prst="rect">
            <a:avLst/>
          </a:prstGeom>
          <a:noFill/>
        </p:spPr>
        <p:txBody>
          <a:bodyPr wrap="square" lIns="0" tIns="0" rIns="0" bIns="0" anchor="t">
            <a:spAutoFit/>
          </a:bodyPr>
          <a:lstStyle/>
          <a:p>
            <a:pPr algn="l"/>
            <a:r>
              <a:rPr sz="1900" b="1">
                <a:solidFill>
                  <a:srgbClr val="00AA80"/>
                </a:solidFill>
                <a:latin typeface="Aptos"/>
              </a:rPr>
              <a:t>6</a:t>
            </a:r>
          </a:p>
        </p:txBody>
      </p:sp>
      <p:sp>
        <p:nvSpPr>
          <p:cNvPr id="27" name="TextBox 26"/>
          <p:cNvSpPr txBox="1"/>
          <p:nvPr/>
        </p:nvSpPr>
        <p:spPr>
          <a:xfrm>
            <a:off x="6995160" y="4123944"/>
            <a:ext cx="2514600" cy="329184"/>
          </a:xfrm>
          <a:prstGeom prst="rect">
            <a:avLst/>
          </a:prstGeom>
          <a:noFill/>
        </p:spPr>
        <p:txBody>
          <a:bodyPr wrap="square" lIns="0" tIns="0" rIns="0" bIns="0" anchor="t">
            <a:spAutoFit/>
          </a:bodyPr>
          <a:lstStyle/>
          <a:p>
            <a:pPr algn="l"/>
            <a:r>
              <a:rPr sz="1600" b="1">
                <a:solidFill>
                  <a:srgbClr val="FFFFFF"/>
                </a:solidFill>
                <a:latin typeface="Aptos"/>
              </a:rPr>
              <a:t>Define failure and stopping</a:t>
            </a:r>
          </a:p>
        </p:txBody>
      </p:sp>
      <p:sp>
        <p:nvSpPr>
          <p:cNvPr id="28" name="TextBox 27"/>
          <p:cNvSpPr txBox="1"/>
          <p:nvPr/>
        </p:nvSpPr>
        <p:spPr>
          <a:xfrm>
            <a:off x="7047931" y="4195977"/>
            <a:ext cx="2057400" cy="430887"/>
          </a:xfrm>
          <a:prstGeom prst="rect">
            <a:avLst/>
          </a:prstGeom>
          <a:noFill/>
        </p:spPr>
        <p:txBody>
          <a:bodyPr wrap="square" lIns="0" tIns="0" rIns="0" bIns="0" anchor="t">
            <a:spAutoFit/>
          </a:bodyPr>
          <a:lstStyle/>
          <a:p>
            <a:pPr algn="l"/>
            <a:r>
              <a:rPr sz="1400" b="0" dirty="0">
                <a:solidFill>
                  <a:srgbClr val="576276"/>
                </a:solidFill>
                <a:latin typeface="Aptos"/>
              </a:rPr>
              <a:t>Tell the agent when to ask, fail safely, or stop.</a:t>
            </a:r>
          </a:p>
        </p:txBody>
      </p:sp>
      <p:sp>
        <p:nvSpPr>
          <p:cNvPr id="29" name="Rectangle 28"/>
          <p:cNvSpPr/>
          <p:nvPr/>
        </p:nvSpPr>
        <p:spPr>
          <a:xfrm>
            <a:off x="6995160" y="4901183"/>
            <a:ext cx="4434840" cy="10972"/>
          </a:xfrm>
          <a:prstGeom prst="rect">
            <a:avLst/>
          </a:prstGeom>
          <a:solidFill>
            <a:srgbClr val="303C59"/>
          </a:solidFill>
          <a:ln>
            <a:solidFill>
              <a:srgbClr val="303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 y="5760720"/>
            <a:ext cx="10424160" cy="329184"/>
          </a:xfrm>
          <a:prstGeom prst="rect">
            <a:avLst/>
          </a:prstGeom>
          <a:noFill/>
        </p:spPr>
        <p:txBody>
          <a:bodyPr wrap="square" lIns="0" tIns="0" rIns="0" bIns="0" anchor="t">
            <a:spAutoFit/>
          </a:bodyPr>
          <a:lstStyle/>
          <a:p>
            <a:pPr algn="ctr"/>
            <a:r>
              <a:rPr sz="1400" b="1">
                <a:solidFill>
                  <a:srgbClr val="EF3281"/>
                </a:solidFill>
                <a:latin typeface="Aptos"/>
              </a:rPr>
              <a:t>Precision improves the work—and limits what the agent must be trusted to decide.</a:t>
            </a:r>
          </a:p>
        </p:txBody>
      </p:sp>
    </p:spTree>
    <p:extLst>
      <p:ext uri="{BB962C8B-B14F-4D97-AF65-F5344CB8AC3E}">
        <p14:creationId xmlns:p14="http://schemas.microsoft.com/office/powerpoint/2010/main" val="21516043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algn="l"/>
            <a:r>
              <a:rPr sz="850" b="1">
                <a:solidFill>
                  <a:srgbClr val="00B1D9"/>
                </a:solidFill>
                <a:latin typeface="Aptos"/>
              </a:rPr>
              <a:t>KNOWLEDGE RETRIEVAL VS. PROCEDURAL EXPERTISE</a:t>
            </a:r>
          </a:p>
        </p:txBody>
      </p:sp>
      <p:sp>
        <p:nvSpPr>
          <p:cNvPr id="3" name="TextBox 2"/>
          <p:cNvSpPr txBox="1"/>
          <p:nvPr/>
        </p:nvSpPr>
        <p:spPr>
          <a:xfrm>
            <a:off x="658368" y="667512"/>
            <a:ext cx="10744200" cy="658368"/>
          </a:xfrm>
          <a:prstGeom prst="rect">
            <a:avLst/>
          </a:prstGeom>
          <a:noFill/>
        </p:spPr>
        <p:txBody>
          <a:bodyPr wrap="square" lIns="0" tIns="0" rIns="0" bIns="0" anchor="t">
            <a:spAutoFit/>
          </a:bodyPr>
          <a:lstStyle/>
          <a:p>
            <a:pPr algn="l"/>
            <a:r>
              <a:rPr sz="2800" b="1">
                <a:solidFill>
                  <a:srgbClr val="FFFFFF"/>
                </a:solidFill>
                <a:latin typeface="Aptos"/>
              </a:rPr>
              <a:t>RAG and skills answer different questions</a:t>
            </a:r>
          </a:p>
        </p:txBody>
      </p:sp>
      <p:sp>
        <p:nvSpPr>
          <p:cNvPr id="4" name="TextBox 3"/>
          <p:cNvSpPr txBox="1"/>
          <p:nvPr/>
        </p:nvSpPr>
        <p:spPr>
          <a:xfrm>
            <a:off x="502920" y="6437376"/>
            <a:ext cx="1554480" cy="164592"/>
          </a:xfrm>
          <a:prstGeom prst="rect">
            <a:avLst/>
          </a:prstGeom>
          <a:noFill/>
        </p:spPr>
        <p:txBody>
          <a:bodyPr wrap="square" lIns="0" tIns="0" rIns="0" bIns="0" anchor="t">
            <a:spAutoFit/>
          </a:bodyPr>
          <a:lstStyle/>
          <a:p>
            <a:pPr algn="l"/>
            <a:r>
              <a:rPr sz="850" b="1" dirty="0" err="1">
                <a:solidFill>
                  <a:srgbClr val="FFFFFF"/>
                </a:solidFill>
                <a:latin typeface="Aptos"/>
              </a:rPr>
              <a:t>InfoSecWorld</a:t>
            </a:r>
            <a:endParaRPr sz="850" b="1" dirty="0">
              <a:solidFill>
                <a:srgbClr val="FFFFFF"/>
              </a:solidFill>
              <a:latin typeface="Aptos"/>
            </a:endParaRP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B2BCD3"/>
                </a:solidFill>
                <a:latin typeface="Aptos"/>
              </a:rPr>
              <a:t>07</a:t>
            </a:r>
          </a:p>
        </p:txBody>
      </p:sp>
      <p:sp>
        <p:nvSpPr>
          <p:cNvPr id="6" name="TextBox 5"/>
          <p:cNvSpPr txBox="1"/>
          <p:nvPr/>
        </p:nvSpPr>
        <p:spPr>
          <a:xfrm>
            <a:off x="749808" y="1508760"/>
            <a:ext cx="4480560" cy="310896"/>
          </a:xfrm>
          <a:prstGeom prst="rect">
            <a:avLst/>
          </a:prstGeom>
          <a:noFill/>
        </p:spPr>
        <p:txBody>
          <a:bodyPr wrap="square" lIns="0" tIns="0" rIns="0" bIns="0" anchor="t">
            <a:spAutoFit/>
          </a:bodyPr>
          <a:lstStyle/>
          <a:p>
            <a:pPr algn="l"/>
            <a:r>
              <a:rPr sz="1700" b="1">
                <a:solidFill>
                  <a:srgbClr val="00B1D9"/>
                </a:solidFill>
                <a:latin typeface="Aptos"/>
              </a:rPr>
              <a:t>TRADITIONAL RAG</a:t>
            </a:r>
          </a:p>
        </p:txBody>
      </p:sp>
      <p:sp>
        <p:nvSpPr>
          <p:cNvPr id="7" name="TextBox 6"/>
          <p:cNvSpPr txBox="1"/>
          <p:nvPr/>
        </p:nvSpPr>
        <p:spPr>
          <a:xfrm>
            <a:off x="749808" y="1975104"/>
            <a:ext cx="4526280" cy="731520"/>
          </a:xfrm>
          <a:prstGeom prst="rect">
            <a:avLst/>
          </a:prstGeom>
          <a:noFill/>
        </p:spPr>
        <p:txBody>
          <a:bodyPr wrap="square" lIns="0" tIns="0" rIns="0" bIns="0" anchor="t">
            <a:spAutoFit/>
          </a:bodyPr>
          <a:lstStyle/>
          <a:p>
            <a:pPr algn="l"/>
            <a:r>
              <a:rPr sz="2000" b="1">
                <a:solidFill>
                  <a:srgbClr val="FFFFFF"/>
                </a:solidFill>
                <a:latin typeface="Aptos"/>
              </a:rPr>
              <a:t>“What information should the model know right now?”</a:t>
            </a:r>
          </a:p>
        </p:txBody>
      </p:sp>
      <p:sp>
        <p:nvSpPr>
          <p:cNvPr id="8" name="TextBox 7"/>
          <p:cNvSpPr txBox="1"/>
          <p:nvPr/>
        </p:nvSpPr>
        <p:spPr>
          <a:xfrm>
            <a:off x="749808" y="2852928"/>
            <a:ext cx="4526280" cy="430887"/>
          </a:xfrm>
          <a:prstGeom prst="rect">
            <a:avLst/>
          </a:prstGeom>
          <a:noFill/>
        </p:spPr>
        <p:txBody>
          <a:bodyPr wrap="square" lIns="0" tIns="0" rIns="0" bIns="0" anchor="t">
            <a:spAutoFit/>
          </a:bodyPr>
          <a:lstStyle/>
          <a:p>
            <a:pPr algn="l"/>
            <a:r>
              <a:rPr sz="1400" b="0" dirty="0">
                <a:solidFill>
                  <a:schemeClr val="bg1"/>
                </a:solidFill>
                <a:latin typeface="Aptos"/>
              </a:rPr>
              <a:t>Searches an external corpus or index, retrieves relevant evidence, and adds it to the prompt as grounding context.</a:t>
            </a:r>
          </a:p>
        </p:txBody>
      </p:sp>
      <p:sp>
        <p:nvSpPr>
          <p:cNvPr id="9" name="TextBox 8"/>
          <p:cNvSpPr txBox="1"/>
          <p:nvPr/>
        </p:nvSpPr>
        <p:spPr>
          <a:xfrm>
            <a:off x="749808" y="4133087"/>
            <a:ext cx="1051560" cy="256032"/>
          </a:xfrm>
          <a:prstGeom prst="rect">
            <a:avLst/>
          </a:prstGeom>
          <a:noFill/>
        </p:spPr>
        <p:txBody>
          <a:bodyPr wrap="square" lIns="0" tIns="0" rIns="0" bIns="0" anchor="t">
            <a:spAutoFit/>
          </a:bodyPr>
          <a:lstStyle/>
          <a:p>
            <a:pPr algn="l"/>
            <a:r>
              <a:rPr sz="1000" b="1">
                <a:solidFill>
                  <a:srgbClr val="00B1D9"/>
                </a:solidFill>
                <a:latin typeface="Aptos"/>
              </a:rPr>
              <a:t>Best fit</a:t>
            </a:r>
          </a:p>
        </p:txBody>
      </p:sp>
      <p:sp>
        <p:nvSpPr>
          <p:cNvPr id="10" name="TextBox 9"/>
          <p:cNvSpPr txBox="1"/>
          <p:nvPr/>
        </p:nvSpPr>
        <p:spPr>
          <a:xfrm>
            <a:off x="749808" y="4480560"/>
            <a:ext cx="4526280" cy="640080"/>
          </a:xfrm>
          <a:prstGeom prst="rect">
            <a:avLst/>
          </a:prstGeom>
          <a:noFill/>
        </p:spPr>
        <p:txBody>
          <a:bodyPr wrap="square" lIns="0" tIns="0" rIns="0" bIns="0" anchor="t">
            <a:spAutoFit/>
          </a:bodyPr>
          <a:lstStyle/>
          <a:p>
            <a:pPr algn="l"/>
            <a:r>
              <a:rPr sz="1200" b="1">
                <a:solidFill>
                  <a:srgbClr val="FFFFFF"/>
                </a:solidFill>
                <a:latin typeface="Aptos"/>
              </a:rPr>
              <a:t>Private knowledge  •  changing information  •  factual Q&amp;A  •  citations</a:t>
            </a:r>
          </a:p>
        </p:txBody>
      </p:sp>
      <p:sp>
        <p:nvSpPr>
          <p:cNvPr id="11" name="Rectangle 10"/>
          <p:cNvSpPr/>
          <p:nvPr/>
        </p:nvSpPr>
        <p:spPr>
          <a:xfrm>
            <a:off x="5641848" y="1554480"/>
            <a:ext cx="36576" cy="3977639"/>
          </a:xfrm>
          <a:prstGeom prst="rect">
            <a:avLst/>
          </a:prstGeom>
          <a:solidFill>
            <a:srgbClr val="7E41E8"/>
          </a:solidFill>
          <a:ln>
            <a:solidFill>
              <a:srgbClr val="7E4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44768" y="1508760"/>
            <a:ext cx="4480560" cy="310896"/>
          </a:xfrm>
          <a:prstGeom prst="rect">
            <a:avLst/>
          </a:prstGeom>
          <a:noFill/>
        </p:spPr>
        <p:txBody>
          <a:bodyPr wrap="square" lIns="0" tIns="0" rIns="0" bIns="0" anchor="t">
            <a:spAutoFit/>
          </a:bodyPr>
          <a:lstStyle/>
          <a:p>
            <a:pPr algn="l"/>
            <a:r>
              <a:rPr sz="1700" b="1">
                <a:solidFill>
                  <a:srgbClr val="7E41E8"/>
                </a:solidFill>
                <a:latin typeface="Aptos"/>
              </a:rPr>
              <a:t>AGENT SKILL</a:t>
            </a:r>
          </a:p>
        </p:txBody>
      </p:sp>
      <p:sp>
        <p:nvSpPr>
          <p:cNvPr id="13" name="TextBox 12"/>
          <p:cNvSpPr txBox="1"/>
          <p:nvPr/>
        </p:nvSpPr>
        <p:spPr>
          <a:xfrm>
            <a:off x="6144768" y="1975104"/>
            <a:ext cx="4572000" cy="731520"/>
          </a:xfrm>
          <a:prstGeom prst="rect">
            <a:avLst/>
          </a:prstGeom>
          <a:noFill/>
        </p:spPr>
        <p:txBody>
          <a:bodyPr wrap="square" lIns="0" tIns="0" rIns="0" bIns="0" anchor="t">
            <a:spAutoFit/>
          </a:bodyPr>
          <a:lstStyle/>
          <a:p>
            <a:pPr algn="l"/>
            <a:r>
              <a:rPr sz="2000" b="1">
                <a:solidFill>
                  <a:srgbClr val="FFFFFF"/>
                </a:solidFill>
                <a:latin typeface="Aptos"/>
              </a:rPr>
              <a:t>“How should the agent perform this job?”</a:t>
            </a:r>
          </a:p>
        </p:txBody>
      </p:sp>
      <p:sp>
        <p:nvSpPr>
          <p:cNvPr id="14" name="TextBox 13"/>
          <p:cNvSpPr txBox="1"/>
          <p:nvPr/>
        </p:nvSpPr>
        <p:spPr>
          <a:xfrm>
            <a:off x="6144768" y="2852928"/>
            <a:ext cx="4572000" cy="430887"/>
          </a:xfrm>
          <a:prstGeom prst="rect">
            <a:avLst/>
          </a:prstGeom>
          <a:noFill/>
        </p:spPr>
        <p:txBody>
          <a:bodyPr wrap="square" lIns="0" tIns="0" rIns="0" bIns="0" anchor="t">
            <a:spAutoFit/>
          </a:bodyPr>
          <a:lstStyle/>
          <a:p>
            <a:pPr algn="l"/>
            <a:r>
              <a:rPr sz="1400" b="0" dirty="0">
                <a:solidFill>
                  <a:schemeClr val="bg1"/>
                </a:solidFill>
                <a:latin typeface="Aptos"/>
              </a:rPr>
              <a:t>Packages instructions, decision logic, references, scripts, and output expectations for a repeatable workflow.</a:t>
            </a:r>
          </a:p>
        </p:txBody>
      </p:sp>
      <p:sp>
        <p:nvSpPr>
          <p:cNvPr id="15" name="TextBox 14"/>
          <p:cNvSpPr txBox="1"/>
          <p:nvPr/>
        </p:nvSpPr>
        <p:spPr>
          <a:xfrm>
            <a:off x="6144768" y="4133087"/>
            <a:ext cx="1051560" cy="256032"/>
          </a:xfrm>
          <a:prstGeom prst="rect">
            <a:avLst/>
          </a:prstGeom>
          <a:noFill/>
        </p:spPr>
        <p:txBody>
          <a:bodyPr wrap="square" lIns="0" tIns="0" rIns="0" bIns="0" anchor="t">
            <a:spAutoFit/>
          </a:bodyPr>
          <a:lstStyle/>
          <a:p>
            <a:pPr algn="l"/>
            <a:r>
              <a:rPr sz="1000" b="1">
                <a:solidFill>
                  <a:srgbClr val="7E41E8"/>
                </a:solidFill>
                <a:latin typeface="Aptos"/>
              </a:rPr>
              <a:t>Best fit</a:t>
            </a:r>
          </a:p>
        </p:txBody>
      </p:sp>
      <p:sp>
        <p:nvSpPr>
          <p:cNvPr id="16" name="TextBox 15"/>
          <p:cNvSpPr txBox="1"/>
          <p:nvPr/>
        </p:nvSpPr>
        <p:spPr>
          <a:xfrm>
            <a:off x="6144768" y="4480560"/>
            <a:ext cx="4572000" cy="640080"/>
          </a:xfrm>
          <a:prstGeom prst="rect">
            <a:avLst/>
          </a:prstGeom>
          <a:noFill/>
        </p:spPr>
        <p:txBody>
          <a:bodyPr wrap="square" lIns="0" tIns="0" rIns="0" bIns="0" anchor="t">
            <a:spAutoFit/>
          </a:bodyPr>
          <a:lstStyle/>
          <a:p>
            <a:pPr algn="l"/>
            <a:r>
              <a:rPr sz="1200" b="1">
                <a:solidFill>
                  <a:srgbClr val="FFFFFF"/>
                </a:solidFill>
                <a:latin typeface="Aptos"/>
              </a:rPr>
              <a:t>Methodology  •  repeatable process  •  constraints  •  task-specific output</a:t>
            </a:r>
          </a:p>
        </p:txBody>
      </p:sp>
      <p:sp>
        <p:nvSpPr>
          <p:cNvPr id="17" name="Rectangle 16"/>
          <p:cNvSpPr/>
          <p:nvPr/>
        </p:nvSpPr>
        <p:spPr>
          <a:xfrm>
            <a:off x="1051560" y="5532120"/>
            <a:ext cx="10058400" cy="512064"/>
          </a:xfrm>
          <a:prstGeom prst="rect">
            <a:avLst/>
          </a:prstGeom>
          <a:solidFill>
            <a:srgbClr val="3361E1"/>
          </a:solidFill>
          <a:ln>
            <a:solidFill>
              <a:srgbClr val="336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5696712"/>
            <a:ext cx="9601200" cy="246888"/>
          </a:xfrm>
          <a:prstGeom prst="rect">
            <a:avLst/>
          </a:prstGeom>
          <a:noFill/>
        </p:spPr>
        <p:txBody>
          <a:bodyPr wrap="square" lIns="0" tIns="0" rIns="0" bIns="0" anchor="t">
            <a:spAutoFit/>
          </a:bodyPr>
          <a:lstStyle/>
          <a:p>
            <a:pPr algn="ctr"/>
            <a:r>
              <a:rPr sz="1400" b="1">
                <a:solidFill>
                  <a:srgbClr val="FFFFFF"/>
                </a:solidFill>
                <a:latin typeface="Aptos"/>
              </a:rPr>
              <a:t>RAG supplies relevant knowledge. A skill supplies a way of working.</a:t>
            </a:r>
          </a:p>
        </p:txBody>
      </p:sp>
      <p:sp>
        <p:nvSpPr>
          <p:cNvPr id="19" name="TextBox 18"/>
          <p:cNvSpPr txBox="1"/>
          <p:nvPr/>
        </p:nvSpPr>
        <p:spPr>
          <a:xfrm>
            <a:off x="749808" y="6245352"/>
            <a:ext cx="10378440" cy="164592"/>
          </a:xfrm>
          <a:prstGeom prst="rect">
            <a:avLst/>
          </a:prstGeom>
          <a:noFill/>
        </p:spPr>
        <p:txBody>
          <a:bodyPr wrap="square" lIns="0" tIns="0" rIns="0" bIns="0" anchor="t">
            <a:spAutoFit/>
          </a:bodyPr>
          <a:lstStyle/>
          <a:p>
            <a:pPr algn="l"/>
            <a:r>
              <a:rPr sz="720" b="0">
                <a:solidFill>
                  <a:srgbClr val="576276"/>
                </a:solidFill>
                <a:latin typeface="Aptos"/>
              </a:rPr>
              <a:t>Sources: Microsoft Foundry RAG guidance; Agent Skills specification.</a:t>
            </a:r>
          </a:p>
        </p:txBody>
      </p:sp>
    </p:spTree>
    <p:extLst>
      <p:ext uri="{BB962C8B-B14F-4D97-AF65-F5344CB8AC3E}">
        <p14:creationId xmlns:p14="http://schemas.microsoft.com/office/powerpoint/2010/main" val="5996158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algn="l"/>
            <a:r>
              <a:rPr sz="850" b="1">
                <a:solidFill>
                  <a:srgbClr val="00B1D9"/>
                </a:solidFill>
                <a:latin typeface="Aptos"/>
              </a:rPr>
              <a:t>A SKILL CAN INHERIT THE REACH OF THE AGENT THAT LOADS IT</a:t>
            </a:r>
          </a:p>
        </p:txBody>
      </p:sp>
      <p:sp>
        <p:nvSpPr>
          <p:cNvPr id="3" name="TextBox 2"/>
          <p:cNvSpPr txBox="1"/>
          <p:nvPr/>
        </p:nvSpPr>
        <p:spPr>
          <a:xfrm>
            <a:off x="658368" y="667512"/>
            <a:ext cx="10744200" cy="658368"/>
          </a:xfrm>
          <a:prstGeom prst="rect">
            <a:avLst/>
          </a:prstGeom>
          <a:noFill/>
        </p:spPr>
        <p:txBody>
          <a:bodyPr wrap="square" lIns="0" tIns="0" rIns="0" bIns="0" anchor="t">
            <a:spAutoFit/>
          </a:bodyPr>
          <a:lstStyle/>
          <a:p>
            <a:pPr algn="l"/>
            <a:r>
              <a:rPr sz="2800" b="1">
                <a:solidFill>
                  <a:srgbClr val="FFFFFF"/>
                </a:solidFill>
                <a:latin typeface="Aptos"/>
              </a:rPr>
              <a:t>What makes agent skills dangerous?</a:t>
            </a:r>
          </a:p>
        </p:txBody>
      </p:sp>
      <p:sp>
        <p:nvSpPr>
          <p:cNvPr id="4" name="TextBox 3"/>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B2BCD3"/>
                </a:solidFill>
                <a:latin typeface="Aptos"/>
              </a:rPr>
              <a:t>07</a:t>
            </a:r>
          </a:p>
        </p:txBody>
      </p:sp>
      <p:sp>
        <p:nvSpPr>
          <p:cNvPr id="7" name="TextBox 6"/>
          <p:cNvSpPr txBox="1"/>
          <p:nvPr/>
        </p:nvSpPr>
        <p:spPr>
          <a:xfrm>
            <a:off x="685800" y="1508760"/>
            <a:ext cx="2971800" cy="1661993"/>
          </a:xfrm>
          <a:prstGeom prst="rect">
            <a:avLst/>
          </a:prstGeom>
          <a:noFill/>
        </p:spPr>
        <p:txBody>
          <a:bodyPr wrap="square" lIns="0" tIns="0" rIns="0" bIns="0" anchor="t">
            <a:spAutoFit/>
          </a:bodyPr>
          <a:lstStyle/>
          <a:p>
            <a:pPr algn="l"/>
            <a:r>
              <a:rPr b="0" dirty="0">
                <a:solidFill>
                  <a:srgbClr val="FFFFFF"/>
                </a:solidFill>
                <a:latin typeface="Aptos"/>
              </a:rPr>
              <a:t>Unlike a sandboxed extension, a skill may guide an agent already authorized to act as you. Its effective capability is whatever the host runtime exposes.</a:t>
            </a:r>
          </a:p>
        </p:txBody>
      </p:sp>
      <p:sp>
        <p:nvSpPr>
          <p:cNvPr id="8" name="Rectangle 7"/>
          <p:cNvSpPr/>
          <p:nvPr/>
        </p:nvSpPr>
        <p:spPr>
          <a:xfrm>
            <a:off x="749808" y="4224528"/>
            <a:ext cx="2907792" cy="749808"/>
          </a:xfrm>
          <a:prstGeom prst="rect">
            <a:avLst/>
          </a:prstGeom>
          <a:solidFill>
            <a:srgbClr val="3361E1"/>
          </a:solidFill>
          <a:ln>
            <a:solidFill>
              <a:srgbClr val="336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4389120"/>
            <a:ext cx="2523744" cy="438912"/>
          </a:xfrm>
          <a:prstGeom prst="rect">
            <a:avLst/>
          </a:prstGeom>
          <a:noFill/>
        </p:spPr>
        <p:txBody>
          <a:bodyPr wrap="square" lIns="0" tIns="0" rIns="0" bIns="0" anchor="t">
            <a:spAutoFit/>
          </a:bodyPr>
          <a:lstStyle/>
          <a:p>
            <a:pPr algn="ctr"/>
            <a:r>
              <a:rPr sz="1500" b="1">
                <a:solidFill>
                  <a:srgbClr val="FFFFFF"/>
                </a:solidFill>
                <a:latin typeface="Aptos"/>
              </a:rPr>
              <a:t>Skill instructions
× agent permissions</a:t>
            </a:r>
          </a:p>
        </p:txBody>
      </p:sp>
      <p:sp>
        <p:nvSpPr>
          <p:cNvPr id="10" name="TextBox 9"/>
          <p:cNvSpPr txBox="1"/>
          <p:nvPr/>
        </p:nvSpPr>
        <p:spPr>
          <a:xfrm>
            <a:off x="749808" y="5212080"/>
            <a:ext cx="2907792" cy="301752"/>
          </a:xfrm>
          <a:prstGeom prst="rect">
            <a:avLst/>
          </a:prstGeom>
          <a:noFill/>
        </p:spPr>
        <p:txBody>
          <a:bodyPr wrap="square" lIns="0" tIns="0" rIns="0" bIns="0" anchor="t">
            <a:spAutoFit/>
          </a:bodyPr>
          <a:lstStyle/>
          <a:p>
            <a:pPr algn="ctr"/>
            <a:r>
              <a:rPr sz="1400" b="1">
                <a:solidFill>
                  <a:srgbClr val="00B1D9"/>
                </a:solidFill>
                <a:latin typeface="Aptos"/>
              </a:rPr>
              <a:t>= effective authority</a:t>
            </a:r>
          </a:p>
        </p:txBody>
      </p:sp>
      <p:sp>
        <p:nvSpPr>
          <p:cNvPr id="11" name="Rectangle 10"/>
          <p:cNvSpPr/>
          <p:nvPr/>
        </p:nvSpPr>
        <p:spPr>
          <a:xfrm>
            <a:off x="4279392" y="1517904"/>
            <a:ext cx="73152" cy="566928"/>
          </a:xfrm>
          <a:prstGeom prst="rect">
            <a:avLst/>
          </a:prstGeom>
          <a:solidFill>
            <a:srgbClr val="00B1D9"/>
          </a:solidFill>
          <a:ln>
            <a:solidFill>
              <a:srgbClr val="00B1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9432" y="1536192"/>
            <a:ext cx="1261872" cy="256032"/>
          </a:xfrm>
          <a:prstGeom prst="rect">
            <a:avLst/>
          </a:prstGeom>
          <a:noFill/>
        </p:spPr>
        <p:txBody>
          <a:bodyPr wrap="square" lIns="0" tIns="0" rIns="0" bIns="0" anchor="t">
            <a:spAutoFit/>
          </a:bodyPr>
          <a:lstStyle/>
          <a:p>
            <a:pPr algn="l"/>
            <a:r>
              <a:rPr sz="1100" b="1">
                <a:solidFill>
                  <a:srgbClr val="00B1D9"/>
                </a:solidFill>
                <a:latin typeface="Aptos"/>
              </a:rPr>
              <a:t>SHELL</a:t>
            </a:r>
          </a:p>
        </p:txBody>
      </p:sp>
      <p:sp>
        <p:nvSpPr>
          <p:cNvPr id="13" name="TextBox 12"/>
          <p:cNvSpPr txBox="1"/>
          <p:nvPr/>
        </p:nvSpPr>
        <p:spPr>
          <a:xfrm>
            <a:off x="5897880" y="1508760"/>
            <a:ext cx="5257800" cy="420624"/>
          </a:xfrm>
          <a:prstGeom prst="rect">
            <a:avLst/>
          </a:prstGeom>
          <a:noFill/>
        </p:spPr>
        <p:txBody>
          <a:bodyPr wrap="square" lIns="0" tIns="0" rIns="0" bIns="0" anchor="t">
            <a:spAutoFit/>
          </a:bodyPr>
          <a:lstStyle/>
          <a:p>
            <a:pPr algn="l"/>
            <a:r>
              <a:rPr sz="1400" b="1">
                <a:solidFill>
                  <a:srgbClr val="FFFFFF"/>
                </a:solidFill>
                <a:latin typeface="Aptos"/>
              </a:rPr>
              <a:t>Run commands and invoke local tools</a:t>
            </a:r>
          </a:p>
        </p:txBody>
      </p:sp>
      <p:sp>
        <p:nvSpPr>
          <p:cNvPr id="14" name="Rectangle 13"/>
          <p:cNvSpPr/>
          <p:nvPr/>
        </p:nvSpPr>
        <p:spPr>
          <a:xfrm>
            <a:off x="4279392" y="2368296"/>
            <a:ext cx="73152" cy="566928"/>
          </a:xfrm>
          <a:prstGeom prst="rect">
            <a:avLst/>
          </a:prstGeom>
          <a:solidFill>
            <a:srgbClr val="3361E1"/>
          </a:solidFill>
          <a:ln>
            <a:solidFill>
              <a:srgbClr val="336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99432" y="2386584"/>
            <a:ext cx="1261872" cy="256032"/>
          </a:xfrm>
          <a:prstGeom prst="rect">
            <a:avLst/>
          </a:prstGeom>
          <a:noFill/>
        </p:spPr>
        <p:txBody>
          <a:bodyPr wrap="square" lIns="0" tIns="0" rIns="0" bIns="0" anchor="t">
            <a:spAutoFit/>
          </a:bodyPr>
          <a:lstStyle/>
          <a:p>
            <a:pPr algn="l"/>
            <a:r>
              <a:rPr sz="1100" b="1">
                <a:solidFill>
                  <a:srgbClr val="3361E1"/>
                </a:solidFill>
                <a:latin typeface="Aptos"/>
              </a:rPr>
              <a:t>FILES</a:t>
            </a:r>
          </a:p>
        </p:txBody>
      </p:sp>
      <p:sp>
        <p:nvSpPr>
          <p:cNvPr id="16" name="TextBox 15"/>
          <p:cNvSpPr txBox="1"/>
          <p:nvPr/>
        </p:nvSpPr>
        <p:spPr>
          <a:xfrm>
            <a:off x="5897880" y="2359152"/>
            <a:ext cx="5257800" cy="420624"/>
          </a:xfrm>
          <a:prstGeom prst="rect">
            <a:avLst/>
          </a:prstGeom>
          <a:noFill/>
        </p:spPr>
        <p:txBody>
          <a:bodyPr wrap="square" lIns="0" tIns="0" rIns="0" bIns="0" anchor="t">
            <a:spAutoFit/>
          </a:bodyPr>
          <a:lstStyle/>
          <a:p>
            <a:pPr algn="l"/>
            <a:r>
              <a:rPr sz="1400" b="1">
                <a:solidFill>
                  <a:srgbClr val="FFFFFF"/>
                </a:solidFill>
                <a:latin typeface="Aptos"/>
              </a:rPr>
              <a:t>Read or change reachable files</a:t>
            </a:r>
          </a:p>
        </p:txBody>
      </p:sp>
      <p:sp>
        <p:nvSpPr>
          <p:cNvPr id="17" name="Rectangle 16"/>
          <p:cNvSpPr/>
          <p:nvPr/>
        </p:nvSpPr>
        <p:spPr>
          <a:xfrm>
            <a:off x="4279392" y="3218688"/>
            <a:ext cx="73152" cy="566928"/>
          </a:xfrm>
          <a:prstGeom prst="rect">
            <a:avLst/>
          </a:prstGeom>
          <a:solidFill>
            <a:srgbClr val="7E41E8"/>
          </a:solidFill>
          <a:ln>
            <a:solidFill>
              <a:srgbClr val="7E4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99432" y="3236976"/>
            <a:ext cx="1261872" cy="256032"/>
          </a:xfrm>
          <a:prstGeom prst="rect">
            <a:avLst/>
          </a:prstGeom>
          <a:noFill/>
        </p:spPr>
        <p:txBody>
          <a:bodyPr wrap="square" lIns="0" tIns="0" rIns="0" bIns="0" anchor="t">
            <a:spAutoFit/>
          </a:bodyPr>
          <a:lstStyle/>
          <a:p>
            <a:pPr algn="l"/>
            <a:r>
              <a:rPr sz="1100" b="1">
                <a:solidFill>
                  <a:srgbClr val="7E41E8"/>
                </a:solidFill>
                <a:latin typeface="Aptos"/>
              </a:rPr>
              <a:t>SECRETS</a:t>
            </a:r>
          </a:p>
        </p:txBody>
      </p:sp>
      <p:sp>
        <p:nvSpPr>
          <p:cNvPr id="19" name="TextBox 18"/>
          <p:cNvSpPr txBox="1"/>
          <p:nvPr/>
        </p:nvSpPr>
        <p:spPr>
          <a:xfrm>
            <a:off x="5897880" y="3209544"/>
            <a:ext cx="5257800" cy="420624"/>
          </a:xfrm>
          <a:prstGeom prst="rect">
            <a:avLst/>
          </a:prstGeom>
          <a:noFill/>
        </p:spPr>
        <p:txBody>
          <a:bodyPr wrap="square" lIns="0" tIns="0" rIns="0" bIns="0" anchor="t">
            <a:spAutoFit/>
          </a:bodyPr>
          <a:lstStyle/>
          <a:p>
            <a:pPr algn="l"/>
            <a:r>
              <a:rPr sz="1400" b="1">
                <a:solidFill>
                  <a:srgbClr val="FFFFFF"/>
                </a:solidFill>
                <a:latin typeface="Aptos"/>
              </a:rPr>
              <a:t>Use exposed environment variables and config</a:t>
            </a:r>
          </a:p>
        </p:txBody>
      </p:sp>
      <p:sp>
        <p:nvSpPr>
          <p:cNvPr id="20" name="Rectangle 19"/>
          <p:cNvSpPr/>
          <p:nvPr/>
        </p:nvSpPr>
        <p:spPr>
          <a:xfrm>
            <a:off x="4279392" y="4069080"/>
            <a:ext cx="73152" cy="566928"/>
          </a:xfrm>
          <a:prstGeom prst="rect">
            <a:avLst/>
          </a:prstGeom>
          <a:solidFill>
            <a:srgbClr val="E69326"/>
          </a:solidFill>
          <a:ln>
            <a:solidFill>
              <a:srgbClr val="E693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99432" y="4087368"/>
            <a:ext cx="1261872" cy="256032"/>
          </a:xfrm>
          <a:prstGeom prst="rect">
            <a:avLst/>
          </a:prstGeom>
          <a:noFill/>
        </p:spPr>
        <p:txBody>
          <a:bodyPr wrap="square" lIns="0" tIns="0" rIns="0" bIns="0" anchor="t">
            <a:spAutoFit/>
          </a:bodyPr>
          <a:lstStyle/>
          <a:p>
            <a:pPr algn="l"/>
            <a:r>
              <a:rPr sz="1100" b="1">
                <a:solidFill>
                  <a:srgbClr val="E69326"/>
                </a:solidFill>
                <a:latin typeface="Aptos"/>
              </a:rPr>
              <a:t>CHANNELS</a:t>
            </a:r>
          </a:p>
        </p:txBody>
      </p:sp>
      <p:sp>
        <p:nvSpPr>
          <p:cNvPr id="22" name="TextBox 21"/>
          <p:cNvSpPr txBox="1"/>
          <p:nvPr/>
        </p:nvSpPr>
        <p:spPr>
          <a:xfrm>
            <a:off x="5897880" y="4059936"/>
            <a:ext cx="5257800" cy="420624"/>
          </a:xfrm>
          <a:prstGeom prst="rect">
            <a:avLst/>
          </a:prstGeom>
          <a:noFill/>
        </p:spPr>
        <p:txBody>
          <a:bodyPr wrap="square" lIns="0" tIns="0" rIns="0" bIns="0" anchor="t">
            <a:spAutoFit/>
          </a:bodyPr>
          <a:lstStyle/>
          <a:p>
            <a:pPr algn="l"/>
            <a:r>
              <a:rPr sz="1400" b="1">
                <a:solidFill>
                  <a:srgbClr val="FFFFFF"/>
                </a:solidFill>
                <a:latin typeface="Aptos"/>
              </a:rPr>
              <a:t>Act through connected email, chat, or APIs</a:t>
            </a:r>
          </a:p>
        </p:txBody>
      </p:sp>
      <p:sp>
        <p:nvSpPr>
          <p:cNvPr id="23" name="Rectangle 22"/>
          <p:cNvSpPr/>
          <p:nvPr/>
        </p:nvSpPr>
        <p:spPr>
          <a:xfrm>
            <a:off x="4279392" y="4919472"/>
            <a:ext cx="73152" cy="566928"/>
          </a:xfrm>
          <a:prstGeom prst="rect">
            <a:avLst/>
          </a:prstGeom>
          <a:solidFill>
            <a:srgbClr val="00AA80"/>
          </a:solidFill>
          <a:ln>
            <a:solidFill>
              <a:srgbClr val="00AA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9432" y="4937759"/>
            <a:ext cx="1261872" cy="256032"/>
          </a:xfrm>
          <a:prstGeom prst="rect">
            <a:avLst/>
          </a:prstGeom>
          <a:noFill/>
        </p:spPr>
        <p:txBody>
          <a:bodyPr wrap="square" lIns="0" tIns="0" rIns="0" bIns="0" anchor="t">
            <a:spAutoFit/>
          </a:bodyPr>
          <a:lstStyle/>
          <a:p>
            <a:pPr algn="l"/>
            <a:r>
              <a:rPr sz="1100" b="1">
                <a:solidFill>
                  <a:srgbClr val="00AA80"/>
                </a:solidFill>
                <a:latin typeface="Aptos"/>
              </a:rPr>
              <a:t>MEMORY</a:t>
            </a:r>
          </a:p>
        </p:txBody>
      </p:sp>
      <p:sp>
        <p:nvSpPr>
          <p:cNvPr id="25" name="TextBox 24"/>
          <p:cNvSpPr txBox="1"/>
          <p:nvPr/>
        </p:nvSpPr>
        <p:spPr>
          <a:xfrm>
            <a:off x="5897880" y="4910328"/>
            <a:ext cx="5257800" cy="420624"/>
          </a:xfrm>
          <a:prstGeom prst="rect">
            <a:avLst/>
          </a:prstGeom>
          <a:noFill/>
        </p:spPr>
        <p:txBody>
          <a:bodyPr wrap="square" lIns="0" tIns="0" rIns="0" bIns="0" anchor="t">
            <a:spAutoFit/>
          </a:bodyPr>
          <a:lstStyle/>
          <a:p>
            <a:pPr algn="l"/>
            <a:r>
              <a:rPr sz="1400" b="1">
                <a:solidFill>
                  <a:srgbClr val="FFFFFF"/>
                </a:solidFill>
                <a:latin typeface="Aptos"/>
              </a:rPr>
              <a:t>Read or influence state retained across sessions</a:t>
            </a:r>
          </a:p>
        </p:txBody>
      </p:sp>
      <p:sp>
        <p:nvSpPr>
          <p:cNvPr id="26" name="Rectangle 25"/>
          <p:cNvSpPr/>
          <p:nvPr/>
        </p:nvSpPr>
        <p:spPr>
          <a:xfrm>
            <a:off x="4279392" y="5879592"/>
            <a:ext cx="6876288" cy="475488"/>
          </a:xfrm>
          <a:prstGeom prst="rect">
            <a:avLst/>
          </a:prstGeom>
          <a:solidFill>
            <a:srgbClr val="0E1436"/>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98848" y="5989320"/>
            <a:ext cx="6446520" cy="246888"/>
          </a:xfrm>
          <a:prstGeom prst="rect">
            <a:avLst/>
          </a:prstGeom>
          <a:noFill/>
        </p:spPr>
        <p:txBody>
          <a:bodyPr wrap="square" lIns="0" tIns="0" rIns="0" bIns="0" anchor="t">
            <a:spAutoFit/>
          </a:bodyPr>
          <a:lstStyle/>
          <a:p>
            <a:pPr algn="ctr"/>
            <a:r>
              <a:rPr sz="1050" b="1">
                <a:solidFill>
                  <a:srgbClr val="FFFFFF"/>
                </a:solidFill>
                <a:latin typeface="Aptos"/>
              </a:rPr>
              <a:t>These capabilities depend on the runtime and configuration—but vague or untrusted skills can exploit every permission already available.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0E1436"/>
        </a:solidFill>
        <a:effectLst/>
      </p:bgPr>
    </p:bg>
    <p:spTree>
      <p:nvGrpSpPr>
        <p:cNvPr id="1" name=""/>
        <p:cNvGrpSpPr/>
        <p:nvPr/>
      </p:nvGrpSpPr>
      <p:grpSpPr>
        <a:xfrm>
          <a:off x="0" y="0"/>
          <a:ext cx="0" cy="0"/>
          <a:chOff x="0" y="0"/>
          <a:chExt cx="0" cy="0"/>
        </a:xfrm>
      </p:grpSpPr>
      <p:sp>
        <p:nvSpPr>
          <p:cNvPr id="2" name="TextBox 1"/>
          <p:cNvSpPr txBox="1"/>
          <p:nvPr/>
        </p:nvSpPr>
        <p:spPr>
          <a:xfrm>
            <a:off x="658368" y="347472"/>
            <a:ext cx="8046720" cy="201168"/>
          </a:xfrm>
          <a:prstGeom prst="rect">
            <a:avLst/>
          </a:prstGeom>
          <a:noFill/>
        </p:spPr>
        <p:txBody>
          <a:bodyPr wrap="square" lIns="0" tIns="0" rIns="0" bIns="0" anchor="t">
            <a:spAutoFit/>
          </a:bodyPr>
          <a:lstStyle/>
          <a:p>
            <a:pPr algn="l"/>
            <a:r>
              <a:rPr sz="850" b="1">
                <a:solidFill>
                  <a:srgbClr val="00B1D9"/>
                </a:solidFill>
                <a:latin typeface="Aptos"/>
              </a:rPr>
              <a:t>WHEN AMBIGUITY BECOMES AUTHORITY</a:t>
            </a:r>
          </a:p>
        </p:txBody>
      </p:sp>
      <p:sp>
        <p:nvSpPr>
          <p:cNvPr id="3" name="TextBox 2"/>
          <p:cNvSpPr txBox="1"/>
          <p:nvPr/>
        </p:nvSpPr>
        <p:spPr>
          <a:xfrm>
            <a:off x="658368" y="667512"/>
            <a:ext cx="10744200" cy="658368"/>
          </a:xfrm>
          <a:prstGeom prst="rect">
            <a:avLst/>
          </a:prstGeom>
          <a:noFill/>
        </p:spPr>
        <p:txBody>
          <a:bodyPr wrap="square" lIns="0" tIns="0" rIns="0" bIns="0" anchor="t">
            <a:spAutoFit/>
          </a:bodyPr>
          <a:lstStyle/>
          <a:p>
            <a:pPr algn="l"/>
            <a:r>
              <a:rPr sz="2800" b="1">
                <a:solidFill>
                  <a:srgbClr val="FFFFFF"/>
                </a:solidFill>
                <a:latin typeface="Aptos"/>
              </a:rPr>
              <a:t>Risks of imprecise skills</a:t>
            </a:r>
          </a:p>
        </p:txBody>
      </p:sp>
      <p:sp>
        <p:nvSpPr>
          <p:cNvPr id="4" name="TextBox 3"/>
          <p:cNvSpPr txBox="1"/>
          <p:nvPr/>
        </p:nvSpPr>
        <p:spPr>
          <a:xfrm>
            <a:off x="502920" y="6437376"/>
            <a:ext cx="1554480" cy="164592"/>
          </a:xfrm>
          <a:prstGeom prst="rect">
            <a:avLst/>
          </a:prstGeom>
          <a:noFill/>
        </p:spPr>
        <p:txBody>
          <a:bodyPr wrap="square" lIns="0" tIns="0" rIns="0" bIns="0" anchor="t">
            <a:spAutoFit/>
          </a:bodyPr>
          <a:lstStyle/>
          <a:p>
            <a:pPr algn="l"/>
            <a:r>
              <a:rPr sz="850" b="1">
                <a:solidFill>
                  <a:srgbClr val="FFFFFF"/>
                </a:solidFill>
                <a:latin typeface="Aptos"/>
              </a:rPr>
              <a:t>InfoSecWorld</a:t>
            </a:r>
          </a:p>
        </p:txBody>
      </p:sp>
      <p:sp>
        <p:nvSpPr>
          <p:cNvPr id="5" name="TextBox 4"/>
          <p:cNvSpPr txBox="1"/>
          <p:nvPr/>
        </p:nvSpPr>
        <p:spPr>
          <a:xfrm>
            <a:off x="11091672" y="6473952"/>
            <a:ext cx="438912" cy="164592"/>
          </a:xfrm>
          <a:prstGeom prst="rect">
            <a:avLst/>
          </a:prstGeom>
          <a:noFill/>
        </p:spPr>
        <p:txBody>
          <a:bodyPr wrap="square" lIns="0" tIns="0" rIns="0" bIns="0" anchor="t">
            <a:spAutoFit/>
          </a:bodyPr>
          <a:lstStyle/>
          <a:p>
            <a:pPr algn="r"/>
            <a:r>
              <a:rPr sz="800" b="1">
                <a:solidFill>
                  <a:srgbClr val="B2BCD3"/>
                </a:solidFill>
                <a:latin typeface="Aptos"/>
              </a:rPr>
              <a:t>08</a:t>
            </a:r>
          </a:p>
        </p:txBody>
      </p:sp>
      <p:sp>
        <p:nvSpPr>
          <p:cNvPr id="6" name="TextBox 5"/>
          <p:cNvSpPr txBox="1"/>
          <p:nvPr/>
        </p:nvSpPr>
        <p:spPr>
          <a:xfrm>
            <a:off x="713232" y="1527048"/>
            <a:ext cx="411480" cy="228600"/>
          </a:xfrm>
          <a:prstGeom prst="rect">
            <a:avLst/>
          </a:prstGeom>
          <a:noFill/>
        </p:spPr>
        <p:txBody>
          <a:bodyPr wrap="square" lIns="0" tIns="0" rIns="0" bIns="0" anchor="t">
            <a:spAutoFit/>
          </a:bodyPr>
          <a:lstStyle/>
          <a:p>
            <a:pPr algn="l"/>
            <a:r>
              <a:rPr sz="900" b="1">
                <a:solidFill>
                  <a:srgbClr val="00B1D9"/>
                </a:solidFill>
                <a:latin typeface="Aptos"/>
              </a:rPr>
              <a:t>01</a:t>
            </a:r>
          </a:p>
        </p:txBody>
      </p:sp>
      <p:sp>
        <p:nvSpPr>
          <p:cNvPr id="7" name="TextBox 6"/>
          <p:cNvSpPr txBox="1"/>
          <p:nvPr/>
        </p:nvSpPr>
        <p:spPr>
          <a:xfrm>
            <a:off x="1234440" y="1499616"/>
            <a:ext cx="2011680" cy="292608"/>
          </a:xfrm>
          <a:prstGeom prst="rect">
            <a:avLst/>
          </a:prstGeom>
          <a:noFill/>
        </p:spPr>
        <p:txBody>
          <a:bodyPr wrap="square" lIns="0" tIns="0" rIns="0" bIns="0" anchor="t">
            <a:spAutoFit/>
          </a:bodyPr>
          <a:lstStyle/>
          <a:p>
            <a:pPr algn="l"/>
            <a:r>
              <a:rPr sz="1400" b="1">
                <a:solidFill>
                  <a:srgbClr val="FFFFFF"/>
                </a:solidFill>
                <a:latin typeface="Aptos"/>
              </a:rPr>
              <a:t>Unclear scope</a:t>
            </a:r>
          </a:p>
        </p:txBody>
      </p:sp>
      <p:sp>
        <p:nvSpPr>
          <p:cNvPr id="8" name="TextBox 7"/>
          <p:cNvSpPr txBox="1"/>
          <p:nvPr/>
        </p:nvSpPr>
        <p:spPr>
          <a:xfrm>
            <a:off x="3401568" y="1517904"/>
            <a:ext cx="2834640" cy="329184"/>
          </a:xfrm>
          <a:prstGeom prst="rect">
            <a:avLst/>
          </a:prstGeom>
          <a:noFill/>
        </p:spPr>
        <p:txBody>
          <a:bodyPr wrap="square" lIns="0" tIns="0" rIns="0" bIns="0" anchor="t">
            <a:spAutoFit/>
          </a:bodyPr>
          <a:lstStyle/>
          <a:p>
            <a:pPr algn="l"/>
            <a:r>
              <a:rPr sz="1200" b="0">
                <a:solidFill>
                  <a:srgbClr val="BBC6DE"/>
                </a:solidFill>
                <a:latin typeface="Aptos"/>
              </a:rPr>
              <a:t>The agent searches beyond the task.</a:t>
            </a:r>
          </a:p>
        </p:txBody>
      </p:sp>
      <p:sp>
        <p:nvSpPr>
          <p:cNvPr id="9" name="Rectangle 8"/>
          <p:cNvSpPr/>
          <p:nvPr/>
        </p:nvSpPr>
        <p:spPr>
          <a:xfrm>
            <a:off x="6400800" y="1490472"/>
            <a:ext cx="32004" cy="384048"/>
          </a:xfrm>
          <a:prstGeom prst="rect">
            <a:avLst/>
          </a:prstGeom>
          <a:solidFill>
            <a:srgbClr val="EF3281"/>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20840" y="1517904"/>
            <a:ext cx="4343400" cy="347472"/>
          </a:xfrm>
          <a:prstGeom prst="rect">
            <a:avLst/>
          </a:prstGeom>
          <a:noFill/>
        </p:spPr>
        <p:txBody>
          <a:bodyPr wrap="square" lIns="0" tIns="0" rIns="0" bIns="0" anchor="t">
            <a:spAutoFit/>
          </a:bodyPr>
          <a:lstStyle/>
          <a:p>
            <a:pPr algn="l"/>
            <a:r>
              <a:rPr sz="1200" b="1">
                <a:solidFill>
                  <a:srgbClr val="FFFFFF"/>
                </a:solidFill>
                <a:latin typeface="Aptos"/>
              </a:rPr>
              <a:t>Unrelated resources enter scope.</a:t>
            </a:r>
          </a:p>
        </p:txBody>
      </p:sp>
      <p:sp>
        <p:nvSpPr>
          <p:cNvPr id="11" name="Rectangle 10"/>
          <p:cNvSpPr/>
          <p:nvPr/>
        </p:nvSpPr>
        <p:spPr>
          <a:xfrm>
            <a:off x="1234440" y="2011680"/>
            <a:ext cx="9829800" cy="10972"/>
          </a:xfrm>
          <a:prstGeom prst="rect">
            <a:avLst/>
          </a:prstGeom>
          <a:solidFill>
            <a:srgbClr val="2C3854"/>
          </a:solidFill>
          <a:ln>
            <a:solidFill>
              <a:srgbClr val="2C38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2386584"/>
            <a:ext cx="411480" cy="228600"/>
          </a:xfrm>
          <a:prstGeom prst="rect">
            <a:avLst/>
          </a:prstGeom>
          <a:noFill/>
        </p:spPr>
        <p:txBody>
          <a:bodyPr wrap="square" lIns="0" tIns="0" rIns="0" bIns="0" anchor="t">
            <a:spAutoFit/>
          </a:bodyPr>
          <a:lstStyle/>
          <a:p>
            <a:pPr algn="l"/>
            <a:r>
              <a:rPr sz="900" b="1">
                <a:solidFill>
                  <a:srgbClr val="00B1D9"/>
                </a:solidFill>
                <a:latin typeface="Aptos"/>
              </a:rPr>
              <a:t>02</a:t>
            </a:r>
          </a:p>
        </p:txBody>
      </p:sp>
      <p:sp>
        <p:nvSpPr>
          <p:cNvPr id="13" name="TextBox 12"/>
          <p:cNvSpPr txBox="1"/>
          <p:nvPr/>
        </p:nvSpPr>
        <p:spPr>
          <a:xfrm>
            <a:off x="1234440" y="2359152"/>
            <a:ext cx="2011680" cy="292608"/>
          </a:xfrm>
          <a:prstGeom prst="rect">
            <a:avLst/>
          </a:prstGeom>
          <a:noFill/>
        </p:spPr>
        <p:txBody>
          <a:bodyPr wrap="square" lIns="0" tIns="0" rIns="0" bIns="0" anchor="t">
            <a:spAutoFit/>
          </a:bodyPr>
          <a:lstStyle/>
          <a:p>
            <a:pPr algn="l"/>
            <a:r>
              <a:rPr sz="1400" b="1">
                <a:solidFill>
                  <a:srgbClr val="FFFFFF"/>
                </a:solidFill>
                <a:latin typeface="Aptos"/>
              </a:rPr>
              <a:t>Excessive context</a:t>
            </a:r>
          </a:p>
        </p:txBody>
      </p:sp>
      <p:sp>
        <p:nvSpPr>
          <p:cNvPr id="14" name="TextBox 13"/>
          <p:cNvSpPr txBox="1"/>
          <p:nvPr/>
        </p:nvSpPr>
        <p:spPr>
          <a:xfrm>
            <a:off x="3401568" y="2377440"/>
            <a:ext cx="2834640" cy="329184"/>
          </a:xfrm>
          <a:prstGeom prst="rect">
            <a:avLst/>
          </a:prstGeom>
          <a:noFill/>
        </p:spPr>
        <p:txBody>
          <a:bodyPr wrap="square" lIns="0" tIns="0" rIns="0" bIns="0" anchor="t">
            <a:spAutoFit/>
          </a:bodyPr>
          <a:lstStyle/>
          <a:p>
            <a:pPr algn="l"/>
            <a:r>
              <a:rPr sz="1200" b="0">
                <a:solidFill>
                  <a:srgbClr val="BBC6DE"/>
                </a:solidFill>
                <a:latin typeface="Aptos"/>
              </a:rPr>
              <a:t>Signal gets buried in noise.</a:t>
            </a:r>
          </a:p>
        </p:txBody>
      </p:sp>
      <p:sp>
        <p:nvSpPr>
          <p:cNvPr id="15" name="Rectangle 14"/>
          <p:cNvSpPr/>
          <p:nvPr/>
        </p:nvSpPr>
        <p:spPr>
          <a:xfrm>
            <a:off x="6400800" y="2350008"/>
            <a:ext cx="32004" cy="384048"/>
          </a:xfrm>
          <a:prstGeom prst="rect">
            <a:avLst/>
          </a:prstGeom>
          <a:solidFill>
            <a:srgbClr val="EF3281"/>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20840" y="2377440"/>
            <a:ext cx="4343400" cy="347472"/>
          </a:xfrm>
          <a:prstGeom prst="rect">
            <a:avLst/>
          </a:prstGeom>
          <a:noFill/>
        </p:spPr>
        <p:txBody>
          <a:bodyPr wrap="square" lIns="0" tIns="0" rIns="0" bIns="0" anchor="t">
            <a:spAutoFit/>
          </a:bodyPr>
          <a:lstStyle/>
          <a:p>
            <a:pPr algn="l"/>
            <a:r>
              <a:rPr sz="1200" b="1">
                <a:solidFill>
                  <a:srgbClr val="FFFFFF"/>
                </a:solidFill>
                <a:latin typeface="Aptos"/>
              </a:rPr>
              <a:t>Sensitive information enters context.</a:t>
            </a:r>
          </a:p>
        </p:txBody>
      </p:sp>
      <p:sp>
        <p:nvSpPr>
          <p:cNvPr id="17" name="Rectangle 16"/>
          <p:cNvSpPr/>
          <p:nvPr/>
        </p:nvSpPr>
        <p:spPr>
          <a:xfrm>
            <a:off x="1234440" y="2871215"/>
            <a:ext cx="9829800" cy="10972"/>
          </a:xfrm>
          <a:prstGeom prst="rect">
            <a:avLst/>
          </a:prstGeom>
          <a:solidFill>
            <a:srgbClr val="2C3854"/>
          </a:solidFill>
          <a:ln>
            <a:solidFill>
              <a:srgbClr val="2C38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3246120"/>
            <a:ext cx="411480" cy="228600"/>
          </a:xfrm>
          <a:prstGeom prst="rect">
            <a:avLst/>
          </a:prstGeom>
          <a:noFill/>
        </p:spPr>
        <p:txBody>
          <a:bodyPr wrap="square" lIns="0" tIns="0" rIns="0" bIns="0" anchor="t">
            <a:spAutoFit/>
          </a:bodyPr>
          <a:lstStyle/>
          <a:p>
            <a:pPr algn="l"/>
            <a:r>
              <a:rPr sz="900" b="1">
                <a:solidFill>
                  <a:srgbClr val="00B1D9"/>
                </a:solidFill>
                <a:latin typeface="Aptos"/>
              </a:rPr>
              <a:t>03</a:t>
            </a:r>
          </a:p>
        </p:txBody>
      </p:sp>
      <p:sp>
        <p:nvSpPr>
          <p:cNvPr id="19" name="TextBox 18"/>
          <p:cNvSpPr txBox="1"/>
          <p:nvPr/>
        </p:nvSpPr>
        <p:spPr>
          <a:xfrm>
            <a:off x="1234440" y="3218688"/>
            <a:ext cx="2011680" cy="292608"/>
          </a:xfrm>
          <a:prstGeom prst="rect">
            <a:avLst/>
          </a:prstGeom>
          <a:noFill/>
        </p:spPr>
        <p:txBody>
          <a:bodyPr wrap="square" lIns="0" tIns="0" rIns="0" bIns="0" anchor="t">
            <a:spAutoFit/>
          </a:bodyPr>
          <a:lstStyle/>
          <a:p>
            <a:pPr algn="l"/>
            <a:r>
              <a:rPr sz="1400" b="1">
                <a:solidFill>
                  <a:srgbClr val="FFFFFF"/>
                </a:solidFill>
                <a:latin typeface="Aptos"/>
              </a:rPr>
              <a:t>Ambiguous authority</a:t>
            </a:r>
          </a:p>
        </p:txBody>
      </p:sp>
      <p:sp>
        <p:nvSpPr>
          <p:cNvPr id="20" name="TextBox 19"/>
          <p:cNvSpPr txBox="1"/>
          <p:nvPr/>
        </p:nvSpPr>
        <p:spPr>
          <a:xfrm>
            <a:off x="3401568" y="3236976"/>
            <a:ext cx="2834640" cy="329184"/>
          </a:xfrm>
          <a:prstGeom prst="rect">
            <a:avLst/>
          </a:prstGeom>
          <a:noFill/>
        </p:spPr>
        <p:txBody>
          <a:bodyPr wrap="square" lIns="0" tIns="0" rIns="0" bIns="0" anchor="t">
            <a:spAutoFit/>
          </a:bodyPr>
          <a:lstStyle/>
          <a:p>
            <a:pPr algn="l"/>
            <a:r>
              <a:rPr sz="1200" b="0">
                <a:solidFill>
                  <a:srgbClr val="BBC6DE"/>
                </a:solidFill>
                <a:latin typeface="Aptos"/>
              </a:rPr>
              <a:t>The agent guesses what is allowed.</a:t>
            </a:r>
          </a:p>
        </p:txBody>
      </p:sp>
      <p:sp>
        <p:nvSpPr>
          <p:cNvPr id="21" name="Rectangle 20"/>
          <p:cNvSpPr/>
          <p:nvPr/>
        </p:nvSpPr>
        <p:spPr>
          <a:xfrm>
            <a:off x="6400800" y="3209544"/>
            <a:ext cx="32004" cy="384048"/>
          </a:xfrm>
          <a:prstGeom prst="rect">
            <a:avLst/>
          </a:prstGeom>
          <a:solidFill>
            <a:srgbClr val="EF3281"/>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20840" y="3236976"/>
            <a:ext cx="4343400" cy="347472"/>
          </a:xfrm>
          <a:prstGeom prst="rect">
            <a:avLst/>
          </a:prstGeom>
          <a:noFill/>
        </p:spPr>
        <p:txBody>
          <a:bodyPr wrap="square" lIns="0" tIns="0" rIns="0" bIns="0" anchor="t">
            <a:spAutoFit/>
          </a:bodyPr>
          <a:lstStyle/>
          <a:p>
            <a:pPr algn="l"/>
            <a:r>
              <a:rPr sz="1200" b="1">
                <a:solidFill>
                  <a:srgbClr val="FFFFFF"/>
                </a:solidFill>
                <a:latin typeface="Aptos"/>
              </a:rPr>
              <a:t>Unapproved actions become possible.</a:t>
            </a:r>
          </a:p>
        </p:txBody>
      </p:sp>
      <p:sp>
        <p:nvSpPr>
          <p:cNvPr id="23" name="Rectangle 22"/>
          <p:cNvSpPr/>
          <p:nvPr/>
        </p:nvSpPr>
        <p:spPr>
          <a:xfrm>
            <a:off x="1234440" y="3730752"/>
            <a:ext cx="9829800" cy="10972"/>
          </a:xfrm>
          <a:prstGeom prst="rect">
            <a:avLst/>
          </a:prstGeom>
          <a:solidFill>
            <a:srgbClr val="2C3854"/>
          </a:solidFill>
          <a:ln>
            <a:solidFill>
              <a:srgbClr val="2C38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4105656"/>
            <a:ext cx="411480" cy="228600"/>
          </a:xfrm>
          <a:prstGeom prst="rect">
            <a:avLst/>
          </a:prstGeom>
          <a:noFill/>
        </p:spPr>
        <p:txBody>
          <a:bodyPr wrap="square" lIns="0" tIns="0" rIns="0" bIns="0" anchor="t">
            <a:spAutoFit/>
          </a:bodyPr>
          <a:lstStyle/>
          <a:p>
            <a:pPr algn="l"/>
            <a:r>
              <a:rPr sz="900" b="1">
                <a:solidFill>
                  <a:srgbClr val="00B1D9"/>
                </a:solidFill>
                <a:latin typeface="Aptos"/>
              </a:rPr>
              <a:t>04</a:t>
            </a:r>
          </a:p>
        </p:txBody>
      </p:sp>
      <p:sp>
        <p:nvSpPr>
          <p:cNvPr id="25" name="TextBox 24"/>
          <p:cNvSpPr txBox="1"/>
          <p:nvPr/>
        </p:nvSpPr>
        <p:spPr>
          <a:xfrm>
            <a:off x="1234440" y="4078224"/>
            <a:ext cx="2011680" cy="292608"/>
          </a:xfrm>
          <a:prstGeom prst="rect">
            <a:avLst/>
          </a:prstGeom>
          <a:noFill/>
        </p:spPr>
        <p:txBody>
          <a:bodyPr wrap="square" lIns="0" tIns="0" rIns="0" bIns="0" anchor="t">
            <a:spAutoFit/>
          </a:bodyPr>
          <a:lstStyle/>
          <a:p>
            <a:pPr algn="l"/>
            <a:r>
              <a:rPr sz="1400" b="1">
                <a:solidFill>
                  <a:srgbClr val="FFFFFF"/>
                </a:solidFill>
                <a:latin typeface="Aptos"/>
              </a:rPr>
              <a:t>Undefined inputs</a:t>
            </a:r>
          </a:p>
        </p:txBody>
      </p:sp>
      <p:sp>
        <p:nvSpPr>
          <p:cNvPr id="26" name="TextBox 25"/>
          <p:cNvSpPr txBox="1"/>
          <p:nvPr/>
        </p:nvSpPr>
        <p:spPr>
          <a:xfrm>
            <a:off x="3401568" y="4096512"/>
            <a:ext cx="2834640" cy="329184"/>
          </a:xfrm>
          <a:prstGeom prst="rect">
            <a:avLst/>
          </a:prstGeom>
          <a:noFill/>
        </p:spPr>
        <p:txBody>
          <a:bodyPr wrap="square" lIns="0" tIns="0" rIns="0" bIns="0" anchor="t">
            <a:spAutoFit/>
          </a:bodyPr>
          <a:lstStyle/>
          <a:p>
            <a:pPr algn="l"/>
            <a:r>
              <a:rPr sz="1200" b="0">
                <a:solidFill>
                  <a:srgbClr val="BBC6DE"/>
                </a:solidFill>
                <a:latin typeface="Aptos"/>
              </a:rPr>
              <a:t>Missing facts trigger improvisation.</a:t>
            </a:r>
          </a:p>
        </p:txBody>
      </p:sp>
      <p:sp>
        <p:nvSpPr>
          <p:cNvPr id="27" name="Rectangle 26"/>
          <p:cNvSpPr/>
          <p:nvPr/>
        </p:nvSpPr>
        <p:spPr>
          <a:xfrm>
            <a:off x="6400800" y="4069080"/>
            <a:ext cx="32004" cy="384048"/>
          </a:xfrm>
          <a:prstGeom prst="rect">
            <a:avLst/>
          </a:prstGeom>
          <a:solidFill>
            <a:srgbClr val="EF3281"/>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20840" y="4096512"/>
            <a:ext cx="4343400" cy="347472"/>
          </a:xfrm>
          <a:prstGeom prst="rect">
            <a:avLst/>
          </a:prstGeom>
          <a:noFill/>
        </p:spPr>
        <p:txBody>
          <a:bodyPr wrap="square" lIns="0" tIns="0" rIns="0" bIns="0" anchor="t">
            <a:spAutoFit/>
          </a:bodyPr>
          <a:lstStyle/>
          <a:p>
            <a:pPr algn="l"/>
            <a:r>
              <a:rPr sz="1200" b="1">
                <a:solidFill>
                  <a:srgbClr val="FFFFFF"/>
                </a:solidFill>
                <a:latin typeface="Aptos"/>
              </a:rPr>
              <a:t>Untrusted content gains influence.</a:t>
            </a:r>
          </a:p>
        </p:txBody>
      </p:sp>
      <p:sp>
        <p:nvSpPr>
          <p:cNvPr id="29" name="Rectangle 28"/>
          <p:cNvSpPr/>
          <p:nvPr/>
        </p:nvSpPr>
        <p:spPr>
          <a:xfrm>
            <a:off x="1234440" y="4590288"/>
            <a:ext cx="9829800" cy="10972"/>
          </a:xfrm>
          <a:prstGeom prst="rect">
            <a:avLst/>
          </a:prstGeom>
          <a:solidFill>
            <a:srgbClr val="2C3854"/>
          </a:solidFill>
          <a:ln>
            <a:solidFill>
              <a:srgbClr val="2C38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4965192"/>
            <a:ext cx="411480" cy="228600"/>
          </a:xfrm>
          <a:prstGeom prst="rect">
            <a:avLst/>
          </a:prstGeom>
          <a:noFill/>
        </p:spPr>
        <p:txBody>
          <a:bodyPr wrap="square" lIns="0" tIns="0" rIns="0" bIns="0" anchor="t">
            <a:spAutoFit/>
          </a:bodyPr>
          <a:lstStyle/>
          <a:p>
            <a:pPr algn="l"/>
            <a:r>
              <a:rPr sz="900" b="1">
                <a:solidFill>
                  <a:srgbClr val="00B1D9"/>
                </a:solidFill>
                <a:latin typeface="Aptos"/>
              </a:rPr>
              <a:t>05</a:t>
            </a:r>
          </a:p>
        </p:txBody>
      </p:sp>
      <p:sp>
        <p:nvSpPr>
          <p:cNvPr id="31" name="TextBox 30"/>
          <p:cNvSpPr txBox="1"/>
          <p:nvPr/>
        </p:nvSpPr>
        <p:spPr>
          <a:xfrm>
            <a:off x="1234440" y="4937759"/>
            <a:ext cx="2011680" cy="292608"/>
          </a:xfrm>
          <a:prstGeom prst="rect">
            <a:avLst/>
          </a:prstGeom>
          <a:noFill/>
        </p:spPr>
        <p:txBody>
          <a:bodyPr wrap="square" lIns="0" tIns="0" rIns="0" bIns="0" anchor="t">
            <a:spAutoFit/>
          </a:bodyPr>
          <a:lstStyle/>
          <a:p>
            <a:pPr algn="l"/>
            <a:r>
              <a:rPr sz="1400" b="1">
                <a:solidFill>
                  <a:srgbClr val="FFFFFF"/>
                </a:solidFill>
                <a:latin typeface="Aptos"/>
              </a:rPr>
              <a:t>No stopping rule</a:t>
            </a:r>
          </a:p>
        </p:txBody>
      </p:sp>
      <p:sp>
        <p:nvSpPr>
          <p:cNvPr id="32" name="TextBox 31"/>
          <p:cNvSpPr txBox="1"/>
          <p:nvPr/>
        </p:nvSpPr>
        <p:spPr>
          <a:xfrm>
            <a:off x="3401568" y="4956048"/>
            <a:ext cx="2834640" cy="329184"/>
          </a:xfrm>
          <a:prstGeom prst="rect">
            <a:avLst/>
          </a:prstGeom>
          <a:noFill/>
        </p:spPr>
        <p:txBody>
          <a:bodyPr wrap="square" lIns="0" tIns="0" rIns="0" bIns="0" anchor="t">
            <a:spAutoFit/>
          </a:bodyPr>
          <a:lstStyle/>
          <a:p>
            <a:pPr algn="l"/>
            <a:r>
              <a:rPr sz="1200" b="0">
                <a:solidFill>
                  <a:srgbClr val="BBC6DE"/>
                </a:solidFill>
                <a:latin typeface="Aptos"/>
              </a:rPr>
              <a:t>The workflow expands indefinitely.</a:t>
            </a:r>
          </a:p>
        </p:txBody>
      </p:sp>
      <p:sp>
        <p:nvSpPr>
          <p:cNvPr id="33" name="Rectangle 32"/>
          <p:cNvSpPr/>
          <p:nvPr/>
        </p:nvSpPr>
        <p:spPr>
          <a:xfrm>
            <a:off x="6400800" y="4928616"/>
            <a:ext cx="32004" cy="384048"/>
          </a:xfrm>
          <a:prstGeom prst="rect">
            <a:avLst/>
          </a:prstGeom>
          <a:solidFill>
            <a:srgbClr val="EF3281"/>
          </a:solidFill>
          <a:ln>
            <a:solidFill>
              <a:srgbClr val="EF32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20840" y="4956048"/>
            <a:ext cx="4343400" cy="347472"/>
          </a:xfrm>
          <a:prstGeom prst="rect">
            <a:avLst/>
          </a:prstGeom>
          <a:noFill/>
        </p:spPr>
        <p:txBody>
          <a:bodyPr wrap="square" lIns="0" tIns="0" rIns="0" bIns="0" anchor="t">
            <a:spAutoFit/>
          </a:bodyPr>
          <a:lstStyle/>
          <a:p>
            <a:pPr algn="l"/>
            <a:r>
              <a:rPr sz="1200" b="1">
                <a:solidFill>
                  <a:srgbClr val="FFFFFF"/>
                </a:solidFill>
                <a:latin typeface="Aptos"/>
              </a:rPr>
              <a:t>Tool calls and side effects accumulate.</a:t>
            </a:r>
          </a:p>
        </p:txBody>
      </p:sp>
      <p:sp>
        <p:nvSpPr>
          <p:cNvPr id="35" name="Rectangle 34"/>
          <p:cNvSpPr/>
          <p:nvPr/>
        </p:nvSpPr>
        <p:spPr>
          <a:xfrm>
            <a:off x="1234440" y="5449824"/>
            <a:ext cx="9829800" cy="10972"/>
          </a:xfrm>
          <a:prstGeom prst="rect">
            <a:avLst/>
          </a:prstGeom>
          <a:solidFill>
            <a:srgbClr val="2C3854"/>
          </a:solidFill>
          <a:ln>
            <a:solidFill>
              <a:srgbClr val="2C38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0" y="5907024"/>
            <a:ext cx="4663440" cy="283464"/>
          </a:xfrm>
          <a:prstGeom prst="rect">
            <a:avLst/>
          </a:prstGeom>
          <a:noFill/>
        </p:spPr>
        <p:txBody>
          <a:bodyPr wrap="square" lIns="0" tIns="0" rIns="0" bIns="0" anchor="t">
            <a:spAutoFit/>
          </a:bodyPr>
          <a:lstStyle/>
          <a:p>
            <a:pPr algn="r"/>
            <a:r>
              <a:rPr sz="1400" b="1">
                <a:solidFill>
                  <a:srgbClr val="EF3281"/>
                </a:solidFill>
                <a:latin typeface="Aptos"/>
              </a:rPr>
              <a:t>Less precision means more discretion.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6:9 Template Dark">
  <a:themeElements>
    <a:clrScheme name="Custom 1">
      <a:dk1>
        <a:srgbClr val="000000"/>
      </a:dk1>
      <a:lt1>
        <a:srgbClr val="FFFFFF"/>
      </a:lt1>
      <a:dk2>
        <a:srgbClr val="111111"/>
      </a:dk2>
      <a:lt2>
        <a:srgbClr val="F8FFFD"/>
      </a:lt2>
      <a:accent1>
        <a:srgbClr val="7B1EFF"/>
      </a:accent1>
      <a:accent2>
        <a:srgbClr val="2CA8FB"/>
      </a:accent2>
      <a:accent3>
        <a:srgbClr val="00F8B7"/>
      </a:accent3>
      <a:accent4>
        <a:srgbClr val="49D5FF"/>
      </a:accent4>
      <a:accent5>
        <a:srgbClr val="013881"/>
      </a:accent5>
      <a:accent6>
        <a:srgbClr val="080749"/>
      </a:accent6>
      <a:hlink>
        <a:srgbClr val="0059F6"/>
      </a:hlink>
      <a:folHlink>
        <a:srgbClr val="003493"/>
      </a:folHlink>
    </a:clrScheme>
    <a:fontScheme name="2 Pitch Deck AI">
      <a:majorFont>
        <a:latin typeface="Arial Black"/>
        <a:ea typeface=""/>
        <a:cs typeface=""/>
      </a:majorFont>
      <a:minorFont>
        <a:latin typeface="Calibr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ln>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solidFill>
              <a:srgbClr val="FFFFFF"/>
            </a:solidFill>
            <a:ea typeface="Segoe UI" pitchFamily="34" charset="0"/>
            <a:cs typeface="Segoe UI" pitchFamily="34" charset="0"/>
          </a:defRPr>
        </a:defPPr>
      </a:lstStyle>
      <a:style>
        <a:lnRef idx="0">
          <a:scrgbClr r="0" g="0" b="0"/>
        </a:lnRef>
        <a:fillRef idx="0">
          <a:scrgbClr r="0" g="0" b="0"/>
        </a:fillRef>
        <a:effectRef idx="0">
          <a:scrgbClr r="0" g="0" b="0"/>
        </a:effectRef>
        <a:fontRef idx="minor">
          <a:schemeClr val="lt1"/>
        </a:fontRef>
      </a:style>
    </a:spDef>
    <a:lnDef>
      <a:spPr>
        <a:ln>
          <a:solidFill>
            <a:schemeClr val="tx2"/>
          </a:solidFill>
          <a:headEnd type="oval" w="med" len="med"/>
          <a:tailEnd type="oval"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800" dirty="0" err="1" smtClean="0">
            <a:solidFill>
              <a:schemeClr val="tx2"/>
            </a:solidFill>
          </a:defRPr>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ISW26_Template_V01" id="{13A63E25-AD09-7140-AFBF-A807278EE73B}" vid="{17868D29-735F-0F48-A1D7-020C7A2636B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16045</TotalTime>
  <Words>4884</Words>
  <Application>Microsoft Office PowerPoint</Application>
  <PresentationFormat>Widescreen</PresentationFormat>
  <Paragraphs>713</Paragraphs>
  <Slides>46</Slides>
  <Notes>28</Notes>
  <HiddenSlides>15</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46</vt:i4>
      </vt:variant>
    </vt:vector>
  </HeadingPairs>
  <TitlesOfParts>
    <vt:vector size="59" baseType="lpstr">
      <vt:lpstr>Aptos</vt:lpstr>
      <vt:lpstr>Aptos Mono</vt:lpstr>
      <vt:lpstr>Arial</vt:lpstr>
      <vt:lpstr>Arial Black</vt:lpstr>
      <vt:lpstr>Calibri</vt:lpstr>
      <vt:lpstr>Consolas</vt:lpstr>
      <vt:lpstr>Courier New</vt:lpstr>
      <vt:lpstr>Geist</vt:lpstr>
      <vt:lpstr>Montserrat</vt:lpstr>
      <vt:lpstr>Segoe UI</vt:lpstr>
      <vt:lpstr>Wingdings</vt:lpstr>
      <vt:lpstr>Office Theme</vt:lpstr>
      <vt:lpstr>16:9 Template Dark</vt:lpstr>
      <vt:lpstr>PowerPoint Presentation</vt:lpstr>
      <vt:lpstr>Speakers</vt:lpstr>
      <vt:lpstr>Agenda</vt:lpstr>
      <vt:lpstr>PowerPoint Presentation</vt:lpstr>
      <vt:lpstr>PowerPoint Presentation</vt:lpstr>
      <vt:lpstr>Public skills already show the risk (2026 Github study) </vt:lpstr>
      <vt:lpstr>PowerPoint Presentation</vt:lpstr>
      <vt:lpstr>Six Best Practices for Building Secure AI Skills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Resources</vt:lpstr>
      <vt:lpstr>Six Best Practices for Building Secure AI Skills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Marilee Turscak</cp:lastModifiedBy>
  <cp:revision>5</cp:revision>
  <dcterms:created xsi:type="dcterms:W3CDTF">2013-01-27T09:14:16Z</dcterms:created>
  <dcterms:modified xsi:type="dcterms:W3CDTF">2026-10-09T01:55:35Z</dcterms:modified>
  <cp:category/>
</cp:coreProperties>
</file>